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svg" ContentType="image/svg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s/charts/chart1.xml" ContentType="application/vnd.openxmlformats-officedocument.drawingml.chart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3" Type="http://schemas.openxmlformats.org/officeDocument/2006/relationships/custom-properties" Target="docProps/custom.xml" /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8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5" Type="http://schemas.openxmlformats.org/officeDocument/2006/relationships/slide" Target="slides/slide5.xml" /><Relationship Id="rId10" Type="http://schemas.openxmlformats.org/officeDocument/2006/relationships/tableStyles" Target="tableStyles.xml" /><Relationship Id="rId11" Type="http://schemas.openxmlformats.org/officeDocument/2006/relationships/viewProps" Target="viewProps.xml" /><Relationship Id="rId2" Type="http://schemas.openxmlformats.org/officeDocument/2006/relationships/slide" Target="slides/slide2.xml" /><Relationship Id="rId4" Type="http://schemas.openxmlformats.org/officeDocument/2006/relationships/slide" Target="slides/slide4.xml" /><Relationship Id="rId3" Type="http://schemas.openxmlformats.org/officeDocument/2006/relationships/slide" Target="slides/slide3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notesMaster" Target="notesMasters/notesMaster1.xml" /><Relationship Id="rId9" Type="http://schemas.openxmlformats.org/officeDocument/2006/relationships/presProps" Target="presProps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png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svg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chart" Target="charts/chart1.xml" /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svg" /><Relationship Id="rId2" Type="http://schemas.openxmlformats.org/officeDocument/2006/relationships/image" Target="media/image4.svg" /><Relationship Id="rId5" Type="http://schemas.openxmlformats.org/officeDocument/2006/relationships/image" Target="media/image7.svg" /><Relationship Id="rId3" Type="http://schemas.openxmlformats.org/officeDocument/2006/relationships/image" Target="media/image5.svg" /><Relationship Id="rId4" Type="http://schemas.openxmlformats.org/officeDocument/2006/relationships/image" Target="media/image6.svg" /><Relationship Id="rId6" Type="http://schemas.openxmlformats.org/officeDocument/2006/relationships/image" Target="media/image8.svg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9.svg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10.svg" /><Relationship Id="rId0" Type="http://schemas.openxmlformats.org/officeDocument/2006/relationships/slideLayout" Target="../slideLayouts/slideLayout1.xml" /></Relationships>
</file>

<file path=ppt/slides/charts/chart1.xml><?xml version="1.0" encoding="utf-8"?>
<c:chartSpace xmlns:a="http://schemas.openxmlformats.org/drawingml/2006/main" xmlns:c="http://schemas.openxmlformats.org/drawingml/2006/chart">
  <c:chart>
    <c:plotArea>
      <c:barChart>
        <c:barDir val="bar"/>
        <c:grouping val="clustered"/>
        <c:varyColors val="0"/>
        <c:ser>
          <c:idx val="0"/>
          <c:order val="0"/>
          <c:tx>
            <c:strRef>
              <c:f>sheet</c:f>
              <c:strCache>
                <c:ptCount val="1"/>
                <c:pt idx="0">
                  <c:v>人眼抽检</c:v>
                </c:pt>
              </c:strCache>
            </c:strRef>
          </c:tx>
          <c:spPr>
            <a:solidFill>
              <a:srgbClr val="0B3D91"/>
            </a:solidFill>
          </c:spPr>
          <c:dLbls>
            <c:txPr>
              <a:bodyPr/>
              <a:p>
                <a:pPr>
                  <a:defRPr sz="750">
                    <a:solidFill>
                      <a:srgbClr val="0B1C33"/>
                    </a:solidFill>
                  </a:defRPr>
                </a:pPr>
              </a:p>
            </c:txPr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strCache>
                <c:ptCount val="3"/>
                <c:pt idx="0">
                  <c:v>漏检率 %</c:v>
                </c:pt>
                <c:pt idx="1">
                  <c:v>可承受节拍 pcs/s</c:v>
                </c:pt>
                <c:pt idx="2">
                  <c:v>质检人力占比 %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25</c:v>
                </c:pt>
                <c:pt idx="1">
                  <c:v>1</c:v>
                </c:pt>
                <c:pt idx="2">
                  <c:v>12</c:v>
                </c:pt>
              </c:numCache>
            </c:numRef>
          </c:val>
        </c:ser>
        <c:ser>
          <c:idx val="1"/>
          <c:order val="1"/>
          <c:tx>
            <c:strRef>
              <c:f>sheet</c:f>
              <c:strCache>
                <c:ptCount val="1"/>
                <c:pt idx="0">
                  <c:v>智能质检</c:v>
                </c:pt>
              </c:strCache>
            </c:strRef>
          </c:tx>
          <c:spPr>
            <a:solidFill>
              <a:srgbClr val="00B4D8"/>
            </a:solidFill>
          </c:spPr>
          <c:dLbls>
            <c:txPr>
              <a:bodyPr/>
              <a:p>
                <a:pPr>
                  <a:defRPr sz="750">
                    <a:solidFill>
                      <a:srgbClr val="0B1C33"/>
                    </a:solidFill>
                  </a:defRPr>
                </a:pPr>
              </a:p>
            </c:txPr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strCache>
                <c:ptCount val="3"/>
                <c:pt idx="0">
                  <c:v>漏检率 %</c:v>
                </c:pt>
                <c:pt idx="1">
                  <c:v>可承受节拍 pcs/s</c:v>
                </c:pt>
                <c:pt idx="2">
                  <c:v>质检人力占比 %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2</c:v>
                </c:pt>
                <c:pt idx="1">
                  <c:v>5</c:v>
                </c:pt>
                <c:pt idx="2">
                  <c:v>3</c:v>
                </c:pt>
              </c:numCache>
            </c:numRef>
          </c:val>
        </c:ser>
        <c:gapWidth val="219"/>
        <c:overlap val="-27"/>
        <c:axId val="89736801"/>
        <c:axId val="89736802"/>
      </c:barChart>
      <c:catAx>
        <c:axId val="8973680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>
            <a:solidFill>
              <a:srgbClr val="D9D9D9"/>
            </a:solidFill>
            <a:round/>
          </a:ln>
          <a:effectLst/>
        </c:spPr>
        <c:txPr>
          <a:bodyPr/>
          <a:p>
            <a:pPr>
              <a:defRPr sz="900">
                <a:solidFill>
                  <a:srgbClr val="9AA9B8"/>
                </a:solidFill>
              </a:defRPr>
            </a:pPr>
          </a:p>
        </c:txPr>
        <c:crossAx val="89736802"/>
      </c:catAx>
      <c:valAx>
        <c:axId val="89736802"/>
        <c:scaling>
          <c:orientation val="minMax"/>
        </c:scaling>
        <c:delete val="0"/>
        <c:axPos val="l"/>
        <c:majorGridlines>
          <c:spPr>
            <a:noFill/>
            <a:ln w="9525" cap="flat">
              <a:solidFill>
                <a:srgbClr val="D9D9D9"/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p>
            <a:pPr>
              <a:defRPr sz="900">
                <a:solidFill>
                  <a:srgbClr val="9AA9B8"/>
                </a:solidFill>
              </a:defRPr>
            </a:pPr>
          </a:p>
        </c:txPr>
        <c:crossAx val="89736801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/>
        <a:p>
          <a:pPr>
            <a:defRPr sz="900">
              <a:solidFill>
                <a:srgbClr val="6B7A8D"/>
              </a:solidFill>
            </a:defRPr>
          </a:pPr>
        </a:p>
      </c:txPr>
    </c:legend>
    <c:dispBlanksAs val="gap"/>
  </c:chart>
</c:chartSpace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 descr="&lt;Slide style={{ width: 1280, height: 720, position: 'relative', background: '#061428', overflow: 'hidden' }}&gt;&#10;&#10;    {/* 全幅底图 */}&#10;    &lt;Image src=&quot;assets/hero_factory_line.png&quot; style={{ position: 'absolute', top: 0, left: 0, width: 1280, height: 720, objectFit: 'cover' }} /&gt;&#10;    {/* 深色蒙版（左侧更重，保证骑线白字可读） */}&#10;    &lt;Box style={{ position: 'absolute', top: 0, left: 0, width: 1280, height: 720, background: 'linear-gradient(100deg, rgba(4,14,32,0.94) 0%, rgba(4,14,32,0.82) 42%, rgba(4,14,32,0.30) 78%, rgba(4,14,32,0.10) 100%)' }} /&gt;&#10;    {/* 底部强调光带 */}&#10;    &lt;Box style={{ position: 'absolute', bottom: 0, left: 0, width: 1280, height: 8, background: 'linear-gradient(90deg, #FF7A18 0%, #00B4D8 45%, rgba(0,180,216,0) 100%)' }} /&gt;&#10;&#10;    {/* 左侧骑线文字块 */}&#10;    &lt;Box style={{ position: 'relative', zIndex: 2, width: 760, height: 720, paddingTop: 96, paddingLeft: 84, flexDirection: 'column' }}&gt;&#10;&#10;        {/* 眉标 */}&#10;        &lt;Box style={{ flexDirection: 'row', alignItems: 'center', gap: 14 }}&gt;&#10;            &lt;Box style={{ width: 34, height: 4, background: '#FF7A18' }} /&gt;&#10;            &lt;Text style={{ fontSize: 18, color: '#7FD4E8', letterSpacing: 4, fontWeight: 600 }}&gt;深度学习 · 机器视觉 · 边缘部署&lt;/Text&gt;&#10;        &lt;/Box&gt;&#10;&#10;        {/* 主标 */}&#10;        &lt;Text style={{ marginTop: 30, fontSize: 74, lineHeight: 1.12, fontWeight: 'bold', color: '#FFFFFF', letterSpacing: 1 }}&gt;&#10;            工业表面缺陷检测系统&#10;        &lt;/Text&gt;&#10;&#10;        {/* 副标 */}&#10;        &lt;Text style={{ marginTop: 22, fontSize: 26, lineHeight: 1.5, color: '#C7D6E6' }}&gt;&#10;            一套可落地的边缘智能质检平台&#10;        &lt;/Text&gt;&#10;&#10;        {/* 强调短语 */}&#10;        &lt;Box style={{ flexDirection: 'row', alignItems: 'center', marginTop: 16, gap: 12 }}&gt;&#10;            &lt;Text style={{ fontSize: 26, lineHeight: 1.5, color: '#FFFFFF', fontWeight: 'bold' }}&gt;从「人眼抽检」到「NPU 全检」&lt;/Text&gt;&#10;        &lt;/Box&gt;&#10;&#10;        {/* 一行范围 */}&#10;        &lt;Text style={{ marginTop: 34, fontSize: 19, color: '#8FA6BC', letterSpacing: 0.5 }}&gt;&#10;            &lt;span style={{ color: '#00B4D8', fontWeight: 'bold' }}&gt;39 类缺陷&lt;/span&gt; × &lt;span style={{ color: '#00B4D8', fontWeight: 'bold' }}&gt;RK3588 边缘推理&lt;/span&gt; × &lt;span style={{ color: '#00B4D8', fontWeight: 'bold' }}&gt;上位机闭环&lt;/span&gt;&#10;        &lt;/Text&gt;&#10;&#10;        {/* 锚点数字区 */}&#10;        &lt;Box style={{ flexDirection: 'row', alignItems: 'flex-end', gap: 22, marginTop: 46 }}&gt;&#10;            &lt;Text style={{ fontSize: 104, lineHeight: 0.9, fontWeight: 'bold', color: '#FF7A18' }}&gt;39&lt;/Text&gt;&#10;            &lt;Box style={{ flexDirection: 'column', paddingBottom: 8 }}&gt;&#10;                &lt;Text style={{ fontSize: 22, fontWeight: 'bold', color: '#FFFFFF', lineHeight: 1.2 }}&gt;类表面缺陷覆盖&lt;/Text&gt;&#10;                &lt;Text style={{ fontSize: 16, color: '#8FA6BC', marginTop: 4 }}&gt;钢材 / 金属表面主流缺陷形态&lt;/Text&gt;&#10;            &lt;/Box&gt;&#10;        &lt;/Box&gt;&#10;    &lt;/Box&gt;&#10;&#10;    {/* 右下落款 */}&#10;    &lt;Box style={{ position: 'absolute', right: 84, bottom: 46, zIndex: 2, flexDirection: 'column', alignItems: 'flex-end' }}&gt;&#10;        &lt;Box style={{ width: 56, height: 3, background: '#00B4D8', marginBottom: 12 }} /&gt;&#10;        &lt;Text style={{ fontSize: 17, color: '#B9C9DA', letterSpacing: 1 }}&gt;应用场景与落地地图&lt;/Text&gt;&#10;        &lt;Text style={{ fontSize: 15, color: '#6E8299', marginTop: 6, letterSpacing: 1 }}&gt;项目组 · 2026-10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61428"/>
          </a:solidFill>
          <a:ln/>
        </p:spPr>
        <p:txBody>
          <a:bodyPr/>
          <a:p/>
        </p:txBody>
      </p:sp>
      <p:pic>
        <p:nvPicPr>
          <p:cNvPr id="3" name=""/>
          <p:cNvPicPr>
            <a:picLocks noChangeAspect="1"/>
          </p:cNvPicPr>
          <p:nvPr/>
        </p:nvPicPr>
        <p:blipFill>
          <a:blip r:embed="rId1"/>
          <a:srcRect l="0" t="7812" r="0" b="7812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40E20">
                  <a:alpha val="94000"/>
                </a:srgbClr>
              </a:gs>
              <a:gs pos="42000">
                <a:srgbClr val="040E20">
                  <a:alpha val="82000"/>
                </a:srgbClr>
              </a:gs>
              <a:gs pos="78000">
                <a:srgbClr val="040E20">
                  <a:alpha val="30000"/>
                </a:srgbClr>
              </a:gs>
              <a:gs pos="100000">
                <a:srgbClr val="040E20">
                  <a:alpha val="10000"/>
                </a:srgbClr>
              </a:gs>
            </a:gsLst>
            <a:lin ang="600000" scaled="1"/>
          </a:gradFill>
          <a:ln/>
        </p:spPr>
        <p:txBody>
          <a:bodyPr/>
          <a:p/>
        </p:txBody>
      </p:sp>
      <p:sp>
        <p:nvSpPr>
          <p:cNvPr id="5" name=""/>
          <p:cNvSpPr/>
          <p:nvPr/>
        </p:nvSpPr>
        <p:spPr>
          <a:xfrm rot="0" flipH="0" flipV="0">
            <a:off x="0" y="6781800"/>
            <a:ext cx="12192000" cy="76200"/>
          </a:xfrm>
          <a:prstGeom prst="rect">
            <a:avLst/>
          </a:prstGeom>
          <a:gradFill>
            <a:gsLst>
              <a:gs pos="0">
                <a:srgbClr val="FF7A18"/>
              </a:gs>
              <a:gs pos="45000">
                <a:srgbClr val="00B4D8"/>
              </a:gs>
              <a:gs pos="100000">
                <a:srgbClr val="00B4D8">
                  <a:alpha val="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6" name=""/>
          <p:cNvSpPr/>
          <p:nvPr/>
        </p:nvSpPr>
        <p:spPr>
          <a:xfrm rot="0" flipH="0" flipV="0">
            <a:off x="800100" y="1000125"/>
            <a:ext cx="323850" cy="38100"/>
          </a:xfrm>
          <a:prstGeom prst="rect">
            <a:avLst/>
          </a:prstGeom>
          <a:solidFill>
            <a:srgbClr val="FF7A18"/>
          </a:solidFill>
          <a:ln/>
        </p:spPr>
        <p:txBody>
          <a:bodyPr/>
          <a:p/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1257300" y="914400"/>
            <a:ext cx="3105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 spc="300">
                <a:solidFill>
                  <a:srgbClr val="7FD4E8"/>
                </a:solidFill>
                <a:latin typeface="Microsoft YaHei"/>
                <a:ea typeface="Microsoft YaHei"/>
              </a:rPr>
              <a:t>深度学习</a:t>
            </a:r>
            <a:r>
              <a:rPr lang="en-US" sz="1350" b="1" spc="300">
                <a:solidFill>
                  <a:srgbClr val="7FD4E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350" b="1" spc="300">
                <a:solidFill>
                  <a:srgbClr val="7FD4E8"/>
                </a:solidFill>
                <a:latin typeface="Microsoft YaHei"/>
                <a:ea typeface="Microsoft YaHei"/>
              </a:rPr>
              <a:t>机器视觉</a:t>
            </a:r>
            <a:r>
              <a:rPr lang="en-US" sz="1350" b="1" spc="300">
                <a:solidFill>
                  <a:srgbClr val="7FD4E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350" b="1" spc="300">
                <a:solidFill>
                  <a:srgbClr val="7FD4E8"/>
                </a:solidFill>
                <a:latin typeface="Microsoft YaHei"/>
                <a:ea typeface="Microsoft YaHei"/>
              </a:rPr>
              <a:t>边缘部署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800100" y="1409700"/>
            <a:ext cx="6438900" cy="1895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12000"/>
              </a:lnSpc>
            </a:pPr>
            <a:r>
              <a:rPr lang="zh-CN" sz="5550" b="1" spc="75">
                <a:solidFill>
                  <a:srgbClr val="FFFFFF"/>
                </a:solidFill>
                <a:latin typeface="Microsoft YaHei"/>
                <a:ea typeface="Microsoft YaHei"/>
              </a:rPr>
              <a:t>工业表面缺陷检测系统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800100" y="3514725"/>
            <a:ext cx="6438900" cy="4476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950">
                <a:solidFill>
                  <a:srgbClr val="C7D6E6"/>
                </a:solidFill>
                <a:latin typeface="Microsoft YaHei"/>
                <a:ea typeface="Microsoft YaHei"/>
              </a:rPr>
              <a:t>一套可落地的边缘智能质检平台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800100" y="4114800"/>
            <a:ext cx="3619500" cy="4476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950" b="1">
                <a:solidFill>
                  <a:srgbClr val="FFFFFF"/>
                </a:solidFill>
                <a:latin typeface="Microsoft YaHei"/>
                <a:ea typeface="Microsoft YaHei"/>
              </a:rPr>
              <a:t>从「人眼抽检」到「</a:t>
            </a:r>
            <a:r>
              <a:rPr lang="en-US" sz="19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NPU </a:t>
            </a:r>
            <a:r>
              <a:rPr lang="zh-CN" sz="1950" b="1">
                <a:solidFill>
                  <a:srgbClr val="FFFFFF"/>
                </a:solidFill>
                <a:latin typeface="Microsoft YaHei"/>
                <a:ea typeface="Microsoft YaHei"/>
              </a:rPr>
              <a:t>全检」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800100" y="4886325"/>
            <a:ext cx="6438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 spc="38">
                <a:solidFill>
                  <a:srgbClr val="00B4D8"/>
                </a:solidFill>
                <a:latin typeface="Microsoft YaHei"/>
                <a:ea typeface="Microsoft YaHei"/>
              </a:rPr>
              <a:t xml:space="preserve">39 </a:t>
            </a:r>
            <a:r>
              <a:rPr lang="zh-CN" sz="1425" b="1" spc="38">
                <a:solidFill>
                  <a:srgbClr val="00B4D8"/>
                </a:solidFill>
                <a:latin typeface="Microsoft YaHei"/>
                <a:ea typeface="Microsoft YaHei"/>
              </a:rPr>
              <a:t>类缺陷</a:t>
            </a:r>
            <a:r>
              <a:rPr lang="en-US" sz="1425" spc="38">
                <a:solidFill>
                  <a:srgbClr val="8FA6BC"/>
                </a:solidFill>
                <a:latin typeface="Microsoft YaHei"/>
                <a:ea typeface="Microsoft YaHei"/>
              </a:rPr>
              <a:t xml:space="preserve"> × </a:t>
            </a:r>
            <a:r>
              <a:rPr lang="en-US" sz="1425" b="1" spc="38">
                <a:solidFill>
                  <a:srgbClr val="00B4D8"/>
                </a:solidFill>
                <a:latin typeface="Microsoft YaHei"/>
                <a:ea typeface="Microsoft YaHei"/>
              </a:rPr>
              <a:t xml:space="preserve">RK3588 </a:t>
            </a:r>
            <a:r>
              <a:rPr lang="zh-CN" sz="1425" b="1" spc="38">
                <a:solidFill>
                  <a:srgbClr val="00B4D8"/>
                </a:solidFill>
                <a:latin typeface="Microsoft YaHei"/>
                <a:ea typeface="Microsoft YaHei"/>
              </a:rPr>
              <a:t>边缘推理</a:t>
            </a:r>
            <a:r>
              <a:rPr lang="en-US" sz="1425" spc="38">
                <a:solidFill>
                  <a:srgbClr val="8FA6BC"/>
                </a:solidFill>
                <a:latin typeface="Microsoft YaHei"/>
                <a:ea typeface="Microsoft YaHei"/>
              </a:rPr>
              <a:t xml:space="preserve"> × </a:t>
            </a:r>
            <a:r>
              <a:rPr lang="zh-CN" sz="1425" b="1" spc="38">
                <a:solidFill>
                  <a:srgbClr val="00B4D8"/>
                </a:solidFill>
                <a:latin typeface="Microsoft YaHei"/>
                <a:ea typeface="Microsoft YaHei"/>
              </a:rPr>
              <a:t>上位机闭环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800100" y="5543550"/>
            <a:ext cx="1228725" cy="1076325"/>
          </a:xfrm>
          <a:prstGeom prst="rect"/>
        </p:spPr>
        <p:txBody>
          <a:bodyPr wrap="none" lIns="0" tIns="0" rIns="0" bIns="0"/>
          <a:p>
            <a:pPr>
              <a:lnSpc>
                <a:spcPct val="90000"/>
              </a:lnSpc>
            </a:pPr>
            <a:r>
              <a:rPr lang="en-US" sz="7800" b="1">
                <a:solidFill>
                  <a:srgbClr val="FF7A18"/>
                </a:solidFill>
                <a:latin typeface="Microsoft YaHei"/>
                <a:ea typeface="Microsoft YaHei"/>
              </a:rPr>
              <a:t>39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2238375" y="6010275"/>
            <a:ext cx="1990725" cy="3048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类表面缺陷覆盖</a:t>
            </a:r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2238375" y="6353175"/>
            <a:ext cx="1990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FA6BC"/>
                </a:solidFill>
                <a:latin typeface="Microsoft YaHei"/>
                <a:ea typeface="Microsoft YaHei"/>
              </a:rPr>
              <a:t>钢材</a:t>
            </a:r>
            <a:r>
              <a:rPr lang="en-US" sz="1200">
                <a:solidFill>
                  <a:srgbClr val="8FA6BC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>
                <a:solidFill>
                  <a:srgbClr val="8FA6BC"/>
                </a:solidFill>
                <a:latin typeface="Microsoft YaHei"/>
                <a:ea typeface="Microsoft YaHei"/>
              </a:rPr>
              <a:t>金属表面主流缺陷形态</a:t>
            </a:r>
            <a:endParaRPr/>
          </a:p>
        </p:txBody>
      </p:sp>
      <p:sp>
        <p:nvSpPr>
          <p:cNvPr id="15" name=""/>
          <p:cNvSpPr/>
          <p:nvPr/>
        </p:nvSpPr>
        <p:spPr>
          <a:xfrm rot="0" flipH="0" flipV="0">
            <a:off x="10858500" y="5848350"/>
            <a:ext cx="533400" cy="28575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p/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9848850" y="5991225"/>
            <a:ext cx="15430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spc="75">
                <a:solidFill>
                  <a:srgbClr val="B9C9DA"/>
                </a:solidFill>
                <a:latin typeface="Microsoft YaHei"/>
                <a:ea typeface="Microsoft YaHei"/>
              </a:rPr>
              <a:t>应用场景与落地地图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10153650" y="6248400"/>
            <a:ext cx="1238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75">
                <a:solidFill>
                  <a:srgbClr val="6E8299"/>
                </a:solidFill>
                <a:latin typeface="Microsoft YaHei"/>
                <a:ea typeface="Microsoft YaHei"/>
              </a:rPr>
              <a:t>项目组</a:t>
            </a:r>
            <a:r>
              <a:rPr lang="en-US" sz="1125" spc="75">
                <a:solidFill>
                  <a:srgbClr val="6E8299"/>
                </a:solidFill>
                <a:latin typeface="Microsoft YaHei"/>
                <a:ea typeface="Microsoft YaHei"/>
              </a:rPr>
              <a:t xml:space="preserve"> · 2026-10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8" name="" descr="&lt;Slide style={{ width: 1280, height: 720, position: 'relative', background: '#FFFFFF', overflow: 'hidden' }}&gt;&#10;&#10;    {/* 主容器：左右分栏 */}&#10;    &lt;Box style={{ position: 'absolute', top: 0, left: 0, width: 1280, height: 720, flexDirection: 'row' }}&gt;&#10;&#10;        {/* 左侧标题栏 */}&#10;        &lt;Box style={{ width: 380, height: 720, background: 'linear-gradient(160deg, #0B3D91 0%, #0A3070 100%)', position: 'relative' }}&gt;&#10;            &lt;Box style={{ position: 'absolute', top: 118, left: 60, width: 52, height: 5, background: '#FF7A18' }} /&gt;&#10;            &lt;Text style={{ position: 'absolute', top: 150, left: 60, fontSize: 62, fontWeight: 'bold', color: '#FFFFFF', letterSpacing: 2 }}&gt;目录&lt;/Text&gt;&#10;            &lt;Text style={{ position: 'absolute', top: 246, left: 60, fontSize: 20, color: '#9DBBEA', letterSpacing: 6 }}&gt;CONTENTS&lt;/Text&gt;&#10;            &lt;Text style={{ position: 'absolute', top: 300, left: 60, width: 260, fontSize: 17, lineHeight: 1.9, color: '#B9CDEC' }}&gt;&#10;                四个问题，讲清这套系统&#10;                &lt;br /&gt;&#10;                能解决什么、凭什么能落地。&#10;            &lt;/Text&gt;&#10;            &lt;Box style={{ position: 'absolute', bottom: 70, left: 60, flexDirection: 'row', gap: 8 }}&gt;&#10;                &lt;Box style={{ width: 40, height: 3, background: '#00B4D8' }} /&gt;&#10;                &lt;Box style={{ width: 40, height: 3, background: 'rgba(255,255,255,0.35)' }} /&gt;&#10;                &lt;Box style={{ width: 40, height: 3, background: 'rgba(255,255,255,0.2)' }} /&gt;&#10;            &lt;/Box&gt;&#10;        &lt;/Box&gt;&#10;&#10;        {/* 右侧四章条目 */}&#10;        &lt;Box style={{ width: 900, height: 720, paddingLeft: 72, paddingRight: 84, paddingTop: 96, paddingBottom: 64, flexDirection: 'column', justifyContent: 'space-between', position: 'relative' }}&gt;&#10;&#10;            &lt;Box style={{ flexDirection: 'row', alignItems: 'flex-start', gap: 28 }}&gt;&#10;                &lt;Text style={{ fontSize: 46, fontWeight: 'bold', color: '#DCE8F7', lineHeight: 1, width: 84 }}&gt;01&lt;/Text&gt;&#10;                &lt;Box style={{ flexDirection: 'column', flex: 1, paddingTop: 4 }}&gt;&#10;                    &lt;Text style={{ fontSize: 27, fontWeight: 'bold', color: '#0B1C33' }}&gt;行业痛点：质检为什么难&lt;/Text&gt;&#10;                    &lt;Text style={{ fontSize: 16.5, color: '#5C6E82', lineHeight: 1.65, marginTop: 9 }}&gt;&#10;                        人眼抽检撞上漏检率、产线节拍、人力成本三堵墙 —— 痛点不是&quot;检得准不准&quot;，而是&quot;根本检不过来&quot;。&#10;                    &lt;/Text&gt;&#10;                &lt;/Box&gt;&#10;            &lt;/Box&gt;&#10;&#10;            &lt;Box style={{ height: 1, background: '#E3EAF2', marginLeft: 112 }} /&gt;&#10;&#10;            &lt;Box style={{ flexDirection: 'row', alignItems: 'flex-start', gap: 28 }}&gt;&#10;                &lt;Text style={{ fontSize: 46, fontWeight: 'bold', color: '#DCE8F7', lineHeight: 1, width: 84 }}&gt;02&lt;/Text&gt;&#10;                &lt;Box style={{ flexDirection: 'column', flex: 1, paddingTop: 4 }}&gt;&#10;                    &lt;Text style={{ fontSize: 27, fontWeight: 'bold', color: '#0B1C33' }}&gt;场景地图：六大应用领域&lt;/Text&gt;&#10;                    &lt;Text style={{ fontSize: 16.5, color: '#5C6E82', lineHeight: 1.65, marginTop: 9 }}&gt;&#10;                        钢铁、3C、纺织、新能源、食品、玻璃 —— 同一个视觉内核，换一套数据就是一条新产线。&#10;                    &lt;/Text&gt;&#10;                &lt;/Box&gt;&#10;            &lt;/Box&gt;&#10;&#10;            &lt;Box style={{ height: 1, background: '#E3EAF2', marginLeft: 112 }} /&gt;&#10;&#10;            &lt;Box style={{ flexDirection: 'row', alignItems: 'flex-start', gap: 28 }}&gt;&#10;                &lt;Text style={{ fontSize: 46, fontWeight: 'bold', color: '#DCE8F7', lineHeight: 1, width: 84 }}&gt;03&lt;/Text&gt;&#10;                &lt;Box style={{ flexDirection: 'column', flex: 1, paddingTop: 4 }}&gt;&#10;                    &lt;Text style={{ fontSize: 27, fontWeight: 'bold', color: '#0B1C33' }}&gt;技术底座：为什么是这套方案&lt;/Text&gt;&#10;                    &lt;Text style={{ fontSize: 16.5, color: '#5C6E82', lineHeight: 1.65, marginTop: 9 }}&gt;&#10;                        不是又一个算法 demo —— 39 类模型 + RK3588 边缘算力 + 工程韧性 + 上位机闭环，四根支柱。&#10;                    &lt;/Text&gt;&#10;                &lt;/Box&gt;&#10;            &lt;/Box&gt;&#10;&#10;            &lt;Box style={{ height: 1, background: '#E3EAF2', marginLeft: 112 }} /&gt;&#10;&#10;            &lt;Box style={{ flexDirection: 'row', alignItems: 'flex-start', gap: 28 }}&gt;&#10;                &lt;Text style={{ fontSize: 46, fontWeight: 'bold', color: '#DCE8F7', lineHeight: 1, width: 84 }}&gt;04&lt;/Text&gt;&#10;                &lt;Box style={{ flexDirection: 'column', flex: 1, paddingTop: 4 }}&gt;&#10;                    &lt;Text style={{ fontSize: 27, fontWeight: 'bold', color: '#0B1C33' }}&gt;落地路径与扩展边界&lt;/Text&gt;&#10;                    &lt;Text style={{ fontSize: 16.5, color: '#5C6E82', lineHeight: 1.65, marginTop: 9 }}&gt;&#10;                        从一条线试跑到一个行业复制 —— 迁移成本主要是数据标注，不是重新研发。&#10;                    &lt;/Text&gt;&#10;                &lt;/Box&gt;&#10;            &lt;/Box&gt;&#10;&#10;            {/* 页脚 */}&#10;            &lt;Box style={{ flexDirection: 'row', justifyContent: 'space-between', marginTop: 4 }}&gt;&#10;                &lt;Text style={{ fontSize: 14, color: '#9AA9B8' }}&gt;工业表面缺陷检测系统 · 应用场景与落地地图&lt;/Text&gt;&#10;                &lt;Text style={{ fontSize: 14, color: '#9AA9B8' }}&gt;02 / 12&lt;/Text&gt;&#10;            &lt;/Box&gt;&#10;        &lt;/Box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0" name=""/>
          <p:cNvSpPr/>
          <p:nvPr/>
        </p:nvSpPr>
        <p:spPr>
          <a:xfrm rot="0" flipH="0" flipV="0">
            <a:off x="0" y="0"/>
            <a:ext cx="3619500" cy="6858000"/>
          </a:xfrm>
          <a:prstGeom prst="rect">
            <a:avLst/>
          </a:prstGeom>
          <a:gradFill>
            <a:gsLst>
              <a:gs pos="0">
                <a:srgbClr val="0B3D91"/>
              </a:gs>
              <a:gs pos="100000">
                <a:srgbClr val="0A3070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21" name=""/>
          <p:cNvSpPr/>
          <p:nvPr/>
        </p:nvSpPr>
        <p:spPr>
          <a:xfrm rot="0" flipH="0" flipV="0">
            <a:off x="571500" y="1123950"/>
            <a:ext cx="495300" cy="47625"/>
          </a:xfrm>
          <a:prstGeom prst="rect">
            <a:avLst/>
          </a:prstGeom>
          <a:solidFill>
            <a:srgbClr val="FF7A18"/>
          </a:solidFill>
          <a:ln/>
        </p:spPr>
        <p:txBody>
          <a:bodyPr/>
          <a:p/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571500" y="1428750"/>
            <a:ext cx="1219200" cy="714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650" b="1" spc="150">
                <a:solidFill>
                  <a:srgbClr val="FFFFFF"/>
                </a:solidFill>
                <a:latin typeface="Microsoft YaHei"/>
                <a:ea typeface="Microsoft YaHei"/>
              </a:rPr>
              <a:t>目录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571500" y="2343150"/>
            <a:ext cx="14859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spc="450">
                <a:solidFill>
                  <a:srgbClr val="9DBBEA"/>
                </a:solidFill>
                <a:latin typeface="Microsoft YaHei"/>
                <a:ea typeface="Microsoft YaHei"/>
              </a:rPr>
              <a:t>CONTENTS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571500" y="2857500"/>
            <a:ext cx="2476500" cy="74295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1275">
                <a:solidFill>
                  <a:srgbClr val="B9CDEC"/>
                </a:solidFill>
                <a:latin typeface="Microsoft YaHei"/>
                <a:ea typeface="Microsoft YaHei"/>
              </a:rPr>
              <a:t>四个问题，讲清这套系统</a:t>
            </a:r>
            <a:endParaRPr/>
          </a:p>
          <a:p>
            <a:pPr>
              <a:lnSpc>
                <a:spcPct val="190000"/>
              </a:lnSpc>
            </a:pPr>
            <a:r>
              <a:rPr lang="zh-CN" sz="1275">
                <a:solidFill>
                  <a:srgbClr val="B9CDEC"/>
                </a:solidFill>
                <a:latin typeface="Microsoft YaHei"/>
                <a:ea typeface="Microsoft YaHei"/>
              </a:rPr>
              <a:t>能解决什么、凭什么能落地。</a:t>
            </a:r>
            <a:endParaRPr/>
          </a:p>
        </p:txBody>
      </p:sp>
      <p:sp>
        <p:nvSpPr>
          <p:cNvPr id="25" name=""/>
          <p:cNvSpPr/>
          <p:nvPr/>
        </p:nvSpPr>
        <p:spPr>
          <a:xfrm rot="0" flipH="0" flipV="0">
            <a:off x="571500" y="6162675"/>
            <a:ext cx="381000" cy="28575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p/>
        </p:txBody>
      </p:sp>
      <p:sp>
        <p:nvSpPr>
          <p:cNvPr id="26" name=""/>
          <p:cNvSpPr/>
          <p:nvPr/>
        </p:nvSpPr>
        <p:spPr>
          <a:xfrm rot="0" flipH="0" flipV="0">
            <a:off x="1028700" y="6162675"/>
            <a:ext cx="381000" cy="28575"/>
          </a:xfrm>
          <a:prstGeom prst="rect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27" name=""/>
          <p:cNvSpPr/>
          <p:nvPr/>
        </p:nvSpPr>
        <p:spPr>
          <a:xfrm rot="0" flipH="0" flipV="0">
            <a:off x="1485900" y="6162675"/>
            <a:ext cx="381000" cy="28575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p/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4305300" y="914400"/>
            <a:ext cx="800100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450" b="1">
                <a:solidFill>
                  <a:srgbClr val="DCE8F7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5372100" y="952500"/>
            <a:ext cx="6019800" cy="3143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025" b="1">
                <a:solidFill>
                  <a:srgbClr val="0B1C33"/>
                </a:solidFill>
                <a:latin typeface="Microsoft YaHei"/>
                <a:ea typeface="Microsoft YaHei"/>
              </a:rPr>
              <a:t>行业痛点：质检为什么难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5372100" y="1352550"/>
            <a:ext cx="60198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38">
                <a:solidFill>
                  <a:srgbClr val="5C6E82"/>
                </a:solidFill>
                <a:latin typeface="Microsoft YaHei"/>
                <a:ea typeface="Microsoft YaHei"/>
              </a:rPr>
              <a:t>人眼抽检撞上漏检率、产线节拍、人力成本三堵墙</a:t>
            </a:r>
            <a:r>
              <a:rPr lang="en-US" sz="1238">
                <a:solidFill>
                  <a:srgbClr val="5C6E82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238">
                <a:solidFill>
                  <a:srgbClr val="5C6E82"/>
                </a:solidFill>
                <a:latin typeface="Microsoft YaHei"/>
                <a:ea typeface="Microsoft YaHei"/>
              </a:rPr>
              <a:t>痛点不是</a:t>
            </a:r>
            <a:r>
              <a:rPr lang="en-US" sz="1238">
                <a:solidFill>
                  <a:srgbClr val="5C6E82"/>
                </a:solidFill>
                <a:latin typeface="Microsoft YaHei"/>
                <a:ea typeface="Microsoft YaHei"/>
              </a:rPr>
              <a:t>"</a:t>
            </a:r>
            <a:r>
              <a:rPr lang="zh-CN" sz="1238">
                <a:solidFill>
                  <a:srgbClr val="5C6E82"/>
                </a:solidFill>
                <a:latin typeface="Microsoft YaHei"/>
                <a:ea typeface="Microsoft YaHei"/>
              </a:rPr>
              <a:t>检得准不准</a:t>
            </a:r>
            <a:r>
              <a:rPr lang="en-US" sz="1238">
                <a:solidFill>
                  <a:srgbClr val="5C6E82"/>
                </a:solidFill>
                <a:latin typeface="Microsoft YaHei"/>
                <a:ea typeface="Microsoft YaHei"/>
              </a:rPr>
              <a:t>"</a:t>
            </a:r>
            <a:r>
              <a:rPr lang="zh-CN" sz="1238">
                <a:solidFill>
                  <a:srgbClr val="5C6E82"/>
                </a:solidFill>
                <a:latin typeface="Microsoft YaHei"/>
                <a:ea typeface="Microsoft YaHei"/>
              </a:rPr>
              <a:t>，而是</a:t>
            </a:r>
            <a:r>
              <a:rPr lang="en-US" sz="1238">
                <a:solidFill>
                  <a:srgbClr val="5C6E82"/>
                </a:solidFill>
                <a:latin typeface="Microsoft YaHei"/>
                <a:ea typeface="Microsoft YaHei"/>
              </a:rPr>
              <a:t>"</a:t>
            </a:r>
            <a:r>
              <a:rPr lang="zh-CN" sz="1238">
                <a:solidFill>
                  <a:srgbClr val="5C6E82"/>
                </a:solidFill>
                <a:latin typeface="Microsoft YaHei"/>
                <a:ea typeface="Microsoft YaHei"/>
              </a:rPr>
              <a:t>根本检不过来</a:t>
            </a:r>
            <a:r>
              <a:rPr lang="en-US" sz="1238">
                <a:solidFill>
                  <a:srgbClr val="5C6E82"/>
                </a:solidFill>
                <a:latin typeface="Microsoft YaHei"/>
                <a:ea typeface="Microsoft YaHei"/>
              </a:rPr>
              <a:t>"</a:t>
            </a:r>
            <a:r>
              <a:rPr lang="zh-CN" sz="1238">
                <a:solidFill>
                  <a:srgbClr val="5C6E82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31" name=""/>
          <p:cNvSpPr/>
          <p:nvPr/>
        </p:nvSpPr>
        <p:spPr>
          <a:xfrm rot="0" flipH="0" flipV="0">
            <a:off x="5372100" y="2143125"/>
            <a:ext cx="601980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4305300" y="2324100"/>
            <a:ext cx="800100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450" b="1">
                <a:solidFill>
                  <a:srgbClr val="DCE8F7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5372100" y="2362200"/>
            <a:ext cx="6019800" cy="3143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025" b="1">
                <a:solidFill>
                  <a:srgbClr val="0B1C33"/>
                </a:solidFill>
                <a:latin typeface="Microsoft YaHei"/>
                <a:ea typeface="Microsoft YaHei"/>
              </a:rPr>
              <a:t>场景地图：六大应用领域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5372100" y="2762250"/>
            <a:ext cx="60198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38">
                <a:solidFill>
                  <a:srgbClr val="5C6E82"/>
                </a:solidFill>
                <a:latin typeface="Microsoft YaHei"/>
                <a:ea typeface="Microsoft YaHei"/>
              </a:rPr>
              <a:t>钢铁、</a:t>
            </a:r>
            <a:r>
              <a:rPr lang="en-US" sz="1238">
                <a:solidFill>
                  <a:srgbClr val="5C6E82"/>
                </a:solidFill>
                <a:latin typeface="Microsoft YaHei"/>
                <a:ea typeface="Microsoft YaHei"/>
              </a:rPr>
              <a:t>3C</a:t>
            </a:r>
            <a:r>
              <a:rPr lang="zh-CN" sz="1238">
                <a:solidFill>
                  <a:srgbClr val="5C6E82"/>
                </a:solidFill>
                <a:latin typeface="Microsoft YaHei"/>
                <a:ea typeface="Microsoft YaHei"/>
              </a:rPr>
              <a:t>、纺织、新能源、食品、玻璃</a:t>
            </a:r>
            <a:r>
              <a:rPr lang="en-US" sz="1238">
                <a:solidFill>
                  <a:srgbClr val="5C6E82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238">
                <a:solidFill>
                  <a:srgbClr val="5C6E82"/>
                </a:solidFill>
                <a:latin typeface="Microsoft YaHei"/>
                <a:ea typeface="Microsoft YaHei"/>
              </a:rPr>
              <a:t>同一个视觉内核，换一套数据就是一条新产线。</a:t>
            </a:r>
            <a:endParaRPr/>
          </a:p>
        </p:txBody>
      </p:sp>
      <p:sp>
        <p:nvSpPr>
          <p:cNvPr id="35" name=""/>
          <p:cNvSpPr/>
          <p:nvPr/>
        </p:nvSpPr>
        <p:spPr>
          <a:xfrm rot="0" flipH="0" flipV="0">
            <a:off x="5372100" y="3552825"/>
            <a:ext cx="601980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4305300" y="3724275"/>
            <a:ext cx="800100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450" b="1">
                <a:solidFill>
                  <a:srgbClr val="DCE8F7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5372100" y="3762375"/>
            <a:ext cx="6019800" cy="3143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025" b="1">
                <a:solidFill>
                  <a:srgbClr val="0B1C33"/>
                </a:solidFill>
                <a:latin typeface="Microsoft YaHei"/>
                <a:ea typeface="Microsoft YaHei"/>
              </a:rPr>
              <a:t>技术底座：为什么是这套方案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5372100" y="4162425"/>
            <a:ext cx="60198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38">
                <a:solidFill>
                  <a:srgbClr val="5C6E82"/>
                </a:solidFill>
                <a:latin typeface="Microsoft YaHei"/>
                <a:ea typeface="Microsoft YaHei"/>
              </a:rPr>
              <a:t>不是又一个算法</a:t>
            </a:r>
            <a:r>
              <a:rPr lang="en-US" sz="1238">
                <a:solidFill>
                  <a:srgbClr val="5C6E82"/>
                </a:solidFill>
                <a:latin typeface="Microsoft YaHei"/>
                <a:ea typeface="Microsoft YaHei"/>
              </a:rPr>
              <a:t xml:space="preserve"> demo —— 39 </a:t>
            </a:r>
            <a:r>
              <a:rPr lang="zh-CN" sz="1238">
                <a:solidFill>
                  <a:srgbClr val="5C6E82"/>
                </a:solidFill>
                <a:latin typeface="Microsoft YaHei"/>
                <a:ea typeface="Microsoft YaHei"/>
              </a:rPr>
              <a:t>类模型</a:t>
            </a:r>
            <a:r>
              <a:rPr lang="en-US" sz="1238">
                <a:solidFill>
                  <a:srgbClr val="5C6E82"/>
                </a:solidFill>
                <a:latin typeface="Microsoft YaHei"/>
                <a:ea typeface="Microsoft YaHei"/>
              </a:rPr>
              <a:t xml:space="preserve"> + RK3588 </a:t>
            </a:r>
            <a:r>
              <a:rPr lang="zh-CN" sz="1238">
                <a:solidFill>
                  <a:srgbClr val="5C6E82"/>
                </a:solidFill>
                <a:latin typeface="Microsoft YaHei"/>
                <a:ea typeface="Microsoft YaHei"/>
              </a:rPr>
              <a:t>边缘算力</a:t>
            </a:r>
            <a:r>
              <a:rPr lang="en-US" sz="1238">
                <a:solidFill>
                  <a:srgbClr val="5C6E82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38">
                <a:solidFill>
                  <a:srgbClr val="5C6E82"/>
                </a:solidFill>
                <a:latin typeface="Microsoft YaHei"/>
                <a:ea typeface="Microsoft YaHei"/>
              </a:rPr>
              <a:t>工程韧性</a:t>
            </a:r>
            <a:r>
              <a:rPr lang="en-US" sz="1238">
                <a:solidFill>
                  <a:srgbClr val="5C6E82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38">
                <a:solidFill>
                  <a:srgbClr val="5C6E82"/>
                </a:solidFill>
                <a:latin typeface="Microsoft YaHei"/>
                <a:ea typeface="Microsoft YaHei"/>
              </a:rPr>
              <a:t>上位机闭环，四根支柱。</a:t>
            </a:r>
            <a:endParaRPr/>
          </a:p>
        </p:txBody>
      </p:sp>
      <p:sp>
        <p:nvSpPr>
          <p:cNvPr id="39" name=""/>
          <p:cNvSpPr/>
          <p:nvPr/>
        </p:nvSpPr>
        <p:spPr>
          <a:xfrm rot="0" flipH="0" flipV="0">
            <a:off x="5372100" y="4953000"/>
            <a:ext cx="601980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4305300" y="5133975"/>
            <a:ext cx="800100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450" b="1">
                <a:solidFill>
                  <a:srgbClr val="DCE8F7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5372100" y="5172075"/>
            <a:ext cx="6019800" cy="3143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025" b="1">
                <a:solidFill>
                  <a:srgbClr val="0B1C33"/>
                </a:solidFill>
                <a:latin typeface="Microsoft YaHei"/>
                <a:ea typeface="Microsoft YaHei"/>
              </a:rPr>
              <a:t>落地路径与扩展边界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5372100" y="5572125"/>
            <a:ext cx="6019800" cy="314325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238">
                <a:solidFill>
                  <a:srgbClr val="5C6E82"/>
                </a:solidFill>
                <a:latin typeface="Microsoft YaHei"/>
                <a:ea typeface="Microsoft YaHei"/>
              </a:rPr>
              <a:t>从一条线试跑到一个行业复制</a:t>
            </a:r>
            <a:r>
              <a:rPr lang="en-US" sz="1238">
                <a:solidFill>
                  <a:srgbClr val="5C6E82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238">
                <a:solidFill>
                  <a:srgbClr val="5C6E82"/>
                </a:solidFill>
                <a:latin typeface="Microsoft YaHei"/>
                <a:ea typeface="Microsoft YaHei"/>
              </a:rPr>
              <a:t>迁移成本主要是数据标注，不是重新研发。</a:t>
            </a:r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4305300" y="6086475"/>
            <a:ext cx="2647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AA9B8"/>
                </a:solidFill>
                <a:latin typeface="Microsoft YaHei"/>
                <a:ea typeface="Microsoft YaHei"/>
              </a:rPr>
              <a:t>工业表面缺陷检测系统</a:t>
            </a:r>
            <a:r>
              <a:rPr lang="en-US" sz="1050">
                <a:solidFill>
                  <a:srgbClr val="9AA9B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9AA9B8"/>
                </a:solidFill>
                <a:latin typeface="Microsoft YaHei"/>
                <a:ea typeface="Microsoft YaHei"/>
              </a:rPr>
              <a:t>应用场景与落地地图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10934700" y="60864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AA9B8"/>
                </a:solidFill>
                <a:latin typeface="Microsoft YaHei"/>
                <a:ea typeface="Microsoft YaHei"/>
              </a:rPr>
              <a:t>02 / 12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45" name="" descr="&lt;Slide style={{ width: 1280, height: 720, position: 'relative', background: '#071A36', overflow: 'hidden' }}&gt;&#10;&#10;    {/* 背景网格 + 光晕（SVG） */}&#10;    &lt;svg width={1280} height={720} viewBox='0 0 1280 720' style={{ position: 'absolute', top: 0, left: 0 }}&gt;&#10;        &lt;defs&gt;&#10;            &lt;linearGradient id='p3bg' x1='0' y1='0' x2='1' y2='1'&gt;&#10;                &lt;stop offset='0%' stopColor='#0B3D91' /&gt;&#10;                &lt;stop offset='55%' stopColor='#0A2C68' /&gt;&#10;                &lt;stop offset='100%' stopColor='#061428' /&gt;&#10;            &lt;/linearGradient&gt;&#10;            &lt;radialGradient id='p3glow' cx='0.82' cy='0.32' r='0.55'&gt;&#10;                &lt;stop offset='0%' stopColor='#00B4D8' stopOpacity='0.45' /&gt;&#10;                &lt;stop offset='100%' stopColor='#00B4D8' stopOpacity='0' /&gt;&#10;            &lt;/radialGradient&gt;&#10;        &lt;/defs&gt;&#10;        &lt;rect x='0' y='0' width='1280' height='720' fill='url(#p3bg)' /&gt;&#10;        &lt;rect x='0' y='0' width='1280' height='720' fill='url(#p3glow)' /&gt;&#10;        {/* 网格纹理 */}&#10;        &lt;g stroke='#4E8BD6' strokeOpacity='0.13' strokeWidth='1'&gt;&#10;            &lt;line x1='0' y1='180' x2='1280' y2='180' /&gt;&#10;            &lt;line x1='0' y1='360' x2='1280' y2='360' /&gt;&#10;            &lt;line x1='0' y1='540' x2='1280' y2='540' /&gt;&#10;            &lt;line x1='320' y1='0' x2='320' y2='720' /&gt;&#10;            &lt;line x1='640' y1='0' x2='640' y2='720' /&gt;&#10;            &lt;line x1='960' y1='0' x2='960' y2='720' /&gt;&#10;        &lt;/g&gt;&#10;        {/* 右侧巨型章号水印 */}&#10;        &lt;text x='1000' y='600' fontSize='520' fontWeight='bold' fill='#FFFFFF' fillOpacity='0.05' textAnchor='middle' fontFamily='Inter, sans-serif'&gt;01&lt;/text&gt;&#10;        {/* 底部强调光带 */}&#10;        &lt;rect x='0' y='712' width='1280' height='8' fill='#FF7A18' /&gt;&#10;        &lt;rect x='0' y='712' width='420' height='8' fill='#00B4D8' /&gt;&#10;    &lt;/svg&gt;&#10;&#10;    {/* 内容 */}&#10;    &lt;Box style={{ position: 'absolute', top: 0, left: 0, width: 1280, height: 720, paddingLeft: 96, paddingTop: 236, flexDirection: 'column' }}&gt;&#10;&#10;        {/* 章号 + 眉标 */}&#10;        &lt;Box style={{ flexDirection: 'row', alignItems: 'center', gap: 18 }}&gt;&#10;            &lt;Text style={{ fontSize: 26, fontWeight: 'bold', color: '#00B4D8', letterSpacing: 3 }}&gt;CHAPTER 01&lt;/Text&gt;&#10;            &lt;Box style={{ width: 90, height: 2, background: 'rgba(255,255,255,0.25)' }} /&gt;&#10;        &lt;/Box&gt;&#10;&#10;        {/* 章题 */}&#10;        &lt;Text style={{ marginTop: 26, fontSize: 66, fontWeight: 'bold', color: '#FFFFFF', lineHeight: 1.15, letterSpacing: 2 }}&gt;&#10;            行业痛点：质检为什么难&#10;        &lt;/Text&gt;&#10;&#10;        {/* 小标 */}&#10;        &lt;Box style={{ flexDirection: 'row', alignItems: 'center', gap: 16, marginTop: 34 }}&gt;&#10;            &lt;Box style={{ width: 6, height: 34, background: '#FF7A18' }} /&gt;&#10;            &lt;Text style={{ fontSize: 25, color: '#BFD6EC', letterSpacing: 1 }}&gt;&#10;                人眼抽检的极限，就是智能质检的起点。&#10;            &lt;/Text&gt;&#10;        &lt;/Box&gt;&#10;    &lt;/Box&gt;&#10;&#10;    {/* 页脚 */}&#10;    &lt;Box style={{ position: 'absolute', left: 96, bottom: 30, width: 1088, flexDirection: 'row', justifyContent: 'space-between' }}&gt;&#10;        &lt;Text style={{ fontSize: 14, color: '#6E8BB0' }}&gt;工业表面缺陷检测系统 · 应用场景与落地地图&lt;/Text&gt;&#10;        &lt;Text style={{ fontSize: 14, color: '#6E8BB0' }}&gt;03 / 12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71A36"/>
          </a:solidFill>
          <a:ln/>
        </p:spPr>
        <p:txBody>
          <a:bodyPr/>
          <a:p/>
        </p:txBody>
      </p:sp>
      <p:pic>
        <p:nvPicPr>
          <p:cNvPr id="4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914400" y="2247900"/>
            <a:ext cx="185737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 spc="225">
                <a:solidFill>
                  <a:srgbClr val="00B4D8"/>
                </a:solidFill>
                <a:latin typeface="Microsoft YaHei"/>
                <a:ea typeface="Microsoft YaHei"/>
              </a:rPr>
              <a:t>CHAPTER 01</a:t>
            </a:r>
            <a:endParaRPr/>
          </a:p>
        </p:txBody>
      </p:sp>
      <p:sp>
        <p:nvSpPr>
          <p:cNvPr id="49" name=""/>
          <p:cNvSpPr/>
          <p:nvPr/>
        </p:nvSpPr>
        <p:spPr>
          <a:xfrm rot="0" flipH="0" flipV="0">
            <a:off x="2943225" y="2390775"/>
            <a:ext cx="857250" cy="19050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p/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914400" y="2800350"/>
            <a:ext cx="11277600" cy="8763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950" b="1" spc="150">
                <a:solidFill>
                  <a:srgbClr val="FFFFFF"/>
                </a:solidFill>
                <a:latin typeface="Microsoft YaHei"/>
                <a:ea typeface="Microsoft YaHei"/>
              </a:rPr>
              <a:t>行业痛点：质检为什么难</a:t>
            </a:r>
            <a:endParaRPr/>
          </a:p>
        </p:txBody>
      </p:sp>
      <p:sp>
        <p:nvSpPr>
          <p:cNvPr id="51" name=""/>
          <p:cNvSpPr/>
          <p:nvPr/>
        </p:nvSpPr>
        <p:spPr>
          <a:xfrm rot="0" flipH="0" flipV="0">
            <a:off x="914400" y="4000500"/>
            <a:ext cx="57150" cy="323850"/>
          </a:xfrm>
          <a:prstGeom prst="rect">
            <a:avLst/>
          </a:prstGeom>
          <a:solidFill>
            <a:srgbClr val="FF7A18"/>
          </a:solidFill>
          <a:ln/>
        </p:spPr>
        <p:txBody>
          <a:bodyPr/>
          <a:p/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1123950" y="4019550"/>
            <a:ext cx="445770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spc="75">
                <a:solidFill>
                  <a:srgbClr val="BFD6EC"/>
                </a:solidFill>
                <a:latin typeface="Microsoft YaHei"/>
                <a:ea typeface="Microsoft YaHei"/>
              </a:rPr>
              <a:t>人眼抽检的极限，就是智能质检的起点。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914400" y="6410325"/>
            <a:ext cx="2647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E8BB0"/>
                </a:solidFill>
                <a:latin typeface="Microsoft YaHei"/>
                <a:ea typeface="Microsoft YaHei"/>
              </a:rPr>
              <a:t>工业表面缺陷检测系统</a:t>
            </a:r>
            <a:r>
              <a:rPr lang="en-US" sz="1050">
                <a:solidFill>
                  <a:srgbClr val="6E8BB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6E8BB0"/>
                </a:solidFill>
                <a:latin typeface="Microsoft YaHei"/>
                <a:ea typeface="Microsoft YaHei"/>
              </a:rPr>
              <a:t>应用场景与落地地图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10820400" y="64103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E8BB0"/>
                </a:solidFill>
                <a:latin typeface="Microsoft YaHei"/>
                <a:ea typeface="Microsoft YaHei"/>
              </a:rPr>
              <a:t>03 / 12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 xmlns:c="http://schemas.openxmlformats.org/drawingml/2006/chart" xmlns:r="http://schemas.openxmlformats.org/officeDocument/2006/relationships">
  <p:cSld>
    <p:spTree>
      <p:nvGrpSpPr>
        <p:cNvPr id="55" name="" descr="&lt;Slide style={{ width: 1280, height: 720, position: 'relative', background: '#FFFFFF', overflow: 'hidden' }}&gt;&#10;&#10;    {/* A 区 标题块 */}&#10;    &lt;Box style={{ position: 'absolute', top: 0, left: 0, width: 1280, height: 120, paddingLeft: 84, paddingTop: 40, flexDirection: 'row', alignItems: 'center', gap: 16 }}&gt;&#10;        &lt;Box style={{ width: 5, height: 36, background: '#0B3D91' }} /&gt;&#10;        &lt;Text style={{ fontSize: 36, fontWeight: 'bold', color: '#0B1C33' }}&gt;人眼抽检撞上的三堵墙&lt;/Text&gt;&#10;        &lt;Text style={{ fontSize: 16, color: '#8B9AAB', marginLeft: 12, marginTop: 8 }}&gt;行业普遍区间 · 非单厂实测&lt;/Text&gt;&#10;    &lt;/Box&gt;&#10;&#10;    {/* B 区：左图右洞察 */}&#10;    &lt;Box style={{ position: 'absolute', top: 130, left: 84, width: 1112, height: 510, flexDirection: 'row', gap: 36 }}&gt;&#10;&#10;        {/* 左：图表 */}&#10;        &lt;Box style={{ width: 620, height: 510, flexDirection: 'column' }}&gt;&#10;            &lt;Box style={{ width: '100%', height: 400 }}&gt;&#10;                &lt;Chart&#10;                    style={{ width: '100%', height: 400 }}&#10;                    chartType='barChart'&#10;                    barDirection='bar'&#10;                    grouping='clustered'&#10;                    showLegend={true}&#10;                    showDataLabels={true}&#10;                    legendColor='#6B7A8D'&#10;                    axisColor='#9AA9B8'&#10;                    dataLabelColor='#0B1C33'&#10;                    colors={['#0B3D91', '#00B4D8']}&#10;                    background='#FFFFFF'&#10;                    data={[&#10;                        ['硬约束', '人眼抽检', '智能质检'],&#10;                        ['漏检率 %', 25, 2],&#10;                        ['可承受节拍 pcs/s', 1, 5],&#10;                        ['质检人力占比 %', 12, 3],&#10;                    ]}&#10;                /&gt;&#10;            &lt;/Box&gt;&#10;            &lt;Text style={{ fontSize: 15, color: '#9AA9B8', marginTop: 10 }}&gt;&#10;                数据来源：表面质检行业公开调研区间（示意对比，非本项目实测）&#10;            &lt;/Text&gt;&#10;        &lt;/Box&gt;&#10;&#10;        {/* 右：三条洞察 */}&#10;        &lt;Box style={{ width: 456, height: 510, flexDirection: 'column', justifyContent: 'space-between' }}&gt;&#10;&#10;            &lt;Box style={{ flexDirection: 'row', gap: 18, alignItems: 'flex-start' }}&gt;&#10;                &lt;Text style={{ fontSize: 44, fontWeight: 'bold', color: '#0B3D91', lineHeight: 1, width: 78 }}&gt;01&lt;/Text&gt;&#10;                &lt;Box style={{ flexDirection: 'column', flex: 1 }}&gt;&#10;                    &lt;Text style={{ fontSize: 21, fontWeight: 'bold', color: '#0B1C33' }}&gt;漏检率 20–30%&lt;/Text&gt;&#10;                    &lt;Text style={{ fontSize: 16.5, color: '#5C6E82', lineHeight: 1.6, marginTop: 7 }}&gt;&#10;                        人工抽检不只是&quot;慢&quot;，而是 NG 件按比例流入下游，返工与客诉成本远高于检测本身。&#10;                    &lt;/Text&gt;&#10;                &lt;/Box&gt;&#10;            &lt;/Box&gt;&#10;&#10;            &lt;Box style={{ height: 1, background: '#E6ECF3' }} /&gt;&#10;&#10;            &lt;Box style={{ flexDirection: 'row', gap: 18, alignItems: 'flex-start' }}&gt;&#10;                &lt;Text style={{ fontSize: 44, fontWeight: 'bold', color: '#0B3D91', lineHeight: 1, width: 78 }}&gt;02&lt;/Text&gt;&#10;                &lt;Box style={{ flexDirection: 'column', flex: 1 }}&gt;&#10;                    &lt;Text style={{ fontSize: 21, fontWeight: 'bold', color: '#0B1C33' }}&gt;节拍 ≥ 5 pcs/s&lt;/Text&gt;&#10;                    &lt;Text style={{ fontSize: 16.5, color: '#5C6E82', lineHeight: 1.6, marginTop: 7 }}&gt;&#10;                        高速产线一秒过 5 件以上，人眼物理上跟不上 —— 只能抽检，必须机器全检才能不漏。&#10;                    &lt;/Text&gt;&#10;                &lt;/Box&gt;&#10;            &lt;/Box&gt;&#10;&#10;            &lt;Box style={{ height: 1, background: '#E6ECF3' }} /&gt;&#10;&#10;            &lt;Box style={{ flexDirection: 'row', gap: 18, alignItems: 'flex-start' }}&gt;&#10;                &lt;Text style={{ fontSize: 44, fontWeight: 'bold', color: '#0B3D91', lineHeight: 1, width: 78 }}&gt;03&lt;/Text&gt;&#10;                &lt;Box style={{ flexDirection: 'column', flex: 1 }}&gt;&#10;                    &lt;Text style={{ fontSize: 21, fontWeight: 'bold', color: '#0B1C33' }}&gt;质检人力占 10–15%&lt;/Text&gt;&#10;                    &lt;Text style={{ fontSize: 16.5, color: '#5C6E82', lineHeight: 1.6, marginTop: 7 }}&gt;&#10;                        招工难 + 经验依赖，判断标准随人波动 —— 标准化必须交给系统，而不是老师傅的肉眼。&#10;                    &lt;/Text&gt;&#10;                &lt;/Box&gt;&#10;            &lt;/Box&gt;&#10;&#10;        &lt;/Box&gt;&#10;    &lt;/Box&gt;&#10;&#10;    {/* C 区 页脚 */}&#10;    &lt;Box style={{ position: 'absolute', left: 84, bottom: 22, width: 1112, flexDirection: 'row', justifyContent: 'space-between' }}&gt;&#10;        &lt;Text style={{ fontSize: 14, color: '#9AA9B8' }}&gt;工业表面缺陷检测系统 · 应用场景与落地地图&lt;/Text&gt;&#10;        &lt;Text style={{ fontSize: 14, color: '#9AA9B8' }}&gt;04 / 12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" name=""/>
          <p:cNvSpPr/>
          <p:nvPr/>
        </p:nvSpPr>
        <p:spPr>
          <a:xfrm rot="0" flipH="0" flipV="0">
            <a:off x="800100" y="590550"/>
            <a:ext cx="47625" cy="342900"/>
          </a:xfrm>
          <a:prstGeom prst="rect">
            <a:avLst/>
          </a:prstGeom>
          <a:solidFill>
            <a:srgbClr val="0B3D91"/>
          </a:solidFill>
          <a:ln/>
        </p:spPr>
        <p:txBody>
          <a:bodyPr/>
          <a:p/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1000125" y="552450"/>
            <a:ext cx="34290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0B1C33"/>
                </a:solidFill>
                <a:latin typeface="Microsoft YaHei"/>
                <a:ea typeface="Microsoft YaHei"/>
              </a:rPr>
              <a:t>人眼抽检撞上的三堵墙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4695825" y="704850"/>
            <a:ext cx="1809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B9AAB"/>
                </a:solidFill>
                <a:latin typeface="Microsoft YaHei"/>
                <a:ea typeface="Microsoft YaHei"/>
              </a:rPr>
              <a:t>行业普遍区间</a:t>
            </a:r>
            <a:r>
              <a:rPr lang="en-US" sz="1200">
                <a:solidFill>
                  <a:srgbClr val="8B9AA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8B9AAB"/>
                </a:solidFill>
                <a:latin typeface="Microsoft YaHei"/>
                <a:ea typeface="Microsoft YaHei"/>
              </a:rPr>
              <a:t>非单厂实测</a:t>
            </a:r>
            <a:endParaRPr/>
          </a:p>
        </p:txBody>
      </p:sp>
      <p:graphicFrame>
        <p:nvGraphicFramePr>
          <p:cNvPr id="60" name="60"/>
          <p:cNvGraphicFramePr/>
          <p:nvPr/>
        </p:nvGraphicFramePr>
        <p:xfrm rot="0" flipH="0" flipV="0">
          <a:off x="800100" y="1238250"/>
          <a:ext cx="5905500" cy="3810000"/>
        </p:xfrm>
        <a:graphic>
          <a:graphicData uri="http://schemas.openxmlformats.org/drawingml/2006/chart">
            <c:chart r:id="rId0"/>
          </a:graphicData>
        </a:graphic>
      </p:graphicFrame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800100" y="5143500"/>
            <a:ext cx="5905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9AA9B8"/>
                </a:solidFill>
                <a:latin typeface="Microsoft YaHei"/>
                <a:ea typeface="Microsoft YaHei"/>
              </a:rPr>
              <a:t>数据来源：表面质检行业公开调研区间（示意对比，非本项目实测）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7048500" y="1238250"/>
            <a:ext cx="74295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0B3D91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7962900" y="1238250"/>
            <a:ext cx="34290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B1C33"/>
                </a:solidFill>
                <a:latin typeface="Microsoft YaHei"/>
                <a:ea typeface="Microsoft YaHei"/>
              </a:rPr>
              <a:t>漏检率</a:t>
            </a:r>
            <a:r>
              <a:rPr lang="en-US" sz="1575" b="1">
                <a:solidFill>
                  <a:srgbClr val="0B1C33"/>
                </a:solidFill>
                <a:latin typeface="Microsoft YaHei"/>
                <a:ea typeface="Microsoft YaHei"/>
              </a:rPr>
              <a:t xml:space="preserve"> 20–30%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7962900" y="1552575"/>
            <a:ext cx="342900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38">
                <a:solidFill>
                  <a:srgbClr val="5C6E82"/>
                </a:solidFill>
                <a:latin typeface="Microsoft YaHei"/>
                <a:ea typeface="Microsoft YaHei"/>
              </a:rPr>
              <a:t>人工抽检不只是</a:t>
            </a:r>
            <a:r>
              <a:rPr lang="en-US" sz="1238">
                <a:solidFill>
                  <a:srgbClr val="5C6E82"/>
                </a:solidFill>
                <a:latin typeface="Microsoft YaHei"/>
                <a:ea typeface="Microsoft YaHei"/>
              </a:rPr>
              <a:t>"</a:t>
            </a:r>
            <a:r>
              <a:rPr lang="zh-CN" sz="1238">
                <a:solidFill>
                  <a:srgbClr val="5C6E82"/>
                </a:solidFill>
                <a:latin typeface="Microsoft YaHei"/>
                <a:ea typeface="Microsoft YaHei"/>
              </a:rPr>
              <a:t>慢</a:t>
            </a:r>
            <a:r>
              <a:rPr lang="en-US" sz="1238">
                <a:solidFill>
                  <a:srgbClr val="5C6E82"/>
                </a:solidFill>
                <a:latin typeface="Microsoft YaHei"/>
                <a:ea typeface="Microsoft YaHei"/>
              </a:rPr>
              <a:t>"</a:t>
            </a:r>
            <a:r>
              <a:rPr lang="zh-CN" sz="1238">
                <a:solidFill>
                  <a:srgbClr val="5C6E82"/>
                </a:solidFill>
                <a:latin typeface="Microsoft YaHei"/>
                <a:ea typeface="Microsoft YaHei"/>
              </a:rPr>
              <a:t>，而是</a:t>
            </a:r>
            <a:r>
              <a:rPr lang="en-US" sz="1238">
                <a:solidFill>
                  <a:srgbClr val="5C6E82"/>
                </a:solidFill>
                <a:latin typeface="Microsoft YaHei"/>
                <a:ea typeface="Microsoft YaHei"/>
              </a:rPr>
              <a:t xml:space="preserve"> NG </a:t>
            </a:r>
            <a:r>
              <a:rPr lang="zh-CN" sz="1238">
                <a:solidFill>
                  <a:srgbClr val="5C6E82"/>
                </a:solidFill>
                <a:latin typeface="Microsoft YaHei"/>
                <a:ea typeface="Microsoft YaHei"/>
              </a:rPr>
              <a:t>件按比例流入下游，返工与客诉成本远高于检测本身。</a:t>
            </a:r>
            <a:endParaRPr/>
          </a:p>
        </p:txBody>
      </p:sp>
      <p:sp>
        <p:nvSpPr>
          <p:cNvPr id="65" name=""/>
          <p:cNvSpPr/>
          <p:nvPr/>
        </p:nvSpPr>
        <p:spPr>
          <a:xfrm rot="0" flipH="0" flipV="0">
            <a:off x="7048500" y="2676525"/>
            <a:ext cx="4343400" cy="9525"/>
          </a:xfrm>
          <a:prstGeom prst="rect">
            <a:avLst/>
          </a:prstGeom>
          <a:solidFill>
            <a:srgbClr val="E6ECF3"/>
          </a:solidFill>
          <a:ln/>
        </p:spPr>
        <p:txBody>
          <a:bodyPr/>
          <a:p/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7048500" y="3209925"/>
            <a:ext cx="74295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0B3D91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7962900" y="3209925"/>
            <a:ext cx="34290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B1C33"/>
                </a:solidFill>
                <a:latin typeface="Microsoft YaHei"/>
                <a:ea typeface="Microsoft YaHei"/>
              </a:rPr>
              <a:t>节拍</a:t>
            </a:r>
            <a:r>
              <a:rPr lang="en-US" sz="1575" b="1">
                <a:solidFill>
                  <a:srgbClr val="0B1C33"/>
                </a:solidFill>
                <a:latin typeface="Microsoft YaHei"/>
                <a:ea typeface="Microsoft YaHei"/>
              </a:rPr>
              <a:t xml:space="preserve"> ≥ 5 pcs/s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7962900" y="3524250"/>
            <a:ext cx="342900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38">
                <a:solidFill>
                  <a:srgbClr val="5C6E82"/>
                </a:solidFill>
                <a:latin typeface="Microsoft YaHei"/>
                <a:ea typeface="Microsoft YaHei"/>
              </a:rPr>
              <a:t>高速产线一秒过</a:t>
            </a:r>
            <a:r>
              <a:rPr lang="en-US" sz="1238">
                <a:solidFill>
                  <a:srgbClr val="5C6E82"/>
                </a:solidFill>
                <a:latin typeface="Microsoft YaHei"/>
                <a:ea typeface="Microsoft YaHei"/>
              </a:rPr>
              <a:t xml:space="preserve"> 5 </a:t>
            </a:r>
            <a:r>
              <a:rPr lang="zh-CN" sz="1238">
                <a:solidFill>
                  <a:srgbClr val="5C6E82"/>
                </a:solidFill>
                <a:latin typeface="Microsoft YaHei"/>
                <a:ea typeface="Microsoft YaHei"/>
              </a:rPr>
              <a:t>件以上，人眼物理上跟不上</a:t>
            </a:r>
            <a:r>
              <a:rPr lang="en-US" sz="1238">
                <a:solidFill>
                  <a:srgbClr val="5C6E82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238">
                <a:solidFill>
                  <a:srgbClr val="5C6E82"/>
                </a:solidFill>
                <a:latin typeface="Microsoft YaHei"/>
                <a:ea typeface="Microsoft YaHei"/>
              </a:rPr>
              <a:t>只能抽检，必须机器全检才能不漏。</a:t>
            </a:r>
            <a:endParaRPr/>
          </a:p>
        </p:txBody>
      </p:sp>
      <p:sp>
        <p:nvSpPr>
          <p:cNvPr id="69" name=""/>
          <p:cNvSpPr/>
          <p:nvPr/>
        </p:nvSpPr>
        <p:spPr>
          <a:xfrm rot="0" flipH="0" flipV="0">
            <a:off x="7048500" y="4648200"/>
            <a:ext cx="4343400" cy="9525"/>
          </a:xfrm>
          <a:prstGeom prst="rect">
            <a:avLst/>
          </a:prstGeom>
          <a:solidFill>
            <a:srgbClr val="E6ECF3"/>
          </a:solidFill>
          <a:ln/>
        </p:spPr>
        <p:txBody>
          <a:bodyPr/>
          <a:p/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7048500" y="5172075"/>
            <a:ext cx="74295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0B3D91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7962900" y="5172075"/>
            <a:ext cx="34290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B1C33"/>
                </a:solidFill>
                <a:latin typeface="Microsoft YaHei"/>
                <a:ea typeface="Microsoft YaHei"/>
              </a:rPr>
              <a:t>质检人力占</a:t>
            </a:r>
            <a:r>
              <a:rPr lang="en-US" sz="1575" b="1">
                <a:solidFill>
                  <a:srgbClr val="0B1C33"/>
                </a:solidFill>
                <a:latin typeface="Microsoft YaHei"/>
                <a:ea typeface="Microsoft YaHei"/>
              </a:rPr>
              <a:t xml:space="preserve"> 10–15%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7962900" y="5486400"/>
            <a:ext cx="342900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38">
                <a:solidFill>
                  <a:srgbClr val="5C6E82"/>
                </a:solidFill>
                <a:latin typeface="Microsoft YaHei"/>
                <a:ea typeface="Microsoft YaHei"/>
              </a:rPr>
              <a:t>招工难</a:t>
            </a:r>
            <a:r>
              <a:rPr lang="en-US" sz="1238">
                <a:solidFill>
                  <a:srgbClr val="5C6E82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38">
                <a:solidFill>
                  <a:srgbClr val="5C6E82"/>
                </a:solidFill>
                <a:latin typeface="Microsoft YaHei"/>
                <a:ea typeface="Microsoft YaHei"/>
              </a:rPr>
              <a:t>经验依赖，判断标准随人波动</a:t>
            </a:r>
            <a:r>
              <a:rPr lang="en-US" sz="1238">
                <a:solidFill>
                  <a:srgbClr val="5C6E82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238">
                <a:solidFill>
                  <a:srgbClr val="5C6E82"/>
                </a:solidFill>
                <a:latin typeface="Microsoft YaHei"/>
                <a:ea typeface="Microsoft YaHei"/>
              </a:rPr>
              <a:t>标准化必须交给系统，而不是老师傅的肉眼。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800100" y="6486525"/>
            <a:ext cx="2647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AA9B8"/>
                </a:solidFill>
                <a:latin typeface="Microsoft YaHei"/>
                <a:ea typeface="Microsoft YaHei"/>
              </a:rPr>
              <a:t>工业表面缺陷检测系统</a:t>
            </a:r>
            <a:r>
              <a:rPr lang="en-US" sz="1050">
                <a:solidFill>
                  <a:srgbClr val="9AA9B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9AA9B8"/>
                </a:solidFill>
                <a:latin typeface="Microsoft YaHei"/>
                <a:ea typeface="Microsoft YaHei"/>
              </a:rPr>
              <a:t>应用场景与落地地图</a:t>
            </a:r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10934700" y="64865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AA9B8"/>
                </a:solidFill>
                <a:latin typeface="Microsoft YaHei"/>
                <a:ea typeface="Microsoft YaHei"/>
              </a:rPr>
              <a:t>04 / 12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75" name="" descr="&lt;Slide style={{ width: 1280, height: 720, position: 'relative', background: '#FFFFFF', overflow: 'hidden' }}&gt;&#10;&#10;    {/* A 区 标题块 */}&#10;    &lt;Box style={{ position: 'absolute', top: 0, left: 0, width: 1280, height: 116, paddingLeft: 84, paddingTop: 36, flexDirection: 'row', alignItems: 'center', gap: 16 }}&gt;&#10;        &lt;Box style={{ width: 5, height: 36, background: '#FF7A18' }} /&gt;&#10;        &lt;Text style={{ fontSize: 36, fontWeight: 'bold', color: '#0B1C33' }}&gt;一张地图看清六个应用领域&lt;/Text&gt;&#10;    &lt;/Box&gt;&#10;&#10;    {/* B 区：顶部锚点条 + 下方六宫格 */}&#10;    &lt;Box style={{ position: 'absolute', top: 122, left: 84, width: 1112, height: 518, flexDirection: 'column', gap: 18 }}&gt;&#10;&#10;        {/* 锚点条 */}&#10;        &lt;Box style={{ width: '100%', height: 96, background: 'linear-gradient(100deg, #0B3D91 0%, #0A3070 62%, #0E4C9E 100%)', borderRadius: 10, flexDirection: 'row', alignItems: 'center', paddingLeft: 34, paddingRight: 34, justifyContent: 'space-between' }}&gt;&#10;            &lt;Box style={{ flexDirection: 'row', alignItems: 'flex-end', gap: 16 }}&gt;&#10;                &lt;Text style={{ fontSize: 62, fontWeight: 'bold', color: '#FF7A18', lineHeight: 0.9 }}&gt;6&lt;/Text&gt;&#10;                &lt;Text style={{ fontSize: 22, fontWeight: 'bold', color: '#FFFFFF', paddingBottom: 6 }}&gt;大应用领域&lt;/Text&gt;&#10;            &lt;/Box&gt;&#10;            &lt;Box style={{ width: 1, height: 52, background: 'rgba(255,255,255,0.25)' }} /&gt;&#10;            &lt;Box style={{ flexDirection: 'row', alignItems: 'flex-end', gap: 16 }}&gt;&#10;                &lt;Text style={{ fontSize: 62, fontWeight: 'bold', color: '#00B4D8', lineHeight: 0.9 }}&gt;39&lt;/Text&gt;&#10;                &lt;Text style={{ fontSize: 22, fontWeight: 'bold', color: '#FFFFFF', paddingBottom: 6 }}&gt;类缺陷已建模&lt;/Text&gt;&#10;            &lt;/Box&gt;&#10;            &lt;Box style={{ width: 1, height: 52, background: 'rgba(255,255,255,0.25)' }} /&gt;&#10;            &lt;Box style={{ flexDirection: 'column', alignItems: 'flex-end' }}&gt;&#10;                &lt;Text style={{ fontSize: 18, color: '#BFD6EC', lineHeight: 1.5 }}&gt;共同点：&lt;span style={{ color: '#FFFFFF', fontWeight: 'bold' }}&gt;表面质量决定售价&lt;/span&gt;&lt;/Text&gt;&#10;                &lt;Text style={{ fontSize: 15, color: '#8FAED0', marginTop: 4 }}&gt;39 类模型为钢铁/金属实测成果，其余领域为迁移目标&lt;/Text&gt;&#10;            &lt;/Box&gt;&#10;        &lt;/Box&gt;&#10;&#10;        {/* 六宫格 */}&#10;        &lt;Box style={{ width: '100%', height: 404, flexDirection: 'row', gap: 16 }}&gt;&#10;&#10;            {/* 列1 */}&#10;            &lt;Box style={{ flex: 1, flexDirection: 'column', gap: 16 }}&gt;&#10;                &lt;Box style={{ flex: 1, background: '#F4F7FB', borderRadius: 10, border: '1px solid #E1E9F2', padding: 18, flexDirection: 'column', justifyContent: 'space-between' }}&gt;&#10;                    &lt;Box style={{ flexDirection: 'row', justifyContent: 'space-between', alignItems: 'center' }}&gt;&#10;                        &lt;FAIcon name='industry' style={{ fill: '#0B3D91', width: 34, height: 34 }} /&gt;&#10;                        &lt;Text style={{ fontSize: 13, color: '#0B3D91', fontWeight: 'bold', background: '#DDE9F9', padding: '3px 9px', borderRadius: 10 }}&gt;核心实测&lt;/Text&gt;&#10;                    &lt;/Box&gt;&#10;                    &lt;Box style={{ flexDirection: 'column' }}&gt;&#10;                        &lt;Text style={{ fontSize: 21, fontWeight: 'bold', color: '#0B1C33' }}&gt;钢铁冶金&lt;/Text&gt;&#10;                        &lt;Text style={{ fontSize: 14.5, color: '#5C6E82', lineHeight: 1.5, marginTop: 5 }}&gt;热轧带钢、冷轧板、型材表面 —— 划痕/夹杂/氧化皮/折痕全形态覆盖。&lt;/Text&gt;&#10;                    &lt;/Box&gt;&#10;                &lt;/Box&gt;&#10;                &lt;Box style={{ flex: 1, background: '#F4F7FB', borderRadius: 10, border: '1px solid #E1E9F2', padding: 18, flexDirection: 'column', justifyContent: 'space-between' }}&gt;&#10;                    &lt;Box style={{ flexDirection: 'row', justifyContent: 'space-between', alignItems: 'center' }}&gt;&#10;                        &lt;FAIcon name='microchip' style={{ fill: '#0B3D91', width: 34, height: 34 }} /&gt;&#10;                        &lt;Text style={{ fontSize: 13, color: '#00A0C4', fontWeight: 'bold', background: '#DCF3F9', padding: '3px 9px', borderRadius: 10 }}&gt;迁移&lt;/Text&gt;&#10;                    &lt;/Box&gt;&#10;                    &lt;Box style={{ flexDirection: 'column' }}&gt;&#10;                        &lt;Text style={{ fontSize: 21, fontWeight: 'bold', color: '#0B1C33' }}&gt;3C 精密&lt;/Text&gt;&#10;                        &lt;Text style={{ fontSize: 14.5, color: '#5C6E82', lineHeight: 1.5, marginTop: 5 }}&gt;手机外壳、PCB 板、连接器 —— 微划痕与异物检测，节拍极高。&lt;/Text&gt;&#10;                    &lt;/Box&gt;&#10;                &lt;/Box&gt;&#10;            &lt;/Box&gt;&#10;&#10;            {/* 列2 */}&#10;            &lt;Box style={{ flex: 1, flexDirection: 'column', gap: 16 }}&gt;&#10;                &lt;Box style={{ flex: 1, background: '#F4F7FB', borderRadius: 10, border: '1px solid #E1E9F2', padding: 18, flexDirection: 'column', justifyContent: 'space-between' }}&gt;&#10;                    &lt;Box style={{ flexDirection: 'row', justifyContent: 'space-between', alignItems: 'center' }}&gt;&#10;                        &lt;FAIcon name='scroll' style={{ fill: '#0B3D91', width: 34, height: 34 }} /&gt;&#10;                        &lt;Text style={{ fontSize: 13, color: '#00A0C4', fontWeight: 'bold', background: '#DCF3F9', padding: '3px 9px', borderRadius: 10 }}&gt;迁移&lt;/Text&gt;&#10;                    &lt;/Box&gt;&#10;                    &lt;Box style={{ flexDirection: 'column' }}&gt;&#10;                        &lt;Text style={{ fontSize: 21, fontWeight: 'bold', color: '#0B1C33' }}&gt;纺织印染&lt;/Text&gt;&#10;                        &lt;Text style={{ fontSize: 14.5, color: '#5C6E82', lineHeight: 1.5, marginTop: 5 }}&gt;布匹连续卷材上的破洞、断经、色差、油污点，需高速连续检测。&lt;/Text&gt;&#10;                    &lt;/Box&gt;&#10;                &lt;/Box&gt;&#10;                &lt;Box style={{ flex: 1, background: '#F4F7FB', borderRadius: 10, border: '1px solid #E1E9F2', padding: 18, flexDirection: 'column', justifyContent: 'space-between' }}&gt;&#10;                    &lt;Box style={{ flexDirection: 'row', justifyContent: 'space-between', alignItems: 'center' }}&gt;&#10;                        &lt;FAIcon name='battery-full' style={{ fill: '#0B3D91', width: 34, height: 34 }} /&gt;&#10;                        &lt;Text style={{ fontSize: 13, color: '#00A0C4', fontWeight: 'bold', background: '#DCF3F9', padding: '3px 9px', borderRadius: 10 }}&gt;迁移&lt;/Text&gt;&#10;                    &lt;/Box&gt;&#10;                    &lt;Box style={{ flexDirection: 'column' }}&gt;&#10;                        &lt;Text style={{ fontSize: 21, fontWeight: 'bold', color: '#0B1C33' }}&gt;新能源电池&lt;/Text&gt;&#10;                        &lt;Text style={{ fontSize: 14.5, color: '#5C6E82', lineHeight: 1.5, marginTop: 5 }}&gt;极片涂布划痕、铝壳焊点、隔膜瑕疵 —— 安全等级最高的质检场景。&lt;/Text&gt;&#10;                    &lt;/Box&gt;&#10;                &lt;/Box&gt;&#10;            &lt;/Box&gt;&#10;&#10;            {/* 列3 */}&#10;            &lt;Box style={{ flex: 1, flexDirection: 'column', gap: 16 }}&gt;&#10;                &lt;Box style={{ flex: 1, background: '#F4F7FB', borderRadius: 10, border: '1px solid #E1E9F2', padding: 18, flexDirection: 'column', justifyContent: 'space-between' }}&gt;&#10;                    &lt;Box style={{ flexDirection: 'row', justifyContent: 'space-between', alignItems: 'center' }}&gt;&#10;                        &lt;FAIcon name='utensils' style={{ fill: '#0B3D91', width: 34, height: 34 }} /&gt;&#10;                        &lt;Text style={{ fontSize: 13, color: '#00A0C4', fontWeight: 'bold', background: '#DCF3F9', padding: '3px 9px', borderRadius: 10 }}&gt;迁移&lt;/Text&gt;&#10;                    &lt;/Box&gt;&#10;                    &lt;Box style={{ flexDirection: 'column' }}&gt;&#10;                        &lt;Text style={{ fontSize: 21, fontWeight: 'bold', color: '#0B1C33' }}&gt;食品包装&lt;/Text&gt;&#10;                        &lt;Text style={{ fontSize: 14.5, color: '#5C6E82', lineHeight: 1.5, marginTop: 5 }}&gt;封口完整性、印刷错漏、异物混入 —— 视觉 + 合规双重要求。&lt;/Text&gt;&#10;                    &lt;/Box&gt;&#10;                &lt;/Box&gt;&#10;                &lt;Box style={{ flex: 1, background: '#F4F7FB', borderRadius: 10, border: '1px solid #E1E9F2', padding: 18, flexDirection: 'column', justifyContent: 'space-between' }}&gt;&#10;                    &lt;Box style={{ flexDirection: 'row', justifyContent: 'space-between', alignItems: 'center' }}&gt;&#10;                        &lt;FAIcon name='square' style={{ fill: '#0B3D91', width: 34, height: 34 }} /&gt;&#10;                        &lt;Text style={{ fontSize: 13, color: '#00A0C4', fontWeight: 'bold', background: '#DCF3F9', padding: '3px 9px', borderRadius: 10 }}&gt;迁移&lt;/Text&gt;&#10;                    &lt;/Box&gt;&#10;                    &lt;Box style={{ flexDirection: 'column' }}&gt;&#10;                        &lt;Text style={{ fontSize: 21, fontWeight: 'bold', color: '#0B1C33' }}&gt;玻璃建材&lt;/Text&gt;&#10;                        &lt;Text style={{ fontSize: 14.5, color: '#5C6E82', lineHeight: 1.5, marginTop: 5 }}&gt;浮法玻璃气泡、结石、划伤，陶瓷砖面裂纹 —— 大面积高反光表面。&lt;/Text&gt;&#10;                    &lt;/Box&gt;&#10;                &lt;/Box&gt;&#10;            &lt;/Box&gt;&#10;&#10;        &lt;/Box&gt;&#10;    &lt;/Box&gt;&#10;&#10;    {/* C 区 页脚 */}&#10;    &lt;Box style={{ position: 'absolute', left: 84, bottom: 22, width: 1112, flexDirection: 'row', justifyContent: 'space-between' }}&gt;&#10;        &lt;Text style={{ fontSize: 14, color: '#9AA9B8' }}&gt;工业表面缺陷检测系统 · 应用场景与落地地图&lt;/Text&gt;&#10;        &lt;Text style={{ fontSize: 14, color: '#9AA9B8' }}&gt;05 / 12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7" name=""/>
          <p:cNvSpPr/>
          <p:nvPr/>
        </p:nvSpPr>
        <p:spPr>
          <a:xfrm rot="0" flipH="0" flipV="0">
            <a:off x="800100" y="552450"/>
            <a:ext cx="47625" cy="342900"/>
          </a:xfrm>
          <a:prstGeom prst="rect">
            <a:avLst/>
          </a:prstGeom>
          <a:solidFill>
            <a:srgbClr val="FF7A18"/>
          </a:solidFill>
          <a:ln/>
        </p:spPr>
        <p:txBody>
          <a:bodyPr/>
          <a:p/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1000125" y="514350"/>
            <a:ext cx="41148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0B1C33"/>
                </a:solidFill>
                <a:latin typeface="Microsoft YaHei"/>
                <a:ea typeface="Microsoft YaHei"/>
              </a:rPr>
              <a:t>一张地图看清六个应用领域</a:t>
            </a:r>
            <a:endParaRPr/>
          </a:p>
        </p:txBody>
      </p:sp>
      <p:sp>
        <p:nvSpPr>
          <p:cNvPr id="79" name=""/>
          <p:cNvSpPr/>
          <p:nvPr/>
        </p:nvSpPr>
        <p:spPr>
          <a:xfrm rot="0" flipH="0" flipV="0">
            <a:off x="800100" y="1162050"/>
            <a:ext cx="10591800" cy="914400"/>
          </a:xfrm>
          <a:prstGeom prst="roundRect">
            <a:avLst>
              <a:gd name="adj" fmla="val 10417"/>
            </a:avLst>
          </a:prstGeom>
          <a:gradFill>
            <a:gsLst>
              <a:gs pos="0">
                <a:srgbClr val="0B3D91"/>
              </a:gs>
              <a:gs pos="62000">
                <a:srgbClr val="0A3070"/>
              </a:gs>
              <a:gs pos="100000">
                <a:srgbClr val="0E4C9E"/>
              </a:gs>
            </a:gsLst>
            <a:lin ang="600000" scaled="1"/>
          </a:gradFill>
          <a:ln/>
        </p:spPr>
        <p:txBody>
          <a:bodyPr/>
          <a:p/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1123950" y="1304925"/>
            <a:ext cx="371475" cy="638175"/>
          </a:xfrm>
          <a:prstGeom prst="rect"/>
        </p:spPr>
        <p:txBody>
          <a:bodyPr wrap="none" lIns="0" tIns="0" rIns="0" bIns="0"/>
          <a:p>
            <a:pPr>
              <a:lnSpc>
                <a:spcPct val="90000"/>
              </a:lnSpc>
            </a:pPr>
            <a:r>
              <a:rPr lang="en-US" sz="4650" b="1">
                <a:solidFill>
                  <a:srgbClr val="FF7A18"/>
                </a:solidFill>
                <a:latin typeface="Microsoft YaHei"/>
                <a:ea typeface="Microsoft YaHei"/>
              </a:rPr>
              <a:t>6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1647825" y="1628775"/>
            <a:ext cx="1047750" cy="314325"/>
          </a:xfrm>
          <a:prstGeom prst="rect"/>
        </p:spPr>
        <p:txBody>
          <a:bodyPr wrap="none" lIns="0" tIns="0" rIns="0" bIns="42863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大应用领域</a:t>
            </a:r>
            <a:endParaRPr/>
          </a:p>
        </p:txBody>
      </p:sp>
      <p:sp>
        <p:nvSpPr>
          <p:cNvPr id="82" name=""/>
          <p:cNvSpPr/>
          <p:nvPr/>
        </p:nvSpPr>
        <p:spPr>
          <a:xfrm rot="0" flipH="0" flipV="0">
            <a:off x="3390900" y="1371600"/>
            <a:ext cx="9525" cy="495300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p/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4105275" y="1304925"/>
            <a:ext cx="733425" cy="638175"/>
          </a:xfrm>
          <a:prstGeom prst="rect"/>
        </p:spPr>
        <p:txBody>
          <a:bodyPr wrap="none" lIns="0" tIns="0" rIns="0" bIns="0"/>
          <a:p>
            <a:pPr>
              <a:lnSpc>
                <a:spcPct val="90000"/>
              </a:lnSpc>
            </a:pPr>
            <a:r>
              <a:rPr lang="en-US" sz="4650" b="1">
                <a:solidFill>
                  <a:srgbClr val="00B4D8"/>
                </a:solidFill>
                <a:latin typeface="Microsoft YaHei"/>
                <a:ea typeface="Microsoft YaHei"/>
              </a:rPr>
              <a:t>39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4991100" y="1628775"/>
            <a:ext cx="1257300" cy="314325"/>
          </a:xfrm>
          <a:prstGeom prst="rect"/>
        </p:spPr>
        <p:txBody>
          <a:bodyPr wrap="none" lIns="0" tIns="0" rIns="0" bIns="42863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类缺陷已建模</a:t>
            </a:r>
            <a:endParaRPr/>
          </a:p>
        </p:txBody>
      </p:sp>
      <p:sp>
        <p:nvSpPr>
          <p:cNvPr id="85" name=""/>
          <p:cNvSpPr/>
          <p:nvPr/>
        </p:nvSpPr>
        <p:spPr>
          <a:xfrm rot="0" flipH="0" flipV="0">
            <a:off x="6943725" y="1371600"/>
            <a:ext cx="9525" cy="495300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p/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9010650" y="1362075"/>
            <a:ext cx="20574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BFD6EC"/>
                </a:solidFill>
                <a:latin typeface="Microsoft YaHei"/>
                <a:ea typeface="Microsoft YaHei"/>
              </a:rPr>
              <a:t>共同点：</a:t>
            </a: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表面质量决定售价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7648575" y="1714500"/>
            <a:ext cx="34194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FAED0"/>
                </a:solidFill>
                <a:latin typeface="Microsoft YaHei"/>
                <a:ea typeface="Microsoft YaHei"/>
              </a:rPr>
              <a:t xml:space="preserve">39 </a:t>
            </a:r>
            <a:r>
              <a:rPr lang="zh-CN" sz="1125">
                <a:solidFill>
                  <a:srgbClr val="8FAED0"/>
                </a:solidFill>
                <a:latin typeface="Microsoft YaHei"/>
                <a:ea typeface="Microsoft YaHei"/>
              </a:rPr>
              <a:t>类模型为钢铁</a:t>
            </a:r>
            <a:r>
              <a:rPr lang="en-US" sz="1125">
                <a:solidFill>
                  <a:srgbClr val="8FAED0"/>
                </a:solidFill>
                <a:latin typeface="Microsoft YaHei"/>
                <a:ea typeface="Microsoft YaHei"/>
              </a:rPr>
              <a:t>/</a:t>
            </a:r>
            <a:r>
              <a:rPr lang="zh-CN" sz="1125">
                <a:solidFill>
                  <a:srgbClr val="8FAED0"/>
                </a:solidFill>
                <a:latin typeface="Microsoft YaHei"/>
                <a:ea typeface="Microsoft YaHei"/>
              </a:rPr>
              <a:t>金属实测成果，其余领域为迁移目标</a:t>
            </a:r>
            <a:endParaRPr/>
          </a:p>
        </p:txBody>
      </p:sp>
      <p:sp>
        <p:nvSpPr>
          <p:cNvPr id="88" name=""/>
          <p:cNvSpPr/>
          <p:nvPr/>
        </p:nvSpPr>
        <p:spPr>
          <a:xfrm rot="0" flipH="0" flipV="0">
            <a:off x="800100" y="2247900"/>
            <a:ext cx="3429000" cy="1847850"/>
          </a:xfrm>
          <a:prstGeom prst="roundRect">
            <a:avLst>
              <a:gd name="adj" fmla="val 5155"/>
            </a:avLst>
          </a:prstGeom>
          <a:solidFill>
            <a:srgbClr val="F4F7FB"/>
          </a:solidFill>
          <a:ln w="12700">
            <a:solidFill>
              <a:srgbClr val="E1E9F2"/>
            </a:solidFill>
            <a:prstDash val="solid"/>
          </a:ln>
        </p:spPr>
        <p:txBody>
          <a:bodyPr/>
          <a:p/>
        </p:txBody>
      </p:sp>
      <p:pic>
        <p:nvPicPr>
          <p:cNvPr id="8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71550" y="2419350"/>
            <a:ext cx="323850" cy="323850"/>
          </a:xfrm>
          <a:prstGeom prst="rect">
            <a:avLst/>
          </a:prstGeom>
          <a:ln/>
        </p:spPr>
      </p:pic>
      <p:sp>
        <p:nvSpPr>
          <p:cNvPr id="90" name=""/>
          <p:cNvSpPr/>
          <p:nvPr/>
        </p:nvSpPr>
        <p:spPr>
          <a:xfrm rot="0" flipH="0" flipV="0">
            <a:off x="3390900" y="2476500"/>
            <a:ext cx="666750" cy="209550"/>
          </a:xfrm>
          <a:prstGeom prst="roundRect">
            <a:avLst>
              <a:gd name="adj" fmla="val 45455"/>
            </a:avLst>
          </a:prstGeom>
          <a:solidFill>
            <a:srgbClr val="DDE9F9"/>
          </a:solidFill>
          <a:ln/>
        </p:spPr>
        <p:txBody>
          <a:bodyPr/>
          <a:p/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3390900" y="2476500"/>
            <a:ext cx="666750" cy="209550"/>
          </a:xfrm>
          <a:prstGeom prst="rect"/>
        </p:spPr>
        <p:txBody>
          <a:bodyPr wrap="none" lIns="64294" tIns="21431" rIns="64294" bIns="21431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B3D91"/>
                </a:solidFill>
                <a:highlight>
                  <a:srgbClr val="DDE9F9"/>
                </a:highlight>
                <a:latin typeface="Microsoft YaHei"/>
                <a:ea typeface="Microsoft YaHei"/>
              </a:rPr>
              <a:t>核心实测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971550" y="3124200"/>
            <a:ext cx="30861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B1C33"/>
                </a:solidFill>
                <a:latin typeface="Microsoft YaHei"/>
                <a:ea typeface="Microsoft YaHei"/>
              </a:rPr>
              <a:t>钢铁冶金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971550" y="3419475"/>
            <a:ext cx="30861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88">
                <a:solidFill>
                  <a:srgbClr val="5C6E82"/>
                </a:solidFill>
                <a:latin typeface="Microsoft YaHei"/>
                <a:ea typeface="Microsoft YaHei"/>
              </a:rPr>
              <a:t>热轧带钢、冷轧板、型材表面</a:t>
            </a:r>
            <a:r>
              <a:rPr lang="en-US" sz="1088">
                <a:solidFill>
                  <a:srgbClr val="5C6E82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088">
                <a:solidFill>
                  <a:srgbClr val="5C6E82"/>
                </a:solidFill>
                <a:latin typeface="Microsoft YaHei"/>
                <a:ea typeface="Microsoft YaHei"/>
              </a:rPr>
              <a:t>划痕</a:t>
            </a:r>
            <a:r>
              <a:rPr lang="en-US" sz="1088">
                <a:solidFill>
                  <a:srgbClr val="5C6E82"/>
                </a:solidFill>
                <a:latin typeface="Microsoft YaHei"/>
                <a:ea typeface="Microsoft YaHei"/>
              </a:rPr>
              <a:t>/</a:t>
            </a:r>
            <a:r>
              <a:rPr lang="zh-CN" sz="1088">
                <a:solidFill>
                  <a:srgbClr val="5C6E82"/>
                </a:solidFill>
                <a:latin typeface="Microsoft YaHei"/>
                <a:ea typeface="Microsoft YaHei"/>
              </a:rPr>
              <a:t>夹杂</a:t>
            </a:r>
            <a:r>
              <a:rPr lang="en-US" sz="1088">
                <a:solidFill>
                  <a:srgbClr val="5C6E82"/>
                </a:solidFill>
                <a:latin typeface="Microsoft YaHei"/>
                <a:ea typeface="Microsoft YaHei"/>
              </a:rPr>
              <a:t>/</a:t>
            </a:r>
            <a:r>
              <a:rPr lang="zh-CN" sz="1088">
                <a:solidFill>
                  <a:srgbClr val="5C6E82"/>
                </a:solidFill>
                <a:latin typeface="Microsoft YaHei"/>
                <a:ea typeface="Microsoft YaHei"/>
              </a:rPr>
              <a:t>氧化皮</a:t>
            </a:r>
            <a:r>
              <a:rPr lang="en-US" sz="1088">
                <a:solidFill>
                  <a:srgbClr val="5C6E82"/>
                </a:solidFill>
                <a:latin typeface="Microsoft YaHei"/>
                <a:ea typeface="Microsoft YaHei"/>
              </a:rPr>
              <a:t>/</a:t>
            </a:r>
            <a:r>
              <a:rPr lang="zh-CN" sz="1088">
                <a:solidFill>
                  <a:srgbClr val="5C6E82"/>
                </a:solidFill>
                <a:latin typeface="Microsoft YaHei"/>
                <a:ea typeface="Microsoft YaHei"/>
              </a:rPr>
              <a:t>折痕全形态覆盖。</a:t>
            </a:r>
            <a:endParaRPr/>
          </a:p>
        </p:txBody>
      </p:sp>
      <p:sp>
        <p:nvSpPr>
          <p:cNvPr id="94" name=""/>
          <p:cNvSpPr/>
          <p:nvPr/>
        </p:nvSpPr>
        <p:spPr>
          <a:xfrm rot="0" flipH="0" flipV="0">
            <a:off x="800100" y="4248150"/>
            <a:ext cx="3429000" cy="1847850"/>
          </a:xfrm>
          <a:prstGeom prst="roundRect">
            <a:avLst>
              <a:gd name="adj" fmla="val 5155"/>
            </a:avLst>
          </a:prstGeom>
          <a:solidFill>
            <a:srgbClr val="F4F7FB"/>
          </a:solidFill>
          <a:ln w="12700">
            <a:solidFill>
              <a:srgbClr val="E1E9F2"/>
            </a:solidFill>
            <a:prstDash val="solid"/>
          </a:ln>
        </p:spPr>
        <p:txBody>
          <a:bodyPr/>
          <a:p/>
        </p:txBody>
      </p:sp>
      <p:pic>
        <p:nvPicPr>
          <p:cNvPr id="9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971550" y="4419600"/>
            <a:ext cx="323850" cy="323850"/>
          </a:xfrm>
          <a:prstGeom prst="rect">
            <a:avLst/>
          </a:prstGeom>
          <a:ln/>
        </p:spPr>
      </p:pic>
      <p:sp>
        <p:nvSpPr>
          <p:cNvPr id="96" name=""/>
          <p:cNvSpPr/>
          <p:nvPr/>
        </p:nvSpPr>
        <p:spPr>
          <a:xfrm rot="0" flipH="0" flipV="0">
            <a:off x="3638550" y="4476750"/>
            <a:ext cx="419100" cy="209550"/>
          </a:xfrm>
          <a:prstGeom prst="roundRect">
            <a:avLst>
              <a:gd name="adj" fmla="val 45455"/>
            </a:avLst>
          </a:prstGeom>
          <a:solidFill>
            <a:srgbClr val="DCF3F9"/>
          </a:solidFill>
          <a:ln/>
        </p:spPr>
        <p:txBody>
          <a:bodyPr/>
          <a:p/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3638550" y="4476750"/>
            <a:ext cx="419100" cy="209550"/>
          </a:xfrm>
          <a:prstGeom prst="rect"/>
        </p:spPr>
        <p:txBody>
          <a:bodyPr wrap="none" lIns="64294" tIns="21431" rIns="64294" bIns="21431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0A0C4"/>
                </a:solidFill>
                <a:highlight>
                  <a:srgbClr val="DCF3F9"/>
                </a:highlight>
                <a:latin typeface="Microsoft YaHei"/>
                <a:ea typeface="Microsoft YaHei"/>
              </a:rPr>
              <a:t>迁移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971550" y="5124450"/>
            <a:ext cx="30861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0B1C33"/>
                </a:solidFill>
                <a:latin typeface="Microsoft YaHei"/>
                <a:ea typeface="Microsoft YaHei"/>
              </a:rPr>
              <a:t xml:space="preserve">3C </a:t>
            </a:r>
            <a:r>
              <a:rPr lang="zh-CN" sz="1575" b="1">
                <a:solidFill>
                  <a:srgbClr val="0B1C33"/>
                </a:solidFill>
                <a:latin typeface="Microsoft YaHei"/>
                <a:ea typeface="Microsoft YaHei"/>
              </a:rPr>
              <a:t>精密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971550" y="5419725"/>
            <a:ext cx="30861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88">
                <a:solidFill>
                  <a:srgbClr val="5C6E82"/>
                </a:solidFill>
                <a:latin typeface="Microsoft YaHei"/>
                <a:ea typeface="Microsoft YaHei"/>
              </a:rPr>
              <a:t>手机外壳、</a:t>
            </a:r>
            <a:r>
              <a:rPr lang="en-US" sz="1088">
                <a:solidFill>
                  <a:srgbClr val="5C6E82"/>
                </a:solidFill>
                <a:latin typeface="Microsoft YaHei"/>
                <a:ea typeface="Microsoft YaHei"/>
              </a:rPr>
              <a:t xml:space="preserve">PCB </a:t>
            </a:r>
            <a:r>
              <a:rPr lang="zh-CN" sz="1088">
                <a:solidFill>
                  <a:srgbClr val="5C6E82"/>
                </a:solidFill>
                <a:latin typeface="Microsoft YaHei"/>
                <a:ea typeface="Microsoft YaHei"/>
              </a:rPr>
              <a:t>板、连接器</a:t>
            </a:r>
            <a:r>
              <a:rPr lang="en-US" sz="1088">
                <a:solidFill>
                  <a:srgbClr val="5C6E82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088">
                <a:solidFill>
                  <a:srgbClr val="5C6E82"/>
                </a:solidFill>
                <a:latin typeface="Microsoft YaHei"/>
                <a:ea typeface="Microsoft YaHei"/>
              </a:rPr>
              <a:t>微划痕与异物检测，节拍极高。</a:t>
            </a:r>
            <a:endParaRPr/>
          </a:p>
        </p:txBody>
      </p:sp>
      <p:sp>
        <p:nvSpPr>
          <p:cNvPr id="100" name=""/>
          <p:cNvSpPr/>
          <p:nvPr/>
        </p:nvSpPr>
        <p:spPr>
          <a:xfrm rot="0" flipH="0" flipV="0">
            <a:off x="4381500" y="2247900"/>
            <a:ext cx="3429000" cy="1847850"/>
          </a:xfrm>
          <a:prstGeom prst="roundRect">
            <a:avLst>
              <a:gd name="adj" fmla="val 5155"/>
            </a:avLst>
          </a:prstGeom>
          <a:solidFill>
            <a:srgbClr val="F4F7FB"/>
          </a:solidFill>
          <a:ln w="12700">
            <a:solidFill>
              <a:srgbClr val="E1E9F2"/>
            </a:solidFill>
            <a:prstDash val="solid"/>
          </a:ln>
        </p:spPr>
        <p:txBody>
          <a:bodyPr/>
          <a:p/>
        </p:txBody>
      </p:sp>
      <p:pic>
        <p:nvPicPr>
          <p:cNvPr id="10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4552950" y="2419350"/>
            <a:ext cx="323850" cy="323850"/>
          </a:xfrm>
          <a:prstGeom prst="rect">
            <a:avLst/>
          </a:prstGeom>
          <a:ln/>
        </p:spPr>
      </p:pic>
      <p:sp>
        <p:nvSpPr>
          <p:cNvPr id="102" name=""/>
          <p:cNvSpPr/>
          <p:nvPr/>
        </p:nvSpPr>
        <p:spPr>
          <a:xfrm rot="0" flipH="0" flipV="0">
            <a:off x="7219950" y="2476500"/>
            <a:ext cx="419100" cy="209550"/>
          </a:xfrm>
          <a:prstGeom prst="roundRect">
            <a:avLst>
              <a:gd name="adj" fmla="val 45455"/>
            </a:avLst>
          </a:prstGeom>
          <a:solidFill>
            <a:srgbClr val="DCF3F9"/>
          </a:solidFill>
          <a:ln/>
        </p:spPr>
        <p:txBody>
          <a:bodyPr/>
          <a:p/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7219950" y="2476500"/>
            <a:ext cx="419100" cy="209550"/>
          </a:xfrm>
          <a:prstGeom prst="rect"/>
        </p:spPr>
        <p:txBody>
          <a:bodyPr wrap="none" lIns="64294" tIns="21431" rIns="64294" bIns="21431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0A0C4"/>
                </a:solidFill>
                <a:highlight>
                  <a:srgbClr val="DCF3F9"/>
                </a:highlight>
                <a:latin typeface="Microsoft YaHei"/>
                <a:ea typeface="Microsoft YaHei"/>
              </a:rPr>
              <a:t>迁移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4552950" y="3124200"/>
            <a:ext cx="30861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B1C33"/>
                </a:solidFill>
                <a:latin typeface="Microsoft YaHei"/>
                <a:ea typeface="Microsoft YaHei"/>
              </a:rPr>
              <a:t>纺织印染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4552950" y="3419475"/>
            <a:ext cx="30861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88">
                <a:solidFill>
                  <a:srgbClr val="5C6E82"/>
                </a:solidFill>
                <a:latin typeface="Microsoft YaHei"/>
                <a:ea typeface="Microsoft YaHei"/>
              </a:rPr>
              <a:t>布匹连续卷材上的破洞、断经、色差、油污点，需高速连续检测。</a:t>
            </a:r>
            <a:endParaRPr/>
          </a:p>
        </p:txBody>
      </p:sp>
      <p:sp>
        <p:nvSpPr>
          <p:cNvPr id="106" name=""/>
          <p:cNvSpPr/>
          <p:nvPr/>
        </p:nvSpPr>
        <p:spPr>
          <a:xfrm rot="0" flipH="0" flipV="0">
            <a:off x="4381500" y="4248150"/>
            <a:ext cx="3429000" cy="1847850"/>
          </a:xfrm>
          <a:prstGeom prst="roundRect">
            <a:avLst>
              <a:gd name="adj" fmla="val 5155"/>
            </a:avLst>
          </a:prstGeom>
          <a:solidFill>
            <a:srgbClr val="F4F7FB"/>
          </a:solidFill>
          <a:ln w="12700">
            <a:solidFill>
              <a:srgbClr val="E1E9F2"/>
            </a:solidFill>
            <a:prstDash val="solid"/>
          </a:ln>
        </p:spPr>
        <p:txBody>
          <a:bodyPr/>
          <a:p/>
        </p:txBody>
      </p:sp>
      <p:pic>
        <p:nvPicPr>
          <p:cNvPr id="10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4552950" y="4419600"/>
            <a:ext cx="323850" cy="323850"/>
          </a:xfrm>
          <a:prstGeom prst="rect">
            <a:avLst/>
          </a:prstGeom>
          <a:ln/>
        </p:spPr>
      </p:pic>
      <p:sp>
        <p:nvSpPr>
          <p:cNvPr id="108" name=""/>
          <p:cNvSpPr/>
          <p:nvPr/>
        </p:nvSpPr>
        <p:spPr>
          <a:xfrm rot="0" flipH="0" flipV="0">
            <a:off x="7219950" y="4476750"/>
            <a:ext cx="419100" cy="209550"/>
          </a:xfrm>
          <a:prstGeom prst="roundRect">
            <a:avLst>
              <a:gd name="adj" fmla="val 45455"/>
            </a:avLst>
          </a:prstGeom>
          <a:solidFill>
            <a:srgbClr val="DCF3F9"/>
          </a:solidFill>
          <a:ln/>
        </p:spPr>
        <p:txBody>
          <a:bodyPr/>
          <a:p/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7219950" y="4476750"/>
            <a:ext cx="419100" cy="209550"/>
          </a:xfrm>
          <a:prstGeom prst="rect"/>
        </p:spPr>
        <p:txBody>
          <a:bodyPr wrap="none" lIns="64294" tIns="21431" rIns="64294" bIns="21431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0A0C4"/>
                </a:solidFill>
                <a:highlight>
                  <a:srgbClr val="DCF3F9"/>
                </a:highlight>
                <a:latin typeface="Microsoft YaHei"/>
                <a:ea typeface="Microsoft YaHei"/>
              </a:rPr>
              <a:t>迁移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4552950" y="5124450"/>
            <a:ext cx="30861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B1C33"/>
                </a:solidFill>
                <a:latin typeface="Microsoft YaHei"/>
                <a:ea typeface="Microsoft YaHei"/>
              </a:rPr>
              <a:t>新能源电池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4552950" y="5419725"/>
            <a:ext cx="30861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88">
                <a:solidFill>
                  <a:srgbClr val="5C6E82"/>
                </a:solidFill>
                <a:latin typeface="Microsoft YaHei"/>
                <a:ea typeface="Microsoft YaHei"/>
              </a:rPr>
              <a:t>极片涂布划痕、铝壳焊点、隔膜瑕疵</a:t>
            </a:r>
            <a:r>
              <a:rPr lang="en-US" sz="1088">
                <a:solidFill>
                  <a:srgbClr val="5C6E82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088">
                <a:solidFill>
                  <a:srgbClr val="5C6E82"/>
                </a:solidFill>
                <a:latin typeface="Microsoft YaHei"/>
                <a:ea typeface="Microsoft YaHei"/>
              </a:rPr>
              <a:t>安全等级最高的质检场景。</a:t>
            </a:r>
            <a:endParaRPr/>
          </a:p>
        </p:txBody>
      </p:sp>
      <p:sp>
        <p:nvSpPr>
          <p:cNvPr id="112" name=""/>
          <p:cNvSpPr/>
          <p:nvPr/>
        </p:nvSpPr>
        <p:spPr>
          <a:xfrm rot="0" flipH="0" flipV="0">
            <a:off x="7962900" y="2247900"/>
            <a:ext cx="3429000" cy="1847850"/>
          </a:xfrm>
          <a:prstGeom prst="roundRect">
            <a:avLst>
              <a:gd name="adj" fmla="val 5155"/>
            </a:avLst>
          </a:prstGeom>
          <a:solidFill>
            <a:srgbClr val="F4F7FB"/>
          </a:solidFill>
          <a:ln w="12700">
            <a:solidFill>
              <a:srgbClr val="E1E9F2"/>
            </a:solidFill>
            <a:prstDash val="solid"/>
          </a:ln>
        </p:spPr>
        <p:txBody>
          <a:bodyPr/>
          <a:p/>
        </p:txBody>
      </p:sp>
      <p:pic>
        <p:nvPicPr>
          <p:cNvPr id="11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8134350" y="2419350"/>
            <a:ext cx="323850" cy="323850"/>
          </a:xfrm>
          <a:prstGeom prst="rect">
            <a:avLst/>
          </a:prstGeom>
          <a:ln/>
        </p:spPr>
      </p:pic>
      <p:sp>
        <p:nvSpPr>
          <p:cNvPr id="114" name=""/>
          <p:cNvSpPr/>
          <p:nvPr/>
        </p:nvSpPr>
        <p:spPr>
          <a:xfrm rot="0" flipH="0" flipV="0">
            <a:off x="10801350" y="2476500"/>
            <a:ext cx="419100" cy="209550"/>
          </a:xfrm>
          <a:prstGeom prst="roundRect">
            <a:avLst>
              <a:gd name="adj" fmla="val 45455"/>
            </a:avLst>
          </a:prstGeom>
          <a:solidFill>
            <a:srgbClr val="DCF3F9"/>
          </a:solidFill>
          <a:ln/>
        </p:spPr>
        <p:txBody>
          <a:bodyPr/>
          <a:p/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10801350" y="2476500"/>
            <a:ext cx="419100" cy="209550"/>
          </a:xfrm>
          <a:prstGeom prst="rect"/>
        </p:spPr>
        <p:txBody>
          <a:bodyPr wrap="none" lIns="64294" tIns="21431" rIns="64294" bIns="21431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0A0C4"/>
                </a:solidFill>
                <a:highlight>
                  <a:srgbClr val="DCF3F9"/>
                </a:highlight>
                <a:latin typeface="Microsoft YaHei"/>
                <a:ea typeface="Microsoft YaHei"/>
              </a:rPr>
              <a:t>迁移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8134350" y="3124200"/>
            <a:ext cx="30861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B1C33"/>
                </a:solidFill>
                <a:latin typeface="Microsoft YaHei"/>
                <a:ea typeface="Microsoft YaHei"/>
              </a:rPr>
              <a:t>食品包装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8134350" y="3419475"/>
            <a:ext cx="30861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88">
                <a:solidFill>
                  <a:srgbClr val="5C6E82"/>
                </a:solidFill>
                <a:latin typeface="Microsoft YaHei"/>
                <a:ea typeface="Microsoft YaHei"/>
              </a:rPr>
              <a:t>封口完整性、印刷错漏、异物混入</a:t>
            </a:r>
            <a:r>
              <a:rPr lang="en-US" sz="1088">
                <a:solidFill>
                  <a:srgbClr val="5C6E82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088">
                <a:solidFill>
                  <a:srgbClr val="5C6E82"/>
                </a:solidFill>
                <a:latin typeface="Microsoft YaHei"/>
                <a:ea typeface="Microsoft YaHei"/>
              </a:rPr>
              <a:t>视觉</a:t>
            </a:r>
            <a:r>
              <a:rPr lang="en-US" sz="1088">
                <a:solidFill>
                  <a:srgbClr val="5C6E82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088">
                <a:solidFill>
                  <a:srgbClr val="5C6E82"/>
                </a:solidFill>
                <a:latin typeface="Microsoft YaHei"/>
                <a:ea typeface="Microsoft YaHei"/>
              </a:rPr>
              <a:t>合规双重要求。</a:t>
            </a:r>
            <a:endParaRPr/>
          </a:p>
        </p:txBody>
      </p:sp>
      <p:sp>
        <p:nvSpPr>
          <p:cNvPr id="118" name=""/>
          <p:cNvSpPr/>
          <p:nvPr/>
        </p:nvSpPr>
        <p:spPr>
          <a:xfrm rot="0" flipH="0" flipV="0">
            <a:off x="7962900" y="4248150"/>
            <a:ext cx="3429000" cy="1847850"/>
          </a:xfrm>
          <a:prstGeom prst="roundRect">
            <a:avLst>
              <a:gd name="adj" fmla="val 5155"/>
            </a:avLst>
          </a:prstGeom>
          <a:solidFill>
            <a:srgbClr val="F4F7FB"/>
          </a:solidFill>
          <a:ln w="12700">
            <a:solidFill>
              <a:srgbClr val="E1E9F2"/>
            </a:solidFill>
            <a:prstDash val="solid"/>
          </a:ln>
        </p:spPr>
        <p:txBody>
          <a:bodyPr/>
          <a:p/>
        </p:txBody>
      </p:sp>
      <p:pic>
        <p:nvPicPr>
          <p:cNvPr id="11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 rot="0" flipH="0" flipV="0">
            <a:off x="8134350" y="4419600"/>
            <a:ext cx="323850" cy="323850"/>
          </a:xfrm>
          <a:prstGeom prst="rect">
            <a:avLst/>
          </a:prstGeom>
          <a:ln/>
        </p:spPr>
      </p:pic>
      <p:sp>
        <p:nvSpPr>
          <p:cNvPr id="120" name=""/>
          <p:cNvSpPr/>
          <p:nvPr/>
        </p:nvSpPr>
        <p:spPr>
          <a:xfrm rot="0" flipH="0" flipV="0">
            <a:off x="10801350" y="4476750"/>
            <a:ext cx="419100" cy="209550"/>
          </a:xfrm>
          <a:prstGeom prst="roundRect">
            <a:avLst>
              <a:gd name="adj" fmla="val 45455"/>
            </a:avLst>
          </a:prstGeom>
          <a:solidFill>
            <a:srgbClr val="DCF3F9"/>
          </a:solidFill>
          <a:ln/>
        </p:spPr>
        <p:txBody>
          <a:bodyPr/>
          <a:p/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10801350" y="4476750"/>
            <a:ext cx="419100" cy="209550"/>
          </a:xfrm>
          <a:prstGeom prst="rect"/>
        </p:spPr>
        <p:txBody>
          <a:bodyPr wrap="none" lIns="64294" tIns="21431" rIns="64294" bIns="21431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0A0C4"/>
                </a:solidFill>
                <a:highlight>
                  <a:srgbClr val="DCF3F9"/>
                </a:highlight>
                <a:latin typeface="Microsoft YaHei"/>
                <a:ea typeface="Microsoft YaHei"/>
              </a:rPr>
              <a:t>迁移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8134350" y="5124450"/>
            <a:ext cx="30861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B1C33"/>
                </a:solidFill>
                <a:latin typeface="Microsoft YaHei"/>
                <a:ea typeface="Microsoft YaHei"/>
              </a:rPr>
              <a:t>玻璃建材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8134350" y="5419725"/>
            <a:ext cx="30861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88">
                <a:solidFill>
                  <a:srgbClr val="5C6E82"/>
                </a:solidFill>
                <a:latin typeface="Microsoft YaHei"/>
                <a:ea typeface="Microsoft YaHei"/>
              </a:rPr>
              <a:t>浮法玻璃气泡、结石、划伤，陶瓷砖面裂纹</a:t>
            </a:r>
            <a:r>
              <a:rPr lang="en-US" sz="1088">
                <a:solidFill>
                  <a:srgbClr val="5C6E82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088">
                <a:solidFill>
                  <a:srgbClr val="5C6E82"/>
                </a:solidFill>
                <a:latin typeface="Microsoft YaHei"/>
                <a:ea typeface="Microsoft YaHei"/>
              </a:rPr>
              <a:t>大面积高反光表面。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800100" y="6486525"/>
            <a:ext cx="2647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AA9B8"/>
                </a:solidFill>
                <a:latin typeface="Microsoft YaHei"/>
                <a:ea typeface="Microsoft YaHei"/>
              </a:rPr>
              <a:t>工业表面缺陷检测系统</a:t>
            </a:r>
            <a:r>
              <a:rPr lang="en-US" sz="1050">
                <a:solidFill>
                  <a:srgbClr val="9AA9B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9AA9B8"/>
                </a:solidFill>
                <a:latin typeface="Microsoft YaHei"/>
                <a:ea typeface="Microsoft YaHei"/>
              </a:rPr>
              <a:t>应用场景与落地地图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10934700" y="64865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AA9B8"/>
                </a:solidFill>
                <a:latin typeface="Microsoft YaHei"/>
                <a:ea typeface="Microsoft YaHei"/>
              </a:rPr>
              <a:t>05 / 12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26" name="" descr="&lt;Slide style={{ width: 1280, height: 720, position: 'relative', background: '#071A36', overflow: 'hidden' }}&gt;&#10;    &lt;Box style={{ position: 'absolute', top: 0, left: 0, width: 1280, height: 720, flexDirection: 'row' }}&gt;&#10;&#10;        {/* 左侧 60% 视觉块（SVG 抽象钢卷/辊道） */}&#10;        &lt;Box style={{ width: 720, height: 720, position: 'relative', background: '#061428' }}&gt;&#10;            &lt;svg width={720} height={720} viewBox='0 0 720 720' style={{ position: 'absolute', top: 0, left: 0 }}&gt;&#10;                &lt;defs&gt;&#10;                    &lt;linearGradient id='p6a' x1='0' y1='0' x2='1' y2='1'&gt;&#10;                        &lt;stop offset='0%' stopColor='#0B3D91' /&gt;&#10;                        &lt;stop offset='100%' stopColor='#061428' /&gt;&#10;                    &lt;/linearGradient&gt;&#10;                    &lt;radialGradient id='p6g' cx='0.35' cy='0.42' r='0.6'&gt;&#10;                        &lt;stop offset='0%' stopColor='#00B4D8' stopOpacity='0.35' /&gt;&#10;                        &lt;stop offset='100%' stopColor='#00B4D8' stopOpacity='0' /&gt;&#10;                    &lt;/radialGradient&gt;&#10;                &lt;/defs&gt;&#10;                &lt;rect x='0' y='0' width='720' height='720' fill='url(#p6a)' /&gt;&#10;                &lt;rect x='0' y='0' width='720' height='720' fill='url(#p6g)' /&gt;&#10;                {/* 同心圆（钢卷抽象） */}&#10;                &lt;g fill='none' stroke='#4E8BD6' strokeOpacity='0.30'&gt;&#10;                    &lt;circle cx='300' cy='330' r='210' strokeWidth='10' /&gt;&#10;                    &lt;circle cx='300' cy='330' r='164' strokeWidth='7' /&gt;&#10;                    &lt;circle cx='300' cy='330' r='120' strokeWidth='5' /&gt;&#10;                    &lt;circle cx='300' cy='330' r='78' strokeWidth='4' /&gt;&#10;                &lt;/g&gt;&#10;                &lt;circle cx='300' cy='330' r='34' fill='#00B4D8' fillOpacity='0.9' /&gt;&#10;                {/* 辊道横线 */}&#10;                &lt;g stroke='#7FB2E8' strokeOpacity='0.16' strokeWidth='2'&gt;&#10;                    &lt;line x1='0' y1='140' x2='720' y2='140' /&gt;&#10;                    &lt;line x1='0' y1='520' x2='720' y2='520' /&gt;&#10;                    &lt;line x1='0' y1='600' x2='720' y2='600' /&gt;&#10;                    &lt;line x1='0' y1='660' x2='720' y2='660' /&gt;&#10;                &lt;/g&gt;&#10;                &lt;rect x='0' y='712' width='720' height='8' fill='#00B4D8' /&gt;&#10;            &lt;/svg&gt;&#10;        &lt;/Box&gt;&#10;&#10;        {/* 右侧 40% 文字 */}&#10;        &lt;Box style={{ width: 560, height: 720, paddingLeft: 64, paddingRight: 84, paddingTop: 236, flexDirection: 'column' }}&gt;&#10;            &lt;Box style={{ flexDirection: 'row', alignItems: 'center', gap: 16 }}&gt;&#10;                &lt;Text style={{ fontSize: 26, fontWeight: 'bold', color: '#00B4D8', letterSpacing: 3 }}&gt;CHAPTER 02&lt;/Text&gt;&#10;                &lt;Box style={{ width: 70, height: 2, background: 'rgba(255,255,255,0.25)' }} /&gt;&#10;            &lt;/Box&gt;&#10;            &lt;Text style={{ marginTop: 26, fontSize: 62, fontWeight: 'bold', color: '#FFFFFF', lineHeight: 1.15, letterSpacing: 2 }}&gt;&#10;                场景地图：六大应用领域&#10;            &lt;/Text&gt;&#10;            &lt;Box style={{ flexDirection: 'row', alignItems: 'center', gap: 16, marginTop: 34 }}&gt;&#10;                &lt;Box style={{ width: 6, height: 34, background: '#FF7A18' }} /&gt;&#10;                &lt;Text style={{ fontSize: 24, color: '#BFD6EC' }}&gt;&#10;                    同一个视觉内核，换一套数据就是一条新产线。&#10;                &lt;/Text&gt;&#10;            &lt;/Box&gt;&#10;        &lt;/Box&gt;&#10;    &lt;/Box&gt;&#10;&#10;    &lt;Box style={{ position: 'absolute', left: 96, bottom: 30, width: 1088, flexDirection: 'row', justifyContent: 'space-between' }}&gt;&#10;        &lt;Text style={{ fontSize: 14, color: '#6E8BB0' }}&gt;工业表面缺陷检测系统 · 应用场景与落地地图&lt;/Text&gt;&#10;        &lt;Text style={{ fontSize: 14, color: '#6E8BB0' }}&gt;06 / 12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71A36"/>
          </a:solidFill>
          <a:ln/>
        </p:spPr>
        <p:txBody>
          <a:bodyPr/>
          <a:p/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7467600" y="2247900"/>
            <a:ext cx="185737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 spc="225">
                <a:solidFill>
                  <a:srgbClr val="00B4D8"/>
                </a:solidFill>
                <a:latin typeface="Microsoft YaHei"/>
                <a:ea typeface="Microsoft YaHei"/>
              </a:rPr>
              <a:t>CHAPTER 02</a:t>
            </a:r>
            <a:endParaRPr/>
          </a:p>
        </p:txBody>
      </p:sp>
      <p:sp>
        <p:nvSpPr>
          <p:cNvPr id="129" name=""/>
          <p:cNvSpPr/>
          <p:nvPr/>
        </p:nvSpPr>
        <p:spPr>
          <a:xfrm rot="0" flipH="0" flipV="0">
            <a:off x="9477375" y="2390775"/>
            <a:ext cx="666750" cy="19050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p/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7467600" y="2800350"/>
            <a:ext cx="3924300" cy="1638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14999"/>
              </a:lnSpc>
            </a:pPr>
            <a:r>
              <a:rPr lang="zh-CN" sz="4650" b="1" spc="150">
                <a:solidFill>
                  <a:srgbClr val="FFFFFF"/>
                </a:solidFill>
                <a:latin typeface="Microsoft YaHei"/>
                <a:ea typeface="Microsoft YaHei"/>
              </a:rPr>
              <a:t>场景地图：六大应用领域</a:t>
            </a:r>
            <a:endParaRPr/>
          </a:p>
        </p:txBody>
      </p:sp>
      <p:sp>
        <p:nvSpPr>
          <p:cNvPr id="131" name=""/>
          <p:cNvSpPr/>
          <p:nvPr/>
        </p:nvSpPr>
        <p:spPr>
          <a:xfrm rot="0" flipH="0" flipV="0">
            <a:off x="7467600" y="4876800"/>
            <a:ext cx="57150" cy="323850"/>
          </a:xfrm>
          <a:prstGeom prst="rect">
            <a:avLst/>
          </a:prstGeom>
          <a:solidFill>
            <a:srgbClr val="FF7A18"/>
          </a:solidFill>
          <a:ln/>
        </p:spPr>
        <p:txBody>
          <a:bodyPr/>
          <a:p/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7677150" y="4762500"/>
            <a:ext cx="37147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800">
                <a:solidFill>
                  <a:srgbClr val="BFD6EC"/>
                </a:solidFill>
                <a:latin typeface="Microsoft YaHei"/>
                <a:ea typeface="Microsoft YaHei"/>
              </a:rPr>
              <a:t>同一个视觉内核，换一套数据就是一条新产线。</a:t>
            </a:r>
            <a:endParaRPr/>
          </a:p>
        </p:txBody>
      </p:sp>
      <p:sp>
        <p:nvSpPr>
          <p:cNvPr id="133" name=""/>
          <p:cNvSpPr/>
          <p:nvPr/>
        </p:nvSpPr>
        <p:spPr>
          <a:xfrm rot="0" flipH="0" flipV="0">
            <a:off x="0" y="0"/>
            <a:ext cx="6858000" cy="6858000"/>
          </a:xfrm>
          <a:prstGeom prst="rect">
            <a:avLst/>
          </a:prstGeom>
          <a:solidFill>
            <a:srgbClr val="061428"/>
          </a:solidFill>
          <a:ln/>
        </p:spPr>
        <p:txBody>
          <a:bodyPr/>
          <a:p/>
        </p:txBody>
      </p:sp>
      <p:pic>
        <p:nvPicPr>
          <p:cNvPr id="13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6858000" cy="6858000"/>
          </a:xfrm>
          <a:prstGeom prst="rect">
            <a:avLst/>
          </a:prstGeom>
          <a:ln/>
        </p:spPr>
      </p:pic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914400" y="6410325"/>
            <a:ext cx="2647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E8BB0"/>
                </a:solidFill>
                <a:latin typeface="Microsoft YaHei"/>
                <a:ea typeface="Microsoft YaHei"/>
              </a:rPr>
              <a:t>工业表面缺陷检测系统</a:t>
            </a:r>
            <a:r>
              <a:rPr lang="en-US" sz="1050">
                <a:solidFill>
                  <a:srgbClr val="6E8BB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6E8BB0"/>
                </a:solidFill>
                <a:latin typeface="Microsoft YaHei"/>
                <a:ea typeface="Microsoft YaHei"/>
              </a:rPr>
              <a:t>应用场景与落地地图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10820400" y="64103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E8BB0"/>
                </a:solidFill>
                <a:latin typeface="Microsoft YaHei"/>
                <a:ea typeface="Microsoft YaHei"/>
              </a:rPr>
              <a:t>06 / 12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37" name="" descr="&lt;Slide style={{ width: 1280, height: 720, position: 'relative', background: '#061428', overflow: 'hidden' }}&gt;&#10;    &lt;Box style={{ position: 'absolute', top: 0, left: 0, width: 1280, height: 720, flexDirection: 'row' }}&gt;&#10;&#10;        {/* 左侧 42% 文字（镜像构图，与 P6 区分） */}&#10;        &lt;Box style={{ width: 520, height: 720, paddingLeft: 96, paddingRight: 40, paddingTop: 236, flexDirection: 'column' }}&gt;&#10;            &lt;Box style={{ flexDirection: 'row', alignItems: 'center', gap: 16 }}&gt;&#10;                &lt;Text style={{ fontSize: 26, fontWeight: 'bold', color: '#00B4D8', letterSpacing: 3 }}&gt;CHAPTER 03&lt;/Text&gt;&#10;                &lt;Box style={{ width: 70, height: 2, background: 'rgba(255,255,255,0.25)' }} /&gt;&#10;            &lt;/Box&gt;&#10;            &lt;Text style={{ marginTop: 26, fontSize: 58, fontWeight: 'bold', color: '#FFFFFF', lineHeight: 1.15, letterSpacing: 2 }}&gt;&#10;                技术底座：&lt;br /&gt;为什么是这套方案&#10;            &lt;/Text&gt;&#10;            &lt;Box style={{ flexDirection: 'row', alignItems: 'center', gap: 16, marginTop: 34 }}&gt;&#10;                &lt;Box style={{ width: 6, height: 34, background: '#FF7A18' }} /&gt;&#10;                &lt;Text style={{ fontSize: 23, color: '#BFD6EC' }}&gt;&#10;                    不是又一个算法 demo，&lt;br /&gt;而是一台能上产线的机器。&#10;                &lt;/Text&gt;&#10;            &lt;/Box&gt;&#10;        &lt;/Box&gt;&#10;&#10;        {/* 右侧 58% 边缘盒子抽象 SVG */}&#10;        &lt;Box style={{ width: 760, height: 720, position: 'relative', background: '#0A2C68' }}&gt;&#10;            &lt;svg width={760} height={720} viewBox='0 0 760 720' style={{ position: 'absolute', top: 0, left: 0 }}&gt;&#10;                &lt;defs&gt;&#10;                    &lt;linearGradient id='p7a' x1='0' y1='0' x2='1' y2='1'&gt;&#10;                        &lt;stop offset='0%' stopColor='#0E4C9E' /&gt;&#10;                        &lt;stop offset='100%' stopColor='#061428' /&gt;&#10;                    &lt;/linearGradient&gt;&#10;                    &lt;linearGradient id='p7box' x1='0' y1='0' x2='0' y2='1'&gt;&#10;                        &lt;stop offset='0%' stopColor='#123B77' /&gt;&#10;                        &lt;stop offset='100%' stopColor='#0A2450' /&gt;&#10;                    &lt;/linearGradient&gt;&#10;                    &lt;radialGradient id='p7g' cx='0.5' cy='0.5' r='0.6'&gt;&#10;                        &lt;stop offset='0%' stopColor='#00B4D8' stopOpacity='0.30' /&gt;&#10;                        &lt;stop offset='100%' stopColor='#00B4D8' stopOpacity='0' /&gt;&#10;                    &lt;/radialGradient&gt;&#10;                &lt;/defs&gt;&#10;                &lt;rect x='0' y='0' width='760' height='720' fill='url(#p7a)' /&gt;&#10;                &lt;rect x='0' y='0' width='760' height='720' fill='url(#p7g)' /&gt;&#10;                {/* 芯片/盒子 */}&#10;                &lt;rect x='230' y='220' width='300' height='280' rx='18' fill='url(#p7box)' stroke='#3E77C4' strokeWidth='2' /&gt;&#10;                &lt;rect x='268' y='262' width='224' height='120' rx='8' fill='#061428' stroke='#00B4D8' strokeWidth='1.5' /&gt;&#10;                {/* 芯片引脚 */}&#10;                &lt;g stroke='#4E8BD6' strokeWidth='3' strokeOpacity='0.7'&gt;&#10;                    &lt;line x1='230' y1='270' x2='196' y2='270' /&gt;&#10;                    &lt;line x1='230' y1='320' x2='196' y2='320' /&gt;&#10;                    &lt;line x1='230' y1='370' x2='196' y2='370' /&gt;&#10;                    &lt;line x1='230' y1='420' x2='196' y2='420' /&gt;&#10;                    &lt;line x1='530' y1='270' x2='564' y2='270' /&gt;&#10;                    &lt;line x1='530' y1='320' x2='564' y2='320' /&gt;&#10;                    &lt;line x1='530' y1='370' x2='564' y2='370' /&gt;&#10;                    &lt;line x1='530' y1='420' x2='564' y2='420' /&gt;&#10;                &lt;/g&gt;&#10;                {/* NPU 文字条 */}&#10;                &lt;rect x='300' y='292' width='160' height='10' rx='5' fill='#00B4D8' fillOpacity='0.85' /&gt;&#10;                &lt;rect x='300' y='318' width='100' height='8' rx='4' fill='#7FB2E8' fillOpacity='0.5' /&gt;&#10;                &lt;rect x='300' y='340' width='130' height='8' rx='4' fill='#7FB2E8' fillOpacity='0.35' /&gt;&#10;                {/* 底部状态点 */}&#10;                &lt;g&gt;&#10;                    &lt;circle cx='288' cy='440' r='7' fill='#FF7A18' /&gt;&#10;                    &lt;circle cx='316' cy='440' r='7' fill='#00B4D8' /&gt;&#10;                    &lt;circle cx='344' cy='440' r='7' fill='#3E77C4' /&gt;&#10;                &lt;/g&gt;&#10;                {/* 输入输出引脚连线（相机→盒子→上位机，抽象） */}&#10;                &lt;g stroke='#4E8BD6' strokeOpacity='0.55' strokeWidth='2' strokeDasharray='6 6'&gt;&#10;                    &lt;line x1='40' y1='360' x2='190' y2='360' /&gt;&#10;                    &lt;line x1='570' y1='360' x2='720' y2='360' /&gt;&#10;                &lt;/g&gt;&#10;                &lt;circle cx='40' cy='360' r='9' fill='#00B4D8' fillOpacity='0.8' /&gt;&#10;                &lt;circle cx='720' cy='360' r='9' fill='#FF7A18' fillOpacity='0.85' /&gt;&#10;                &lt;rect x='0' y='712' width='760' height='8' fill='#FF7A18' /&gt;&#10;            &lt;/svg&gt;&#10;        &lt;/Box&gt;&#10;    &lt;/Box&gt;&#10;&#10;    &lt;Box style={{ position: 'absolute', left: 96, bottom: 30, width: 1088, flexDirection: 'row', justifyContent: 'space-between' }}&gt;&#10;        &lt;Text style={{ fontSize: 14, color: '#6E8BB0' }}&gt;工业表面缺陷检测系统 · 应用场景与落地地图&lt;/Text&gt;&#10;        &lt;Text style={{ fontSize: 14, color: '#6E8BB0' }}&gt;07 / 12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61428"/>
          </a:solidFill>
          <a:ln/>
        </p:spPr>
        <p:txBody>
          <a:bodyPr/>
          <a:p/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914400" y="2247900"/>
            <a:ext cx="185737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 spc="225">
                <a:solidFill>
                  <a:srgbClr val="00B4D8"/>
                </a:solidFill>
                <a:latin typeface="Microsoft YaHei"/>
                <a:ea typeface="Microsoft YaHei"/>
              </a:rPr>
              <a:t>CHAPTER 03</a:t>
            </a:r>
            <a:endParaRPr/>
          </a:p>
        </p:txBody>
      </p:sp>
      <p:sp>
        <p:nvSpPr>
          <p:cNvPr id="140" name=""/>
          <p:cNvSpPr/>
          <p:nvPr/>
        </p:nvSpPr>
        <p:spPr>
          <a:xfrm rot="0" flipH="0" flipV="0">
            <a:off x="2924175" y="2390775"/>
            <a:ext cx="666750" cy="19050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p/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914400" y="2800350"/>
            <a:ext cx="3657600" cy="2295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14999"/>
              </a:lnSpc>
            </a:pPr>
            <a:r>
              <a:rPr lang="zh-CN" sz="4350" b="1" spc="150">
                <a:solidFill>
                  <a:srgbClr val="FFFFFF"/>
                </a:solidFill>
                <a:latin typeface="Microsoft YaHei"/>
                <a:ea typeface="Microsoft YaHei"/>
              </a:rPr>
              <a:t>技术底座：</a:t>
            </a:r>
            <a:endParaRPr/>
          </a:p>
          <a:p>
            <a:pPr>
              <a:lnSpc>
                <a:spcPct val="114999"/>
              </a:lnSpc>
            </a:pPr>
            <a:r>
              <a:rPr lang="zh-CN" sz="4350" b="1" spc="150">
                <a:solidFill>
                  <a:srgbClr val="FFFFFF"/>
                </a:solidFill>
                <a:latin typeface="Microsoft YaHei"/>
                <a:ea typeface="Microsoft YaHei"/>
              </a:rPr>
              <a:t>为什么是这套方案</a:t>
            </a:r>
            <a:endParaRPr/>
          </a:p>
        </p:txBody>
      </p:sp>
      <p:sp>
        <p:nvSpPr>
          <p:cNvPr id="142" name=""/>
          <p:cNvSpPr/>
          <p:nvPr/>
        </p:nvSpPr>
        <p:spPr>
          <a:xfrm rot="0" flipH="0" flipV="0">
            <a:off x="914400" y="5524500"/>
            <a:ext cx="57150" cy="323850"/>
          </a:xfrm>
          <a:prstGeom prst="rect">
            <a:avLst/>
          </a:prstGeom>
          <a:solidFill>
            <a:srgbClr val="FF7A18"/>
          </a:solidFill>
          <a:ln/>
        </p:spPr>
        <p:txBody>
          <a:bodyPr/>
          <a:p/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1123950" y="5419725"/>
            <a:ext cx="2628900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>
                <a:solidFill>
                  <a:srgbClr val="BFD6EC"/>
                </a:solidFill>
                <a:latin typeface="Microsoft YaHei"/>
                <a:ea typeface="Microsoft YaHei"/>
              </a:rPr>
              <a:t>不是又一个算法</a:t>
            </a:r>
            <a:r>
              <a:rPr lang="en-US" sz="1725">
                <a:solidFill>
                  <a:srgbClr val="BFD6EC"/>
                </a:solidFill>
                <a:latin typeface="Microsoft YaHei"/>
                <a:ea typeface="Microsoft YaHei"/>
              </a:rPr>
              <a:t xml:space="preserve"> demo</a:t>
            </a:r>
            <a:r>
              <a:rPr lang="zh-CN" sz="1725">
                <a:solidFill>
                  <a:srgbClr val="BFD6EC"/>
                </a:solidFill>
                <a:latin typeface="Microsoft YaHei"/>
                <a:ea typeface="Microsoft YaHei"/>
              </a:rPr>
              <a:t>，</a:t>
            </a:r>
            <a:endParaRPr/>
          </a:p>
          <a:p>
            <a:pPr>
              <a:lnSpc>
                <a:spcPct val="100000"/>
              </a:lnSpc>
            </a:pPr>
            <a:r>
              <a:rPr lang="zh-CN" sz="1725">
                <a:solidFill>
                  <a:srgbClr val="BFD6EC"/>
                </a:solidFill>
                <a:latin typeface="Microsoft YaHei"/>
                <a:ea typeface="Microsoft YaHei"/>
              </a:rPr>
              <a:t>而是一台能上产线的机器。</a:t>
            </a:r>
            <a:endParaRPr/>
          </a:p>
        </p:txBody>
      </p:sp>
      <p:sp>
        <p:nvSpPr>
          <p:cNvPr id="144" name=""/>
          <p:cNvSpPr/>
          <p:nvPr/>
        </p:nvSpPr>
        <p:spPr>
          <a:xfrm rot="0" flipH="0" flipV="0">
            <a:off x="4953000" y="0"/>
            <a:ext cx="7239000" cy="6858000"/>
          </a:xfrm>
          <a:prstGeom prst="rect">
            <a:avLst/>
          </a:prstGeom>
          <a:solidFill>
            <a:srgbClr val="0A2C68"/>
          </a:solidFill>
          <a:ln/>
        </p:spPr>
        <p:txBody>
          <a:bodyPr/>
          <a:p/>
        </p:txBody>
      </p:sp>
      <p:pic>
        <p:nvPicPr>
          <p:cNvPr id="14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953000" y="0"/>
            <a:ext cx="7239000" cy="6858000"/>
          </a:xfrm>
          <a:prstGeom prst="rect">
            <a:avLst/>
          </a:prstGeom>
          <a:ln/>
        </p:spPr>
      </p:pic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914400" y="6410325"/>
            <a:ext cx="2647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E8BB0"/>
                </a:solidFill>
                <a:latin typeface="Microsoft YaHei"/>
                <a:ea typeface="Microsoft YaHei"/>
              </a:rPr>
              <a:t>工业表面缺陷检测系统</a:t>
            </a:r>
            <a:r>
              <a:rPr lang="en-US" sz="1050">
                <a:solidFill>
                  <a:srgbClr val="6E8BB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6E8BB0"/>
                </a:solidFill>
                <a:latin typeface="Microsoft YaHei"/>
                <a:ea typeface="Microsoft YaHei"/>
              </a:rPr>
              <a:t>应用场景与落地地图</a:t>
            </a:r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10820400" y="64103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E8BB0"/>
                </a:solidFill>
                <a:latin typeface="Microsoft YaHei"/>
                <a:ea typeface="Microsoft YaHei"/>
              </a:rPr>
              <a:t>07 / 12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2026-10-09T15:45:33Z</dcterms:created>
  <dcterms:modified xsi:type="dcterms:W3CDTF">2026-10-09T15:45:33Z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{"AIGC":{"Label":"1","ContentProducer":"00119111010856365494821B355","ProduceID":"01a11f73b952751db294403d8b3fd347","ReservedCode1":"","ContentPropagator":"00119111010856365494821B355","PropagateID":"01a11f73b952751db294403d8b3fd347","ReservedCode2":""}}</vt:lpwstr>
  </property>
</Properties>
</file>