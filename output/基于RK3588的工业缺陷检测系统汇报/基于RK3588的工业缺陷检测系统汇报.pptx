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1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8" Type="http://schemas.openxmlformats.org/officeDocument/2006/relationships/slide" Target="slides/slide8.xml" /><Relationship Id="rId13" Type="http://schemas.openxmlformats.org/officeDocument/2006/relationships/tableStyles" Target="tableStyles.xml" /><Relationship Id="rId10" Type="http://schemas.openxmlformats.org/officeDocument/2006/relationships/slide" Target="slides/slide10.xml" /><Relationship Id="rId12" Type="http://schemas.openxmlformats.org/officeDocument/2006/relationships/presProps" Target="presProps.xml" /><Relationship Id="rId14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&#10;    style={{&#10;        width: '1280px',&#10;        height: '720px',&#10;        background: '#FFFFFF',&#10;        fontFamily: '微软雅黑',&#10;        paddingLeft: 53,&#10;        paddingRight: 53,&#10;        paddingTop: 52,&#10;        paddingBottom: 36,&#10;        justifyContent: 'space-between',&#10;    }}&#10;&gt;&#10;    &lt;Box style={{ flexDirection: 'row', alignItems: 'center', height: 720, position: 'absolute', top: 0, left: 0, width: 14, background: '#22303E' }} /&gt;&#10;&#10;    &lt;Box&gt;&#10;        &lt;Box style={{ flexDirection: 'row', alignItems: 'center', gap: 14 }}&gt;&#10;            &lt;Box style={{ width: 40, height: 4, background: '#E8A23B' }} /&gt;&#10;            &lt;Text style={{ fontSize: 19, color: '#5F7080', letterSpacing: 3 }}&gt;深度学习 · 缺陷检测 · 边缘部署&lt;/Text&gt;&#10;        &lt;/Box&gt;&#10;&#10;        &lt;Text style={{ fontSize: 54, fontWeight: 'bold', color: '#22303E', lineHeight: 1.22, marginTop: 34 }}&gt;&#10;            基于 RK3588 的轻量化工业缺陷检测系统&#10;        &lt;/Text&gt;&#10;&#10;        &lt;Text style={{ fontSize: 32, fontWeight: 'bold', color: '#2E6F8E', marginTop: 18 }}&gt;&#10;            模型训练与边缘部署分析报告&#10;        &lt;/Text&gt;&#10;&#10;        &lt;Text style={{ fontSize: 21, color: '#5F7080', marginTop: 26, lineHeight: 1.5 }}&gt;&#10;            数据集构建 · 负样本闭环 · 双模型级联 · 类别扩展 · 板端工程闭环&#10;        &lt;/Text&gt;&#10;    &lt;/Box&gt;&#10;&#10;    &lt;Box style={{ flexDirection: 'row', gap: 26, marginTop: 56 }}&gt;&#10;        &lt;Box style={{ flex: 1, background: '#F2F5F7', borderLeft: '5px solid #2E6F8E', padding: 26, height: 186, justifyContent: 'space-between' }}&gt;&#10;            &lt;Text style={{ fontSize: 54, fontWeight: 'bold', color: '#22303E' }}&gt;16 类&lt;/Text&gt;&#10;            &lt;Box&gt;&#10;                &lt;Text style={{ fontSize: 19, fontWeight: 'bold', color: '#2E6F8E' }}&gt;缺陷类别体系&lt;/Text&gt;&#10;                &lt;Text style={{ fontSize: 15, color: '#5F7080', marginTop: 8, lineHeight: 1.5 }}&gt;已实测部署 6 类（NEU-DET 热轧带钢）&lt;br /&gt;扩展至 16 类全链路，扩展类待重训&lt;/Text&gt;&#10;            &lt;/Box&gt;&#10;        &lt;/Box&gt;&#10;&#10;        &lt;Box style={{ flex: 1, background: '#F2F5F7', borderLeft: '5px solid #E8A23B', padding: 26, height: 186, justifyContent: 'space-between' }}&gt;&#10;            &lt;Text style={{ fontSize: 54, fontWeight: 'bold', color: '#22303E' }}&gt;0.7393&lt;/Text&gt;&#10;            &lt;Box&gt;&#10;                &lt;Text style={{ fontSize: 19, fontWeight: 'bold', color: '#2E6F8E' }}&gt;mAP50（holdout 隔离口径）&lt;/Text&gt;&#10;                &lt;Text style={{ fontSize: 15, color: '#5F7080', marginTop: 8, lineHeight: 1.5 }}&gt;182 张隔离集汇报，调参只用 cal 178&lt;br /&gt;与全 val 口径 0.783 不可混用&lt;/Text&gt;&#10;            &lt;/Box&gt;&#10;        &lt;/Box&gt;&#10;&#10;        &lt;Box style={{ flex: 1, background: '#F2F5F7', borderLeft: '5px solid #2E6F8E', padding: 26, height: 186, justifyContent: 'space-between' }}&gt;&#10;            &lt;Text style={{ fontSize: 54, fontWeight: 'bold', color: '#22303E' }}&gt;0%&lt;/Text&gt;&#10;            &lt;Box&gt;&#10;                &lt;Text style={{ fontSize: 19, fontWeight: 'bold', color: '#2E6F8E' }}&gt;域外误检（DAGM 无缺陷图）&lt;/Text&gt;&#10;                &lt;Text style={{ fontSize: 15, color: '#5F7080', marginTop: 8, lineHeight: 1.5 }}&gt;基线模型原本高达 64.4%&lt;br /&gt;由双模型级联压制到零&lt;/Text&gt;&#10;            &lt;/Box&gt;&#10;        &lt;/Box&gt;&#10;    &lt;/Box&gt;&#10;&#10;    &lt;Box style={{ flexDirection: 'row', justifyContent: 'space-between', alignItems: 'center', borderTop: '1px solid #D6E0E9', paddingTop: 18 }}&gt;&#10;        &lt;Text style={{ fontSize: 16, color: '#5F7080' }}&gt;报告日期：2026-09-22　　数据截止：类别体系扩展与上位机联调完成（09-22）；板端级联服务生产运行&lt;/Text&gt;&#10;        &lt;Text style={{ fontSize: 16, color: '#93A5B3' }}&gt;第 1 页 · 共 10 页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504825" y="590550"/>
            <a:ext cx="381000" cy="3810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019175" y="4953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spc="225">
                <a:solidFill>
                  <a:srgbClr val="5F7080"/>
                </a:solidFill>
                <a:latin typeface="微软雅黑"/>
                <a:ea typeface="微软雅黑"/>
              </a:rPr>
              <a:t>深度学习</a:t>
            </a:r>
            <a:r>
              <a:rPr lang="en-US" sz="1425" spc="225">
                <a:solidFill>
                  <a:srgbClr val="5F7080"/>
                </a:solidFill>
                <a:latin typeface="微软雅黑"/>
                <a:ea typeface="微软雅黑"/>
              </a:rPr>
              <a:t> · </a:t>
            </a:r>
            <a:r>
              <a:rPr lang="zh-CN" sz="1425" spc="225">
                <a:solidFill>
                  <a:srgbClr val="5F7080"/>
                </a:solidFill>
                <a:latin typeface="微软雅黑"/>
                <a:ea typeface="微软雅黑"/>
              </a:rPr>
              <a:t>缺陷检测</a:t>
            </a:r>
            <a:r>
              <a:rPr lang="en-US" sz="1425" spc="225">
                <a:solidFill>
                  <a:srgbClr val="5F7080"/>
                </a:solidFill>
                <a:latin typeface="微软雅黑"/>
                <a:ea typeface="微软雅黑"/>
              </a:rPr>
              <a:t> · </a:t>
            </a:r>
            <a:r>
              <a:rPr lang="zh-CN" sz="1425" spc="225">
                <a:solidFill>
                  <a:srgbClr val="5F7080"/>
                </a:solidFill>
                <a:latin typeface="微软雅黑"/>
                <a:ea typeface="微软雅黑"/>
              </a:rPr>
              <a:t>边缘部署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04825" y="1038225"/>
            <a:ext cx="11182350" cy="76200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050" b="1">
                <a:solidFill>
                  <a:srgbClr val="22303E"/>
                </a:solidFill>
                <a:latin typeface="微软雅黑"/>
                <a:ea typeface="微软雅黑"/>
              </a:rPr>
              <a:t>基于</a:t>
            </a:r>
            <a:r>
              <a:rPr lang="en-US" sz="4050" b="1">
                <a:solidFill>
                  <a:srgbClr val="22303E"/>
                </a:solidFill>
                <a:latin typeface="微软雅黑"/>
                <a:ea typeface="微软雅黑"/>
              </a:rPr>
              <a:t> RK3588 </a:t>
            </a:r>
            <a:r>
              <a:rPr lang="zh-CN" sz="4050" b="1">
                <a:solidFill>
                  <a:srgbClr val="22303E"/>
                </a:solidFill>
                <a:latin typeface="微软雅黑"/>
                <a:ea typeface="微软雅黑"/>
              </a:rPr>
              <a:t>的轻量化工业缺陷检测系统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04825" y="1971675"/>
            <a:ext cx="11182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2E6F8E"/>
                </a:solidFill>
                <a:latin typeface="微软雅黑"/>
                <a:ea typeface="微软雅黑"/>
              </a:rPr>
              <a:t>模型训练与边缘部署分析报告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04825" y="2590800"/>
            <a:ext cx="1118235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5F7080"/>
                </a:solidFill>
                <a:latin typeface="微软雅黑"/>
                <a:ea typeface="微软雅黑"/>
              </a:rPr>
              <a:t>数据集构建</a:t>
            </a:r>
            <a:r>
              <a:rPr lang="en-US" sz="1575">
                <a:solidFill>
                  <a:srgbClr val="5F7080"/>
                </a:solidFill>
                <a:latin typeface="微软雅黑"/>
                <a:ea typeface="微软雅黑"/>
              </a:rPr>
              <a:t> · </a:t>
            </a:r>
            <a:r>
              <a:rPr lang="zh-CN" sz="1575">
                <a:solidFill>
                  <a:srgbClr val="5F7080"/>
                </a:solidFill>
                <a:latin typeface="微软雅黑"/>
                <a:ea typeface="微软雅黑"/>
              </a:rPr>
              <a:t>负样本闭环</a:t>
            </a:r>
            <a:r>
              <a:rPr lang="en-US" sz="1575">
                <a:solidFill>
                  <a:srgbClr val="5F7080"/>
                </a:solidFill>
                <a:latin typeface="微软雅黑"/>
                <a:ea typeface="微软雅黑"/>
              </a:rPr>
              <a:t> · </a:t>
            </a:r>
            <a:r>
              <a:rPr lang="zh-CN" sz="1575">
                <a:solidFill>
                  <a:srgbClr val="5F7080"/>
                </a:solidFill>
                <a:latin typeface="微软雅黑"/>
                <a:ea typeface="微软雅黑"/>
              </a:rPr>
              <a:t>双模型级联</a:t>
            </a:r>
            <a:r>
              <a:rPr lang="en-US" sz="1575">
                <a:solidFill>
                  <a:srgbClr val="5F7080"/>
                </a:solidFill>
                <a:latin typeface="微软雅黑"/>
                <a:ea typeface="微软雅黑"/>
              </a:rPr>
              <a:t> · </a:t>
            </a:r>
            <a:r>
              <a:rPr lang="zh-CN" sz="1575">
                <a:solidFill>
                  <a:srgbClr val="5F7080"/>
                </a:solidFill>
                <a:latin typeface="微软雅黑"/>
                <a:ea typeface="微软雅黑"/>
              </a:rPr>
              <a:t>类别扩展</a:t>
            </a:r>
            <a:r>
              <a:rPr lang="en-US" sz="1575">
                <a:solidFill>
                  <a:srgbClr val="5F7080"/>
                </a:solidFill>
                <a:latin typeface="微软雅黑"/>
                <a:ea typeface="微软雅黑"/>
              </a:rPr>
              <a:t> · </a:t>
            </a:r>
            <a:r>
              <a:rPr lang="zh-CN" sz="1575">
                <a:solidFill>
                  <a:srgbClr val="5F7080"/>
                </a:solidFill>
                <a:latin typeface="微软雅黑"/>
                <a:ea typeface="微软雅黑"/>
              </a:rPr>
              <a:t>板端工程闭环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52450" y="3933825"/>
            <a:ext cx="3562350" cy="17716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9" name=""/>
          <p:cNvSpPr/>
          <p:nvPr/>
        </p:nvSpPr>
        <p:spPr>
          <a:xfrm rot="0" flipH="0" flipV="0">
            <a:off x="504825" y="3933825"/>
            <a:ext cx="3609975" cy="1771650"/>
          </a:xfrm>
          <a:custGeom>
            <a:pathLst>
              <a:path w="379" h="186">
                <a:moveTo>
                  <a:pt x="0" y="0"/>
                </a:moveTo>
                <a:lnTo>
                  <a:pt x="5" y="0"/>
                </a:lnTo>
                <a:lnTo>
                  <a:pt x="5" y="186"/>
                </a:lnTo>
                <a:lnTo>
                  <a:pt x="0" y="186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4181475"/>
            <a:ext cx="3019425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22303E"/>
                </a:solidFill>
                <a:latin typeface="微软雅黑"/>
                <a:ea typeface="微软雅黑"/>
              </a:rPr>
              <a:t>16 </a:t>
            </a:r>
            <a:r>
              <a:rPr lang="zh-CN" sz="4050" b="1">
                <a:solidFill>
                  <a:srgbClr val="22303E"/>
                </a:solidFill>
                <a:latin typeface="微软雅黑"/>
                <a:ea typeface="微软雅黑"/>
              </a:rPr>
              <a:t>类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00100" y="4800600"/>
            <a:ext cx="3019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E6F8E"/>
                </a:solidFill>
                <a:latin typeface="微软雅黑"/>
                <a:ea typeface="微软雅黑"/>
              </a:rPr>
              <a:t>缺陷类别体系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00100" y="5095875"/>
            <a:ext cx="301942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F7080"/>
                </a:solidFill>
                <a:latin typeface="微软雅黑"/>
                <a:ea typeface="微软雅黑"/>
              </a:rPr>
              <a:t>已实测部署</a:t>
            </a:r>
            <a:r>
              <a:rPr lang="en-US" sz="1125">
                <a:solidFill>
                  <a:srgbClr val="5F7080"/>
                </a:solidFill>
                <a:latin typeface="微软雅黑"/>
                <a:ea typeface="微软雅黑"/>
              </a:rPr>
              <a:t> 6 </a:t>
            </a:r>
            <a:r>
              <a:rPr lang="zh-CN" sz="1125">
                <a:solidFill>
                  <a:srgbClr val="5F7080"/>
                </a:solidFill>
                <a:latin typeface="微软雅黑"/>
                <a:ea typeface="微软雅黑"/>
              </a:rPr>
              <a:t>类（</a:t>
            </a:r>
            <a:r>
              <a:rPr lang="en-US" sz="1125">
                <a:solidFill>
                  <a:srgbClr val="5F7080"/>
                </a:solidFill>
                <a:latin typeface="微软雅黑"/>
                <a:ea typeface="微软雅黑"/>
              </a:rPr>
              <a:t>NEU-DET </a:t>
            </a:r>
            <a:r>
              <a:rPr lang="zh-CN" sz="1125">
                <a:solidFill>
                  <a:srgbClr val="5F7080"/>
                </a:solidFill>
                <a:latin typeface="微软雅黑"/>
                <a:ea typeface="微软雅黑"/>
              </a:rPr>
              <a:t>热轧带钢）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F7080"/>
                </a:solidFill>
                <a:latin typeface="微软雅黑"/>
                <a:ea typeface="微软雅黑"/>
              </a:rPr>
              <a:t>扩展至</a:t>
            </a:r>
            <a:r>
              <a:rPr lang="en-US" sz="1125">
                <a:solidFill>
                  <a:srgbClr val="5F7080"/>
                </a:solidFill>
                <a:latin typeface="微软雅黑"/>
                <a:ea typeface="微软雅黑"/>
              </a:rPr>
              <a:t> 16 </a:t>
            </a:r>
            <a:r>
              <a:rPr lang="zh-CN" sz="1125">
                <a:solidFill>
                  <a:srgbClr val="5F7080"/>
                </a:solidFill>
                <a:latin typeface="微软雅黑"/>
                <a:ea typeface="微软雅黑"/>
              </a:rPr>
              <a:t>类全链路，扩展类待重训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4362450" y="3933825"/>
            <a:ext cx="3562350" cy="17716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4314825" y="3933825"/>
            <a:ext cx="3609975" cy="1771650"/>
          </a:xfrm>
          <a:custGeom>
            <a:pathLst>
              <a:path w="379" h="186">
                <a:moveTo>
                  <a:pt x="0" y="0"/>
                </a:moveTo>
                <a:lnTo>
                  <a:pt x="5" y="0"/>
                </a:lnTo>
                <a:lnTo>
                  <a:pt x="5" y="186"/>
                </a:lnTo>
                <a:lnTo>
                  <a:pt x="0" y="186"/>
                </a:lnTo>
                <a:close/>
              </a:path>
            </a:pathLst>
          </a:custGeom>
          <a:solidFill>
            <a:srgbClr val="E8A23B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610100" y="4181475"/>
            <a:ext cx="3019425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22303E"/>
                </a:solidFill>
                <a:latin typeface="微软雅黑"/>
                <a:ea typeface="微软雅黑"/>
              </a:rPr>
              <a:t>0.7393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610100" y="4800600"/>
            <a:ext cx="3019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E6F8E"/>
                </a:solidFill>
                <a:latin typeface="微软雅黑"/>
                <a:ea typeface="微软雅黑"/>
              </a:rPr>
              <a:t>mAP50</a:t>
            </a:r>
            <a:r>
              <a:rPr lang="zh-CN" sz="1425" b="1">
                <a:solidFill>
                  <a:srgbClr val="2E6F8E"/>
                </a:solidFill>
                <a:latin typeface="微软雅黑"/>
                <a:ea typeface="微软雅黑"/>
              </a:rPr>
              <a:t>（</a:t>
            </a:r>
            <a:r>
              <a:rPr lang="en-US" sz="1425" b="1">
                <a:solidFill>
                  <a:srgbClr val="2E6F8E"/>
                </a:solidFill>
                <a:latin typeface="微软雅黑"/>
                <a:ea typeface="微软雅黑"/>
              </a:rPr>
              <a:t>holdout </a:t>
            </a:r>
            <a:r>
              <a:rPr lang="zh-CN" sz="1425" b="1">
                <a:solidFill>
                  <a:srgbClr val="2E6F8E"/>
                </a:solidFill>
                <a:latin typeface="微软雅黑"/>
                <a:ea typeface="微软雅黑"/>
              </a:rPr>
              <a:t>隔离口径）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610100" y="5095875"/>
            <a:ext cx="301942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F7080"/>
                </a:solidFill>
                <a:latin typeface="微软雅黑"/>
                <a:ea typeface="微软雅黑"/>
              </a:rPr>
              <a:t>182 </a:t>
            </a:r>
            <a:r>
              <a:rPr lang="zh-CN" sz="1125">
                <a:solidFill>
                  <a:srgbClr val="5F7080"/>
                </a:solidFill>
                <a:latin typeface="微软雅黑"/>
                <a:ea typeface="微软雅黑"/>
              </a:rPr>
              <a:t>张隔离集汇报，调参只用</a:t>
            </a:r>
            <a:r>
              <a:rPr lang="en-US" sz="1125">
                <a:solidFill>
                  <a:srgbClr val="5F7080"/>
                </a:solidFill>
                <a:latin typeface="微软雅黑"/>
                <a:ea typeface="微软雅黑"/>
              </a:rPr>
              <a:t> cal 178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F7080"/>
                </a:solidFill>
                <a:latin typeface="微软雅黑"/>
                <a:ea typeface="微软雅黑"/>
              </a:rPr>
              <a:t>与全</a:t>
            </a:r>
            <a:r>
              <a:rPr lang="en-US" sz="1125">
                <a:solidFill>
                  <a:srgbClr val="5F7080"/>
                </a:solidFill>
                <a:latin typeface="微软雅黑"/>
                <a:ea typeface="微软雅黑"/>
              </a:rPr>
              <a:t> val </a:t>
            </a:r>
            <a:r>
              <a:rPr lang="zh-CN" sz="1125">
                <a:solidFill>
                  <a:srgbClr val="5F7080"/>
                </a:solidFill>
                <a:latin typeface="微软雅黑"/>
                <a:ea typeface="微软雅黑"/>
              </a:rPr>
              <a:t>口径</a:t>
            </a:r>
            <a:r>
              <a:rPr lang="en-US" sz="1125">
                <a:solidFill>
                  <a:srgbClr val="5F7080"/>
                </a:solidFill>
                <a:latin typeface="微软雅黑"/>
                <a:ea typeface="微软雅黑"/>
              </a:rPr>
              <a:t> 0.783 </a:t>
            </a:r>
            <a:r>
              <a:rPr lang="zh-CN" sz="1125">
                <a:solidFill>
                  <a:srgbClr val="5F7080"/>
                </a:solidFill>
                <a:latin typeface="微软雅黑"/>
                <a:ea typeface="微软雅黑"/>
              </a:rPr>
              <a:t>不可混用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8172450" y="3933825"/>
            <a:ext cx="3562350" cy="17716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8124825" y="3933825"/>
            <a:ext cx="3609975" cy="1771650"/>
          </a:xfrm>
          <a:custGeom>
            <a:pathLst>
              <a:path w="379" h="186">
                <a:moveTo>
                  <a:pt x="0" y="0"/>
                </a:moveTo>
                <a:lnTo>
                  <a:pt x="5" y="0"/>
                </a:lnTo>
                <a:lnTo>
                  <a:pt x="5" y="186"/>
                </a:lnTo>
                <a:lnTo>
                  <a:pt x="0" y="186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420100" y="4181475"/>
            <a:ext cx="3019425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22303E"/>
                </a:solidFill>
                <a:latin typeface="微软雅黑"/>
                <a:ea typeface="微软雅黑"/>
              </a:rPr>
              <a:t>0%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420100" y="4800600"/>
            <a:ext cx="3019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E6F8E"/>
                </a:solidFill>
                <a:latin typeface="微软雅黑"/>
                <a:ea typeface="微软雅黑"/>
              </a:rPr>
              <a:t>域外误检（</a:t>
            </a:r>
            <a:r>
              <a:rPr lang="en-US" sz="1425" b="1">
                <a:solidFill>
                  <a:srgbClr val="2E6F8E"/>
                </a:solidFill>
                <a:latin typeface="微软雅黑"/>
                <a:ea typeface="微软雅黑"/>
              </a:rPr>
              <a:t>DAGM </a:t>
            </a:r>
            <a:r>
              <a:rPr lang="zh-CN" sz="1425" b="1">
                <a:solidFill>
                  <a:srgbClr val="2E6F8E"/>
                </a:solidFill>
                <a:latin typeface="微软雅黑"/>
                <a:ea typeface="微软雅黑"/>
              </a:rPr>
              <a:t>无缺陷图）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420100" y="5095875"/>
            <a:ext cx="301942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F7080"/>
                </a:solidFill>
                <a:latin typeface="微软雅黑"/>
                <a:ea typeface="微软雅黑"/>
              </a:rPr>
              <a:t>基线模型原本高达</a:t>
            </a:r>
            <a:r>
              <a:rPr lang="en-US" sz="1125">
                <a:solidFill>
                  <a:srgbClr val="5F7080"/>
                </a:solidFill>
                <a:latin typeface="微软雅黑"/>
                <a:ea typeface="微软雅黑"/>
              </a:rPr>
              <a:t> 64.4%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F7080"/>
                </a:solidFill>
                <a:latin typeface="微软雅黑"/>
                <a:ea typeface="微软雅黑"/>
              </a:rPr>
              <a:t>由双模型级联压制到零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04825" y="6143625"/>
            <a:ext cx="11182350" cy="381000"/>
          </a:xfrm>
          <a:custGeom>
            <a:pathLst>
              <a:path w="1174" h="40">
                <a:moveTo>
                  <a:pt x="0" y="0"/>
                </a:moveTo>
                <a:lnTo>
                  <a:pt x="1174" y="0"/>
                </a:lnTo>
                <a:lnTo>
                  <a:pt x="1174" y="1"/>
                </a:lnTo>
                <a:lnTo>
                  <a:pt x="0" y="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04825" y="6324600"/>
            <a:ext cx="7115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报告日期：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2026-09-22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　　数据截止：类别体系扩展与上位机联调完成（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09-22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）；板端级联服务生产运行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487025" y="6324600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3A5B3"/>
                </a:solidFill>
                <a:latin typeface="微软雅黑"/>
                <a:ea typeface="微软雅黑"/>
              </a:rPr>
              <a:t>第</a:t>
            </a:r>
            <a:r>
              <a:rPr lang="en-US" sz="1200">
                <a:solidFill>
                  <a:srgbClr val="93A5B3"/>
                </a:solidFill>
                <a:latin typeface="微软雅黑"/>
                <a:ea typeface="微软雅黑"/>
              </a:rPr>
              <a:t> 1 </a:t>
            </a:r>
            <a:r>
              <a:rPr lang="zh-CN" sz="1200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r>
              <a:rPr lang="en-US" sz="1200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1200">
                <a:solidFill>
                  <a:srgbClr val="93A5B3"/>
                </a:solidFill>
                <a:latin typeface="微软雅黑"/>
                <a:ea typeface="微软雅黑"/>
              </a:rPr>
              <a:t>共</a:t>
            </a:r>
            <a:r>
              <a:rPr lang="en-US" sz="1200">
                <a:solidFill>
                  <a:srgbClr val="93A5B3"/>
                </a:solidFill>
                <a:latin typeface="微软雅黑"/>
                <a:ea typeface="微软雅黑"/>
              </a:rPr>
              <a:t> 10 </a:t>
            </a:r>
            <a:r>
              <a:rPr lang="zh-CN" sz="1200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p/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72" name="" descr="&lt;Slide&#10;    style={{&#10;        width: '1280px',&#10;        height: '720px',&#10;        background: '#FFFFFF',&#10;        fontFamily: '微软雅黑',&#10;        paddingLeft: 53,&#10;        paddingRight: 53,&#10;        paddingTop: 40,&#10;        paddingBottom: 30,&#10;    }}&#10;&gt;&#10;    &lt;Box style={{ flexDirection: 'row', alignItems: 'center', gap: 12 }}&gt;&#10;        &lt;Box style={{ width: 6, height: 30, background: '#2E6F8E' }} /&gt;&#10;        &lt;Text style={{ fontSize: 32, fontWeight: 'bold', color: '#22303E' }}&gt;项目总览：从数据闭环到双模型级联上板&lt;/Text&gt;&#10;    &lt;/Box&gt;&#10;&#10;    &lt;Text style={{ fontSize: 17, color: '#5F7080', marginTop: 12, marginLeft: 18 }}&gt;&#10;        方向：把热轧带钢表面缺陷检测跑在 RK3588 上 —— 数据集 → 基线训练 → 负样本闭环 → 级联架构 → 口径冻结 → 工程收尾 → 类别扩展&#10;    &lt;/Text&gt;&#10;&#10;    &lt;Box style={{ flexDirection: 'row', gap: 18, marginTop: 22 }}&gt;&#10;        &lt;Box style={{ flex: 1, background: '#F2F5F7', borderTop: '4px solid #2E6F8E', padding: 18, height: 132 }}&gt;&#10;            &lt;Text style={{ fontSize: 40, fontWeight: 'bold', color: '#22303E' }}&gt;16 类&lt;/Text&gt;&#10;            &lt;Text style={{ fontSize: 15, fontWeight: 'bold', color: '#2E6F8E', marginTop: 8 }}&gt;缺陷类别体系（实测 6 类）&lt;/Text&gt;&#10;            &lt;Text style={{ fontSize: 13, color: '#5F7080', marginTop: 6, lineHeight: 1.45 }}&gt;NEU-DET 每类 300 张；扩展类待重训&lt;/Text&gt;&#10;        &lt;/Box&gt;&#10;&#10;        &lt;Box style={{ flex: 1, background: '#F2F5F7', borderTop: '4px solid #E8A23B', padding: 18, height: 132 }}&gt;&#10;            &lt;Text style={{ fontSize: 40, fontWeight: 'bold', color: '#22303E' }}&gt;0.7393&lt;/Text&gt;&#10;            &lt;Text style={{ fontSize: 15, fontWeight: 'bold', color: '#2E6F8E', marginTop: 8 }}&gt;holdout mAP50（隔离口径）&lt;/Text&gt;&#10;            &lt;Text style={{ fontSize: 13, color: '#5F7080', marginTop: 6, lineHeight: 1.45 }}&gt;Precision 0.6619 / Recall 0.7757&lt;/Text&gt;&#10;        &lt;/Box&gt;&#10;&#10;        &lt;Box style={{ flex: 1, background: '#F2F5F7', borderTop: '4px solid #2E6F8E', padding: 18, height: 132 }}&gt;&#10;            &lt;Text style={{ fontSize: 40, fontWeight: 'bold', color: '#22303E' }}&gt;0%&lt;/Text&gt;&#10;            &lt;Text style={{ fontSize: 15, fontWeight: 'bold', color: '#2E6F8E', marginTop: 8 }}&gt;域外误检（DAGM 负样本池）&lt;/Text&gt;&#10;            &lt;Text style={{ fontSize: 13, color: '#5F7080', marginTop: 6, lineHeight: 1.45 }}&gt;基线 64.4%，级联后归零并保持&lt;/Text&gt;&#10;        &lt;/Box&gt;&#10;&#10;        &lt;Box style={{ flex: 1, background: '#F2F5F7', borderTop: '4px solid #E8A23B', padding: 18, height: 132 }}&gt;&#10;            &lt;Text style={{ fontSize: 40, fontWeight: 'bold', color: '#22303E' }}&gt;196ms&lt;/Text&gt;&#10;            &lt;Text style={{ fontSize: 15, fontWeight: 'bold', color: '#2E6F8E', marginTop: 8 }}&gt;板端推理延迟 p50&lt;/Text&gt;&#10;            &lt;Text style={{ fontSize: 13, color: '#5F7080', marginTop: 6, lineHeight: 1.45 }}&gt;609 帧实测，p95 216ms，约 5 FPS&lt;/Text&gt;&#10;        &lt;/Box&gt;&#10;    &lt;/Box&gt;&#10;&#10;    &lt;Box style={{ flexDirection: 'row', gap: 18, marginTop: 22 }}&gt;&#10;        &lt;Box style={{ flex: 1 }}&gt;&#10;            &lt;Box style={{ flexDirection: 'row', alignItems: 'center', gap: 10, marginBottom: 12 }}&gt;&#10;                &lt;Box style={{ width: 4, height: 20, background: '#E8A23B' }} /&gt;&#10;                &lt;Text style={{ fontSize: 20, fontWeight: 'bold', color: '#22303E' }}&gt;推进时间线&lt;/Text&gt;&#10;            &lt;/Box&gt;&#10;&#10;            &lt;Box style={{ flexDirection: 'row', gap: 12, alignItems: 'flex-start', marginBottom: 11 }}&gt;&#10;                &lt;Box style={{ width: 10, height: 10, borderRadius: 5, background: '#2E6F8E', marginTop: 6 }} /&gt;&#10;                &lt;Box style={{ flex: 1, flexDirection: 'row', gap: 10 }}&gt;&#10;                    &lt;Text style={{ fontSize: 14, fontWeight: 'bold', color: '#2E6F8E', width: 118 }}&gt;09-14 ~ 09-17&lt;/Text&gt;&#10;                    &lt;Box style={{ flex: 1 }}&gt;&#10;                        &lt;Text style={{ fontSize: 14, fontWeight: 'bold', color: '#22303E' }}&gt;数据集与基线训练&lt;/Text&gt;&#10;                        &lt;Text style={{ fontSize: 13, color: '#5F7080', lineHeight: 1.4 }}&gt;NEU-DET 1800 张入训；_640 基线全 val mAP50 0.783；增强集经查为&quot;假增强&quot;，已修复并验证&lt;/Text&gt;&#10;                    &lt;/Box&gt;&#10;                &lt;/Box&gt;&#10;            &lt;/Box&gt;&#10;&#10;            &lt;Box style={{ flexDirection: 'row', gap: 12, alignItems: 'flex-start', marginBottom: 11 }}&gt;&#10;                &lt;Box style={{ width: 10, height: 10, borderRadius: 5, background: '#2E6F8E', marginTop: 6 }} /&gt;&#10;                &lt;Box style={{ flex: 1, flexDirection: 'row', gap: 10 }}&gt;&#10;                    &lt;Text style={{ fontSize: 14, fontWeight: 'bold', color: '#2E6F8E', width: 118 }}&gt;09-18&lt;/Text&gt;&#10;                    &lt;Box style={{ flex: 1 }}&gt;&#10;                        &lt;Text style={{ fontSize: 14, fontWeight: 'bold', color: '#22303E' }}&gt;负样本闭环（发现 tradeoff）&lt;/Text&gt;&#10;                        &lt;Text style={{ fontSize: 13, color: '#5F7080', lineHeight: 1.4 }}&gt;DAGM 6000 张无缺陷图入训：误检 64.4% → 0%，但 180 图 top1 97.8% → 95.6%&lt;/Text&gt;&#10;                    &lt;/Box&gt;&#10;                &lt;/Box&gt;&#10;            &lt;/Box&gt;&#10;&#10;            &lt;Box style={{ flexDirection: 'row', gap: 12, alignItems: 'flex-start', marginBottom: 11 }}&gt;&#10;                &lt;Box style={{ width: 10, height: 10, borderRadius: 5, background: '#E8A23B', marginTop: 6 }} /&gt;&#10;                &lt;Box style={{ flex: 1, flexDirection: 'row', gap: 10 }}&gt;&#10;                    &lt;Text style={{ fontSize: 14, fontWeight: 'bold', color: '#E8A23B', width: 118 }}&gt;09-19&lt;/Text&gt;&#10;                    &lt;Box style={{ flex: 1 }}&gt;&#10;                        &lt;Text style={{ fontSize: 14, fontWeight: 'bold', color: '#22303E' }}&gt;双模型级联上板（破局）&lt;/Text&gt;&#10;                        &lt;Text style={{ fontSize: 13, color: '#5F7080', lineHeight: 1.4 }}&gt;filter 判有无 + _640 判类别：误检 0% 与 top1 97.8% 兼得，上位机协议零改动&lt;/Text&gt;&#10;                    &lt;/Box&gt;&#10;                &lt;/Box&gt;&#10;            &lt;/Box&gt;&#10;&#10;            &lt;Box style={{ flexDirection: 'row', gap: 12, alignItems: 'flex-start', marginBottom: 11 }}&gt;&#10;                &lt;Box style={{ width: 10, height: 10, borderRadius: 5, background: '#2E6F8E', marginTop: 6 }} /&gt;&#10;                &lt;Box style={{ flex: 1, flexDirection: 'row', gap: 10 }}&gt;&#10;                    &lt;Text style={{ fontSize: 14, fontWeight: 'bold', color: '#2E6F8E', width: 118 }}&gt;09-20&lt;/Text&gt;&#10;                    &lt;Box style={{ flex: 1 }}&gt;&#10;                        &lt;Text style={{ fontSize: 14, fontWeight: 'bold', color: '#22303E' }}&gt;评估口径冻结&lt;/Text&gt;&#10;                        &lt;Text style={{ fontSize: 13, color: '#5F7080', lineHeight: 1.4 }}&gt;val 360 切 cal 178 / holdout 182；统一评估脚本 + 6×6 混淆矩阵，结论不再自证&lt;/Text&gt;&#10;                    &lt;/Box&gt;&#10;                &lt;/Box&gt;&#10;            &lt;/Box&gt;&#10;&#10;            &lt;Box style={{ flexDirection: 'row', gap: 12, alignItems: 'flex-start' }}&gt;&#10;                &lt;Box style={{ width: 10, height: 10, borderRadius: 5, background: '#E8A23B', marginTop: 6 }} /&gt;&#10;                &lt;Box style={{ flex: 1, flexDirection: 'row', gap: 10 }}&gt;&#10;                    &lt;Text style={{ fontSize: 14, fontWeight: 'bold', color: '#E8A23B', width: 118 }}&gt;09-21 ~ 09-22&lt;/Text&gt;&#10;                    &lt;Box style={{ flex: 1 }}&gt;&#10;                        &lt;Text style={{ fontSize: 14, fontWeight: 'bold', color: '#22303E' }}&gt;工程收尾 · 类别扩展 · 联调&lt;/Text&gt;&#10;                        &lt;Text style={{ fontSize: 13, color: '#5F7080', lineHeight: 1.4 }}&gt;step 按需推帧 + 四套长期机制挂机；类别 6 → 16 类全链路打通，上位机口径与配色修复&lt;/Text&gt;&#10;                    &lt;/Box&gt;&#10;                &lt;/Box&gt;&#10;            &lt;/Box&gt;&#10;        &lt;/Box&gt;&#10;&#10;        &lt;Box style={{ width: 330, background: '#F2F5F7', borderLeft: '4px solid #22303E', padding: 18 }}&gt;&#10;            &lt;Text style={{ fontSize: 20, fontWeight: 'bold', color: '#22303E', marginBottom: 12 }}&gt;主线结论&lt;/Text&gt;&#10;            &lt;Text style={{ fontSize: 14, color: '#22303E', lineHeight: 1.65 }}&gt;&#10;                &lt;span style={{ fontWeight: 'bold', color: '#2E6F8E' }}&gt;主矛盾&lt;/span&gt;：不是精度不够，而是&quot;误检与 top1 的 tradeoff&quot;。&lt;br /&gt;&lt;br /&gt;&#10;                &lt;span style={{ fontWeight: 'bold', color: '#2E6F8E' }}&gt;破局方式&lt;/span&gt;：不靠调参，靠结构 —— 双模型级联把两个目标拆给两个模型。&lt;br /&gt;&lt;br /&gt;&#10;                &lt;span style={{ fontWeight: 'bold', color: '#2E6F8E' }}&gt;口径纪律&lt;/span&gt;：调参只用 cal，汇报只用 holdout，避免评估集过拟合。&lt;br /&gt;&lt;br /&gt;&#10;                &lt;span style={{ fontWeight: 'bold', color: '#E8A23B' }}&gt;当前重心&lt;/span&gt;：从&quot;训得更好&quot;转向&quot;跑得更稳&quot;，并把类别体系扩到 16 类。&#10;            &lt;/Text&gt;&#10;        &lt;/Box&gt;&#10;    &lt;/Box&gt;&#10;&#10;    &lt;Box style={{ flexDirection: 'row', justifyContent: 'space-between', alignItems: 'center', borderTop: '1px solid #D6E0E9', paddingTop: 12, marginTop: 14 }}&gt;&#10;        &lt;Text style={{ fontSize: 14, color: '#93A5B3' }}&gt;基于 RK3588 的轻量化工业缺陷检测系统 · 模型训练与边缘部署分析&lt;/Text&gt;&#10;        &lt;Text style={{ fontSize: 14, color: '#93A5B3' }}&gt;第 2 页 · 共 10 页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504825" y="428625"/>
            <a:ext cx="57150" cy="2857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76275" y="381000"/>
            <a:ext cx="5486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22303E"/>
                </a:solidFill>
                <a:latin typeface="微软雅黑"/>
                <a:ea typeface="微软雅黑"/>
              </a:rPr>
              <a:t>项目总览：从数据闭环到双模型级联上板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76275" y="866775"/>
            <a:ext cx="1101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方向：把热轧带钢表面缺陷检测跑在</a:t>
            </a: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 RK3588 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上</a:t>
            </a: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 —— 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数据集</a:t>
            </a: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基线训练</a:t>
            </a: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负样本闭环</a:t>
            </a: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级联架构</a:t>
            </a: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口径冻结</a:t>
            </a: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工程收尾</a:t>
            </a: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类别扩展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504825" y="1314450"/>
            <a:ext cx="2667000" cy="12192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504825" y="1276350"/>
            <a:ext cx="2667000" cy="1257300"/>
          </a:xfrm>
          <a:custGeom>
            <a:pathLst>
              <a:path w="280" h="132">
                <a:moveTo>
                  <a:pt x="0" y="0"/>
                </a:moveTo>
                <a:lnTo>
                  <a:pt x="280" y="0"/>
                </a:lnTo>
                <a:lnTo>
                  <a:pt x="280" y="4"/>
                </a:lnTo>
                <a:lnTo>
                  <a:pt x="0" y="4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76275" y="1485900"/>
            <a:ext cx="2324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2303E"/>
                </a:solidFill>
                <a:latin typeface="微软雅黑"/>
                <a:ea typeface="微软雅黑"/>
              </a:rPr>
              <a:t>16 </a:t>
            </a:r>
            <a:r>
              <a:rPr lang="zh-CN" sz="3000" b="1">
                <a:solidFill>
                  <a:srgbClr val="22303E"/>
                </a:solidFill>
                <a:latin typeface="微软雅黑"/>
                <a:ea typeface="微软雅黑"/>
              </a:rPr>
              <a:t>类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76275" y="201930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E6F8E"/>
                </a:solidFill>
                <a:latin typeface="微软雅黑"/>
                <a:ea typeface="微软雅黑"/>
              </a:rPr>
              <a:t>缺陷类别体系（实测</a:t>
            </a:r>
            <a:r>
              <a:rPr lang="en-US" sz="1125" b="1">
                <a:solidFill>
                  <a:srgbClr val="2E6F8E"/>
                </a:solidFill>
                <a:latin typeface="微软雅黑"/>
                <a:ea typeface="微软雅黑"/>
              </a:rPr>
              <a:t> 6 </a:t>
            </a:r>
            <a:r>
              <a:rPr lang="zh-CN" sz="1125" b="1">
                <a:solidFill>
                  <a:srgbClr val="2E6F8E"/>
                </a:solidFill>
                <a:latin typeface="微软雅黑"/>
                <a:ea typeface="微软雅黑"/>
              </a:rPr>
              <a:t>类）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76275" y="2247900"/>
            <a:ext cx="23241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NEU-DET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每类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300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张；扩展类待重训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3343275" y="1314450"/>
            <a:ext cx="2667000" cy="12192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3343275" y="1276350"/>
            <a:ext cx="2667000" cy="1257300"/>
          </a:xfrm>
          <a:custGeom>
            <a:pathLst>
              <a:path w="280" h="132">
                <a:moveTo>
                  <a:pt x="0" y="0"/>
                </a:moveTo>
                <a:lnTo>
                  <a:pt x="280" y="0"/>
                </a:lnTo>
                <a:lnTo>
                  <a:pt x="280" y="4"/>
                </a:lnTo>
                <a:lnTo>
                  <a:pt x="0" y="4"/>
                </a:lnTo>
                <a:close/>
              </a:path>
            </a:pathLst>
          </a:custGeom>
          <a:solidFill>
            <a:srgbClr val="E8A23B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514725" y="1485900"/>
            <a:ext cx="2324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2303E"/>
                </a:solidFill>
                <a:latin typeface="微软雅黑"/>
                <a:ea typeface="微软雅黑"/>
              </a:rPr>
              <a:t>0.7393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514725" y="201930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E6F8E"/>
                </a:solidFill>
                <a:latin typeface="微软雅黑"/>
                <a:ea typeface="微软雅黑"/>
              </a:rPr>
              <a:t>holdout mAP50</a:t>
            </a:r>
            <a:r>
              <a:rPr lang="zh-CN" sz="1125" b="1">
                <a:solidFill>
                  <a:srgbClr val="2E6F8E"/>
                </a:solidFill>
                <a:latin typeface="微软雅黑"/>
                <a:ea typeface="微软雅黑"/>
              </a:rPr>
              <a:t>（隔离口径）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514725" y="2247900"/>
            <a:ext cx="23241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Precision 0.6619 / Recall 0.7757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181725" y="1314450"/>
            <a:ext cx="2667000" cy="12192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6181725" y="1276350"/>
            <a:ext cx="2667000" cy="1257300"/>
          </a:xfrm>
          <a:custGeom>
            <a:pathLst>
              <a:path w="280" h="132">
                <a:moveTo>
                  <a:pt x="0" y="0"/>
                </a:moveTo>
                <a:lnTo>
                  <a:pt x="280" y="0"/>
                </a:lnTo>
                <a:lnTo>
                  <a:pt x="280" y="4"/>
                </a:lnTo>
                <a:lnTo>
                  <a:pt x="0" y="4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353175" y="1485900"/>
            <a:ext cx="2324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2303E"/>
                </a:solidFill>
                <a:latin typeface="微软雅黑"/>
                <a:ea typeface="微软雅黑"/>
              </a:rPr>
              <a:t>0%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353175" y="201930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E6F8E"/>
                </a:solidFill>
                <a:latin typeface="微软雅黑"/>
                <a:ea typeface="微软雅黑"/>
              </a:rPr>
              <a:t>域外误检（</a:t>
            </a:r>
            <a:r>
              <a:rPr lang="en-US" sz="1125" b="1">
                <a:solidFill>
                  <a:srgbClr val="2E6F8E"/>
                </a:solidFill>
                <a:latin typeface="微软雅黑"/>
                <a:ea typeface="微软雅黑"/>
              </a:rPr>
              <a:t>DAGM </a:t>
            </a:r>
            <a:r>
              <a:rPr lang="zh-CN" sz="1125" b="1">
                <a:solidFill>
                  <a:srgbClr val="2E6F8E"/>
                </a:solidFill>
                <a:latin typeface="微软雅黑"/>
                <a:ea typeface="微软雅黑"/>
              </a:rPr>
              <a:t>负样本池）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353175" y="2247900"/>
            <a:ext cx="23241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基线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64.4%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，级联后归零并保持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9020175" y="1314450"/>
            <a:ext cx="2667000" cy="12192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9020175" y="1276350"/>
            <a:ext cx="2667000" cy="1257300"/>
          </a:xfrm>
          <a:custGeom>
            <a:pathLst>
              <a:path w="280" h="132">
                <a:moveTo>
                  <a:pt x="0" y="0"/>
                </a:moveTo>
                <a:lnTo>
                  <a:pt x="280" y="0"/>
                </a:lnTo>
                <a:lnTo>
                  <a:pt x="280" y="4"/>
                </a:lnTo>
                <a:lnTo>
                  <a:pt x="0" y="4"/>
                </a:lnTo>
                <a:close/>
              </a:path>
            </a:pathLst>
          </a:custGeom>
          <a:solidFill>
            <a:srgbClr val="E8A23B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191625" y="1485900"/>
            <a:ext cx="2324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2303E"/>
                </a:solidFill>
                <a:latin typeface="微软雅黑"/>
                <a:ea typeface="微软雅黑"/>
              </a:rPr>
              <a:t>196ms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191625" y="201930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E6F8E"/>
                </a:solidFill>
                <a:latin typeface="微软雅黑"/>
                <a:ea typeface="微软雅黑"/>
              </a:rPr>
              <a:t>板端推理延迟</a:t>
            </a:r>
            <a:r>
              <a:rPr lang="en-US" sz="1125" b="1">
                <a:solidFill>
                  <a:srgbClr val="2E6F8E"/>
                </a:solidFill>
                <a:latin typeface="微软雅黑"/>
                <a:ea typeface="微软雅黑"/>
              </a:rPr>
              <a:t> p50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9191625" y="2247900"/>
            <a:ext cx="23241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609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帧实测，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p95 216ms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，约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5 FPS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504825" y="2762250"/>
            <a:ext cx="38100" cy="19050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38175" y="274320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303E"/>
                </a:solidFill>
                <a:latin typeface="微软雅黑"/>
                <a:ea typeface="微软雅黑"/>
              </a:rPr>
              <a:t>推进时间线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504825" y="3143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14375" y="3086100"/>
            <a:ext cx="11239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E6F8E"/>
                </a:solidFill>
                <a:latin typeface="微软雅黑"/>
                <a:ea typeface="微软雅黑"/>
              </a:rPr>
              <a:t>09-14 ~ 09-17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933575" y="3086100"/>
            <a:ext cx="643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数据集与基线训练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933575" y="3248025"/>
            <a:ext cx="64389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NEU-DET 1800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张入训；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_640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基线全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val mAP50 0.783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；增强集经查为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假增强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，已修复并验证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504825" y="36195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14375" y="3562350"/>
            <a:ext cx="11239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E6F8E"/>
                </a:solidFill>
                <a:latin typeface="微软雅黑"/>
                <a:ea typeface="微软雅黑"/>
              </a:rPr>
              <a:t>09-18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933575" y="3562350"/>
            <a:ext cx="643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负样本闭环（发现</a:t>
            </a: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 tradeoff</a:t>
            </a: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933575" y="3724275"/>
            <a:ext cx="64389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DAGM 6000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张无缺陷图入训：误检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64.4% → 0%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，但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180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图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top1 97.8% → 95.6%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04825" y="4095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14375" y="4038600"/>
            <a:ext cx="11239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8A23B"/>
                </a:solidFill>
                <a:latin typeface="微软雅黑"/>
                <a:ea typeface="微软雅黑"/>
              </a:rPr>
              <a:t>09-19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933575" y="4038600"/>
            <a:ext cx="643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双模型级联上板（破局）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933575" y="4200525"/>
            <a:ext cx="64389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filter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判有无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+ _640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判类别：误检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0%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与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top1 97.8%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兼得，上位机协议零改动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504825" y="4572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14375" y="4514850"/>
            <a:ext cx="11239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E6F8E"/>
                </a:solidFill>
                <a:latin typeface="微软雅黑"/>
                <a:ea typeface="微软雅黑"/>
              </a:rPr>
              <a:t>09-20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933575" y="4514850"/>
            <a:ext cx="643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评估口径冻结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933575" y="4676775"/>
            <a:ext cx="64389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val 360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切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cal 178 / holdout 182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；统一评估脚本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+ 6×6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混淆矩阵，结论不再自证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504825" y="5048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14375" y="4991100"/>
            <a:ext cx="11239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8A23B"/>
                </a:solidFill>
                <a:latin typeface="微软雅黑"/>
                <a:ea typeface="微软雅黑"/>
              </a:rPr>
              <a:t>09-21 ~ 09-22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933575" y="4991100"/>
            <a:ext cx="643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工程收尾</a:t>
            </a: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 · </a:t>
            </a: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类别扩展</a:t>
            </a: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 · </a:t>
            </a: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联调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933575" y="5153025"/>
            <a:ext cx="64389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step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按需推帧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+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四套长期机制挂机；类别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6 → 16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类全链路打通，上位机口径与配色修复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8582025" y="2743200"/>
            <a:ext cx="3105150" cy="3590925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8543925" y="2743200"/>
            <a:ext cx="3143250" cy="3590925"/>
          </a:xfrm>
          <a:custGeom>
            <a:pathLst>
              <a:path w="330" h="377">
                <a:moveTo>
                  <a:pt x="0" y="0"/>
                </a:moveTo>
                <a:lnTo>
                  <a:pt x="4" y="0"/>
                </a:lnTo>
                <a:lnTo>
                  <a:pt x="4" y="377"/>
                </a:lnTo>
                <a:lnTo>
                  <a:pt x="0" y="377"/>
                </a:lnTo>
                <a:close/>
              </a:path>
            </a:pathLst>
          </a:custGeom>
          <a:solidFill>
            <a:srgbClr val="22303E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753475" y="2914650"/>
            <a:ext cx="276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303E"/>
                </a:solidFill>
                <a:latin typeface="微软雅黑"/>
                <a:ea typeface="微软雅黑"/>
              </a:rPr>
              <a:t>主线结论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753475" y="3257550"/>
            <a:ext cx="2762250" cy="2905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 b="1">
                <a:solidFill>
                  <a:srgbClr val="2E6F8E"/>
                </a:solidFill>
                <a:latin typeface="微软雅黑"/>
                <a:ea typeface="微软雅黑"/>
              </a:rPr>
              <a:t>主矛盾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：不是精度不够，而是</a:t>
            </a:r>
            <a:r>
              <a:rPr lang="en-US" sz="1050">
                <a:solidFill>
                  <a:srgbClr val="22303E"/>
                </a:solidFill>
                <a:latin typeface="微软雅黑"/>
                <a:ea typeface="微软雅黑"/>
              </a:rPr>
              <a:t>"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误检与</a:t>
            </a:r>
            <a:r>
              <a:rPr lang="en-US" sz="1050">
                <a:solidFill>
                  <a:srgbClr val="22303E"/>
                </a:solidFill>
                <a:latin typeface="微软雅黑"/>
                <a:ea typeface="微软雅黑"/>
              </a:rPr>
              <a:t> top1 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的</a:t>
            </a:r>
            <a:r>
              <a:rPr lang="en-US" sz="1050">
                <a:solidFill>
                  <a:srgbClr val="22303E"/>
                </a:solidFill>
                <a:latin typeface="微软雅黑"/>
                <a:ea typeface="微软雅黑"/>
              </a:rPr>
              <a:t> tradeoff"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。</a:t>
            </a:r>
            <a:endParaRPr/>
          </a:p>
          <a:p>
            <a:pPr>
              <a:lnSpc>
                <a:spcPct val="165000"/>
              </a:lnSpc>
            </a:pPr>
            <a:r>
              <a:rPr sz="1050">
                <a:solidFill>
                  <a:srgbClr val="22303E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65000"/>
              </a:lnSpc>
            </a:pPr>
            <a:r>
              <a:rPr lang="zh-CN" sz="1050" b="1">
                <a:solidFill>
                  <a:srgbClr val="2E6F8E"/>
                </a:solidFill>
                <a:latin typeface="微软雅黑"/>
                <a:ea typeface="微软雅黑"/>
              </a:rPr>
              <a:t>破局方式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：不靠调参，靠结构</a:t>
            </a:r>
            <a:r>
              <a:rPr lang="en-US" sz="1050">
                <a:solidFill>
                  <a:srgbClr val="22303E"/>
                </a:solidFill>
                <a:latin typeface="微软雅黑"/>
                <a:ea typeface="微软雅黑"/>
              </a:rPr>
              <a:t> —— 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双模型级联把两个目标拆给两个模型。</a:t>
            </a:r>
            <a:endParaRPr/>
          </a:p>
          <a:p>
            <a:pPr>
              <a:lnSpc>
                <a:spcPct val="165000"/>
              </a:lnSpc>
            </a:pPr>
            <a:r>
              <a:rPr sz="1050">
                <a:solidFill>
                  <a:srgbClr val="22303E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65000"/>
              </a:lnSpc>
            </a:pPr>
            <a:r>
              <a:rPr lang="zh-CN" sz="1050" b="1">
                <a:solidFill>
                  <a:srgbClr val="2E6F8E"/>
                </a:solidFill>
                <a:latin typeface="微软雅黑"/>
                <a:ea typeface="微软雅黑"/>
              </a:rPr>
              <a:t>口径纪律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：调参只用</a:t>
            </a:r>
            <a:r>
              <a:rPr lang="en-US" sz="1050">
                <a:solidFill>
                  <a:srgbClr val="22303E"/>
                </a:solidFill>
                <a:latin typeface="微软雅黑"/>
                <a:ea typeface="微软雅黑"/>
              </a:rPr>
              <a:t> cal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，汇报只用</a:t>
            </a:r>
            <a:r>
              <a:rPr lang="en-US" sz="1050">
                <a:solidFill>
                  <a:srgbClr val="22303E"/>
                </a:solidFill>
                <a:latin typeface="微软雅黑"/>
                <a:ea typeface="微软雅黑"/>
              </a:rPr>
              <a:t> holdout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，避免评估集过拟合。</a:t>
            </a:r>
            <a:endParaRPr/>
          </a:p>
          <a:p>
            <a:pPr>
              <a:lnSpc>
                <a:spcPct val="165000"/>
              </a:lnSpc>
            </a:pPr>
            <a:r>
              <a:rPr sz="1050">
                <a:solidFill>
                  <a:srgbClr val="22303E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65000"/>
              </a:lnSpc>
            </a:pPr>
            <a:r>
              <a:rPr lang="zh-CN" sz="1050" b="1">
                <a:solidFill>
                  <a:srgbClr val="E8A23B"/>
                </a:solidFill>
                <a:latin typeface="微软雅黑"/>
                <a:ea typeface="微软雅黑"/>
              </a:rPr>
              <a:t>当前重心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：从</a:t>
            </a:r>
            <a:r>
              <a:rPr lang="en-US" sz="1050">
                <a:solidFill>
                  <a:srgbClr val="22303E"/>
                </a:solidFill>
                <a:latin typeface="微软雅黑"/>
                <a:ea typeface="微软雅黑"/>
              </a:rPr>
              <a:t>"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训得更好</a:t>
            </a:r>
            <a:r>
              <a:rPr lang="en-US" sz="1050">
                <a:solidFill>
                  <a:srgbClr val="22303E"/>
                </a:solidFill>
                <a:latin typeface="微软雅黑"/>
                <a:ea typeface="微软雅黑"/>
              </a:rPr>
              <a:t>"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转向</a:t>
            </a:r>
            <a:r>
              <a:rPr lang="en-US" sz="1050">
                <a:solidFill>
                  <a:srgbClr val="22303E"/>
                </a:solidFill>
                <a:latin typeface="微软雅黑"/>
                <a:ea typeface="微软雅黑"/>
              </a:rPr>
              <a:t>"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跑得更稳</a:t>
            </a:r>
            <a:r>
              <a:rPr lang="en-US" sz="1050">
                <a:solidFill>
                  <a:srgbClr val="22303E"/>
                </a:solidFill>
                <a:latin typeface="微软雅黑"/>
                <a:ea typeface="微软雅黑"/>
              </a:rPr>
              <a:t>"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，并把类别体系扩到</a:t>
            </a:r>
            <a:r>
              <a:rPr lang="en-US" sz="1050">
                <a:solidFill>
                  <a:srgbClr val="22303E"/>
                </a:solidFill>
                <a:latin typeface="微软雅黑"/>
                <a:ea typeface="微软雅黑"/>
              </a:rPr>
              <a:t> 16 </a:t>
            </a:r>
            <a:r>
              <a:rPr lang="zh-CN" sz="1050">
                <a:solidFill>
                  <a:srgbClr val="22303E"/>
                </a:solidFill>
                <a:latin typeface="微软雅黑"/>
                <a:ea typeface="微软雅黑"/>
              </a:rPr>
              <a:t>类。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504825" y="6467475"/>
            <a:ext cx="11182350" cy="295275"/>
          </a:xfrm>
          <a:custGeom>
            <a:pathLst>
              <a:path w="1174" h="31">
                <a:moveTo>
                  <a:pt x="0" y="0"/>
                </a:moveTo>
                <a:lnTo>
                  <a:pt x="1174" y="0"/>
                </a:lnTo>
                <a:lnTo>
                  <a:pt x="1174" y="1"/>
                </a:lnTo>
                <a:lnTo>
                  <a:pt x="0" y="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04825" y="659130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3A5B3"/>
                </a:solidFill>
                <a:latin typeface="微软雅黑"/>
                <a:ea typeface="微软雅黑"/>
              </a:rPr>
              <a:t>基于</a:t>
            </a:r>
            <a:r>
              <a:rPr lang="en-US" sz="1050">
                <a:solidFill>
                  <a:srgbClr val="93A5B3"/>
                </a:solidFill>
                <a:latin typeface="微软雅黑"/>
                <a:ea typeface="微软雅黑"/>
              </a:rPr>
              <a:t> RK3588 </a:t>
            </a:r>
            <a:r>
              <a:rPr lang="zh-CN" sz="1050">
                <a:solidFill>
                  <a:srgbClr val="93A5B3"/>
                </a:solidFill>
                <a:latin typeface="微软雅黑"/>
                <a:ea typeface="微软雅黑"/>
              </a:rPr>
              <a:t>的轻量化工业缺陷检测系统</a:t>
            </a:r>
            <a:r>
              <a:rPr lang="en-US" sz="1050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93A5B3"/>
                </a:solidFill>
                <a:latin typeface="微软雅黑"/>
                <a:ea typeface="微软雅黑"/>
              </a:rPr>
              <a:t>模型训练与边缘部署分析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629900" y="6591300"/>
            <a:ext cx="105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3A5B3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93A5B3"/>
                </a:solidFill>
                <a:latin typeface="微软雅黑"/>
                <a:ea typeface="微软雅黑"/>
              </a:rPr>
              <a:t> 2 </a:t>
            </a:r>
            <a:r>
              <a:rPr lang="zh-CN" sz="1050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r>
              <a:rPr lang="en-US" sz="1050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93A5B3"/>
                </a:solidFill>
                <a:latin typeface="微软雅黑"/>
                <a:ea typeface="微软雅黑"/>
              </a:rPr>
              <a:t>共</a:t>
            </a:r>
            <a:r>
              <a:rPr lang="en-US" sz="1050">
                <a:solidFill>
                  <a:srgbClr val="93A5B3"/>
                </a:solidFill>
                <a:latin typeface="微软雅黑"/>
                <a:ea typeface="微软雅黑"/>
              </a:rPr>
              <a:t> 10 </a:t>
            </a:r>
            <a:r>
              <a:rPr lang="zh-CN" sz="1050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26" name="" descr="&lt;Slide&#10;    style={{&#10;        width: '1280px',&#10;        height: '720px',&#10;        background: '#FFFFFF',&#10;        fontFamily: '微软雅黑',&#10;        paddingLeft: 53,&#10;        paddingRight: 53,&#10;        paddingTop: 40,&#10;        paddingBottom: 30,&#10;    }}&#10;&gt;&#10;    &lt;Box style={{ flexDirection: 'row', alignItems: 'center', gap: 12 }}&gt;&#10;        &lt;Box style={{ width: 6, height: 30, background: '#2E6F8E' }} /&gt;&#10;        &lt;Text style={{ fontSize: 32, fontWeight: 'bold', color: '#22303E' }}&gt;数据集构成：正样本 + 域外负样本双源&lt;/Text&gt;&#10;    &lt;/Box&gt;&#10;&#10;    &lt;Text style={{ fontSize: 17, color: '#5F7080', marginTop: 12, marginLeft: 18 }}&gt;&#10;        NEU-DET 提供&quot;有缺陷&quot;的判别能力，DAGM 2007 无缺陷图提供&quot;什么不是缺陷&quot;的约束 —— 后者是误检归零的前提&#10;    &lt;/Text&gt;&#10;&#10;    &lt;Box style={{ flexDirection: 'row', gap: 20, marginTop: 20 }}&gt;&#10;        &lt;Box style={{ flex: 1 }}&gt;&#10;            &lt;Box style={{ flexDirection: 'row', gap: 10, alignItems: 'center', marginBottom: 12 }}&gt;&#10;                &lt;Box style={{ width: 4, height: 20, background: '#E8A23B' }} /&gt;&#10;                &lt;Text style={{ fontSize: 20, fontWeight: 'bold', color: '#22303E' }}&gt;数据来源与角色&lt;/Text&gt;&#10;            &lt;/Box&gt;&#10;&#10;            &lt;Box style={{ flexDirection: 'row', background: '#22303E', paddingLeft: 14, paddingRight: 14, paddingTop: 10, paddingBottom: 10 }}&gt;&#10;                &lt;Text style={{ fontSize: 14, fontWeight: 'bold', color: '#FFFFFF', width: 220 }}&gt;数据集&lt;/Text&gt;&#10;                &lt;Text style={{ fontSize: 14, fontWeight: 'bold', color: '#FFFFFF', width: 150 }}&gt;角色&lt;/Text&gt;&#10;                &lt;Text style={{ fontSize: 14, fontWeight: 'bold', color: '#FFFFFF', flex: 1 }}&gt;规模&lt;/Text&gt;&#10;            &lt;/Box&gt;&#10;&#10;            &lt;Box style={{ flexDirection: 'row', borderBottom: '1px solid #D6E0E9', paddingLeft: 14, paddingRight: 14, paddingTop: 11, paddingBottom: 11 }}&gt;&#10;                &lt;Text style={{ fontSize: 14, fontWeight: 'bold', color: '#22303E', width: 220 }}&gt;NEU-DET（热轧带钢 6 类）&lt;/Text&gt;&#10;                &lt;Text style={{ fontSize: 14, color: '#2E6F8E', width: 150 }}&gt;主底料&lt;/Text&gt;&#10;                &lt;Text style={{ fontSize: 14, color: '#5F7080', flex: 1 }}&gt;1800 张（train 1440 / val 360）&lt;/Text&gt;&#10;            &lt;/Box&gt;&#10;&#10;            &lt;Box style={{ flexDirection: 'row', background: '#F7F9FA', borderBottom: '1px solid #D6E0E9', paddingLeft: 14, paddingRight: 14, paddingTop: 11, paddingBottom: 11 }}&gt;&#10;                &lt;Text style={{ fontSize: 14, fontWeight: 'bold', color: '#22303E', width: 220 }}&gt;评估切分（val 派生）&lt;/Text&gt;&#10;                &lt;Text style={{ fontSize: 14, color: '#2E6F8E', width: 150 }}&gt;口径隔离&lt;/Text&gt;&#10;                &lt;Text style={{ fontSize: 14, color: '#5F7080', flex: 1 }}&gt;cal 178（调参）/ holdout 182（汇报）&lt;/Text&gt;&#10;            &lt;/Box&gt;&#10;&#10;            &lt;Box style={{ flexDirection: 'row', borderBottom: '1px solid #D6E0E9', paddingLeft: 14, paddingRight: 14, paddingTop: 11, paddingBottom: 11 }}&gt;&#10;                &lt;Text style={{ fontSize: 14, fontWeight: 'bold', color: '#22303E', width: 220 }}&gt;增强集 aug2&lt;/Text&gt;&#10;                &lt;Text style={{ fontSize: 14, color: '#5F7080', width: 150 }}&gt;实验用（已证无效）&lt;/Text&gt;&#10;                &lt;Text style={{ fontSize: 14, color: '#5F7080', flex: 1 }}&gt;5760 图 / 5760 签，0 孤儿标签&lt;/Text&gt;&#10;            &lt;/Box&gt;&#10;&#10;            &lt;Box style={{ flexDirection: 'row', background: '#F7F9FA', borderBottom: '1px solid #D6E0E9', paddingLeft: 14, paddingRight: 14, paddingTop: 11, paddingBottom: 11 }}&gt;&#10;                &lt;Text style={{ fontSize: 14, fontWeight: 'bold', color: '#22303E', width: 220 }}&gt;DAGM 2007 无缺陷图&lt;/Text&gt;&#10;                &lt;Text style={{ fontSize: 14, color: '#E8A23B', width: 150 }}&gt;域外负样本&lt;/Text&gt;&#10;                &lt;Text style={{ fontSize: 14, color: '#5F7080', flex: 1 }}&gt;6000 张（train 4800 / val 1200），空标签&lt;/Text&gt;&#10;            &lt;/Box&gt;&#10;&#10;            &lt;Box style={{ flexDirection: 'row', borderBottom: '1px solid #D6E0E9', paddingLeft: 14, paddingRight: 14, paddingTop: 11, paddingBottom: 11 }}&gt;&#10;                &lt;Text style={{ fontSize: 14, fontWeight: 'bold', color: '#22303E', width: 220 }}&gt;180 张真实图&lt;/Text&gt;&#10;                &lt;Text style={{ fontSize: 14, color: '#2E6F8E', width: 150 }}&gt;端到端验证&lt;/Text&gt;&#10;                &lt;Text style={{ fontSize: 14, color: '#5F7080', flex: 1 }}&gt;独立于训练/评估，只用于 top-1 实测&lt;/Text&gt;&#10;            &lt;/Box&gt;&#10;&#10;            &lt;Box style={{ background: '#F2F5F7', borderLeft: '4px solid #2E6F8E', padding: 14, marginTop: 16 }}&gt;&#10;                &lt;Text style={{ fontSize: 14, fontWeight: 'bold', color: '#22303E', marginBottom: 6 }}&gt;标签审计（198 张抽检）&lt;/Text&gt;&#10;                &lt;Text style={{ fontSize: 13, color: '#5F7080', lineHeight: 1.55 }}&gt;跨类标注 18 张（9.1%），集中在 scratches ↔ inclusion —— 这两类本身是&quot;竖直暗条纹&quot;的形态近亲。其余无标注噪声，判定为可接受现状，暂不返工。&lt;/Text&gt;&#10;            &lt;/Box&gt;&#10;        &lt;/Box&gt;&#10;&#10;        &lt;Box style={{ width: 400 }}&gt;&#10;            &lt;Box style={{ flexDirection: 'row', gap: 10, alignItems: 'center', marginBottom: 12 }}&gt;&#10;                &lt;Box style={{ width: 4, height: 20, background: '#2E6F8E' }} /&gt;&#10;                &lt;Text style={{ fontSize: 20, fontWeight: 'bold', color: '#22303E' }}&gt;训练图构成（负样本混合口径）&lt;/Text&gt;&#10;            &lt;/Box&gt;&#10;&#10;            &lt;Box style={{ flexDirection: 'row', height: 46 }}&gt;&#10;                &lt;Box style={{ width: 218, background: '#E8A23B', justifyContent: 'center', alignItems: 'center' }}&gt;&#10;                    &lt;Text style={{ fontSize: 15, fontWeight: 'bold', color: '#FFFFFF' }}&gt;54.5%&lt;/Text&gt;&#10;                &lt;/Box&gt;&#10;                &lt;Box style={{ width: 182, background: '#2E6F8E', justifyContent: 'center', alignItems: 'center' }}&gt;&#10;                    &lt;Text style={{ fontSize: 15, fontWeight: 'bold', color: '#FFFFFF' }}&gt;45.5%&lt;/Text&gt;&#10;                &lt;/Box&gt;&#10;            &lt;/Box&gt;&#10;&#10;            &lt;Box style={{ flexDirection: 'row', gap: 16, marginTop: 12 }}&gt;&#10;                &lt;Box style={{ flexDirection: 'row', gap: 8, alignItems: 'center' }}&gt;&#10;                    &lt;Box style={{ width: 12, height: 12, background: '#E8A23B' }} /&gt;&#10;                    &lt;Text style={{ fontSize: 13, color: '#5F7080' }}&gt;缺陷标注图 5760&lt;/Text&gt;&#10;                &lt;/Box&gt;&#10;                &lt;Box style={{ flexDirection: 'row', gap: 8, alignItems: 'center' }}&gt;&#10;                    &lt;Box style={{ width: 12, height: 12, background: '#2E6F8E' }} /&gt;&#10;                    &lt;Text style={{ fontSize: 13, color: '#5F7080' }}&gt;无缺陷负样本 4800&lt;/Text&gt;&#10;                &lt;/Box&gt;&#10;            &lt;/Box&gt;&#10;&#10;            &lt;Box style={{ background: '#F2F5F7', padding: 14, marginTop: 16 }}&gt;&#10;                &lt;Text style={{ fontSize: 14, fontWeight: 'bold', color: '#22303E', marginBottom: 8 }}&gt;为什么要单独引负样本&lt;/Text&gt;&#10;                &lt;Text style={{ fontSize: 13, color: '#5F7080', lineHeight: 1.6 }}&gt;&#10;                    NEU-DET 每张图都带缺陷框，模型从未见过&quot;正常纹理&quot;，等于只学了边界的一侧。&lt;br /&gt;&lt;br /&gt;&#10;                    实测：NEU 干净裁块误检 &lt;span style={{ fontWeight: 'bold', color: '#E8A23B' }}&gt;35.5%&lt;/span&gt;，DAGM 无缺陷图误检 &lt;span style={{ fontWeight: 'bold', color: '#E8A23B' }}&gt;64.4%&lt;/span&gt; —— 换一种纹理就崩，是典型的域外泛化缺口。&#10;                &lt;/Text&gt;&#10;            &lt;/Box&gt;&#10;&#10;            &lt;Box style={{ background: '#F2F5F7', padding: 14, marginTop: 14 }}&gt;&#10;                &lt;Text style={{ fontSize: 14, fontWeight: 'bold', color: '#22303E', marginBottom: 8 }}&gt;数据治理教训&lt;/Text&gt;&#10;                &lt;Text style={{ fontSize: 13, color: '#5F7080', lineHeight: 1.6 }}&gt;早先&quot;增强集&quot;经查为假增强（cv2 写中文路径静默失败，1440 原图 + 4320 孤儿标签）。已修复并把数据体检固化为训练前置步骤。&lt;/Text&gt;&#10;            &lt;/Box&gt;&#10;        &lt;/Box&gt;&#10;    &lt;/Box&gt;&#10;&#10;    &lt;Box style={{ flexDirection: 'row', justifyContent: 'space-between', alignItems: 'center', borderTop: '1px solid #D6E0E9', paddingTop: 12, marginTop: 14 }}&gt;&#10;        &lt;Text style={{ fontSize: 14, color: '#93A5B3' }}&gt;基于 RK3588 的轻量化工业缺陷检测系统 · 模型训练与边缘部署分析&lt;/Text&gt;&#10;        &lt;Text style={{ fontSize: 14, color: '#93A5B3' }}&gt;第 3 页 · 共 10 页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504825" y="428625"/>
            <a:ext cx="57150" cy="2857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76275" y="381000"/>
            <a:ext cx="53054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22303E"/>
                </a:solidFill>
                <a:latin typeface="微软雅黑"/>
                <a:ea typeface="微软雅黑"/>
              </a:rPr>
              <a:t>数据集构成：正样本</a:t>
            </a:r>
            <a:r>
              <a:rPr lang="en-US" sz="2400" b="1">
                <a:solidFill>
                  <a:srgbClr val="22303E"/>
                </a:solidFill>
                <a:latin typeface="微软雅黑"/>
                <a:ea typeface="微软雅黑"/>
              </a:rPr>
              <a:t> + </a:t>
            </a:r>
            <a:r>
              <a:rPr lang="zh-CN" sz="2400" b="1">
                <a:solidFill>
                  <a:srgbClr val="22303E"/>
                </a:solidFill>
                <a:latin typeface="微软雅黑"/>
                <a:ea typeface="微软雅黑"/>
              </a:rPr>
              <a:t>域外负样本双源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76275" y="866775"/>
            <a:ext cx="1101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NEU-DET 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提供</a:t>
            </a: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有缺陷</a:t>
            </a: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的判别能力，</a:t>
            </a: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DAGM 2007 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无缺陷图提供</a:t>
            </a: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什么不是缺陷</a:t>
            </a: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的约束</a:t>
            </a:r>
            <a:r>
              <a:rPr lang="en-US" sz="1275">
                <a:solidFill>
                  <a:srgbClr val="5F7080"/>
                </a:solidFill>
                <a:latin typeface="微软雅黑"/>
                <a:ea typeface="微软雅黑"/>
              </a:rPr>
              <a:t> —— </a:t>
            </a:r>
            <a:r>
              <a:rPr lang="zh-CN" sz="1275">
                <a:solidFill>
                  <a:srgbClr val="5F7080"/>
                </a:solidFill>
                <a:latin typeface="微软雅黑"/>
                <a:ea typeface="微软雅黑"/>
              </a:rPr>
              <a:t>后者是误检归零的前提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04825" y="1276350"/>
            <a:ext cx="38100" cy="19050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38175" y="12573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303E"/>
                </a:solidFill>
                <a:latin typeface="微软雅黑"/>
                <a:ea typeface="微软雅黑"/>
              </a:rPr>
              <a:t>数据来源与角色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504825" y="1600200"/>
            <a:ext cx="7181850" cy="352425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38175" y="16954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微软雅黑"/>
                <a:ea typeface="微软雅黑"/>
              </a:rPr>
              <a:t>数据集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2733675" y="169545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微软雅黑"/>
                <a:ea typeface="微软雅黑"/>
              </a:rPr>
              <a:t>角色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162425" y="1695450"/>
            <a:ext cx="3390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微软雅黑"/>
                <a:ea typeface="微软雅黑"/>
              </a:rPr>
              <a:t>规模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504825" y="1952625"/>
            <a:ext cx="7181850" cy="390525"/>
          </a:xfrm>
          <a:custGeom>
            <a:pathLst>
              <a:path w="754" h="41">
                <a:moveTo>
                  <a:pt x="0" y="40"/>
                </a:moveTo>
                <a:lnTo>
                  <a:pt x="754" y="40"/>
                </a:lnTo>
                <a:lnTo>
                  <a:pt x="754" y="41"/>
                </a:lnTo>
                <a:lnTo>
                  <a:pt x="0" y="4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38175" y="20574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NEU-DET</a:t>
            </a: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（热轧带钢</a:t>
            </a: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 6 </a:t>
            </a: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类）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2733675" y="20574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E6F8E"/>
                </a:solidFill>
                <a:latin typeface="微软雅黑"/>
                <a:ea typeface="微软雅黑"/>
              </a:rPr>
              <a:t>主底料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162425" y="2057400"/>
            <a:ext cx="3390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7080"/>
                </a:solidFill>
                <a:latin typeface="微软雅黑"/>
                <a:ea typeface="微软雅黑"/>
              </a:rPr>
              <a:t>1800 </a:t>
            </a:r>
            <a:r>
              <a:rPr lang="zh-CN" sz="1050">
                <a:solidFill>
                  <a:srgbClr val="5F7080"/>
                </a:solidFill>
                <a:latin typeface="微软雅黑"/>
                <a:ea typeface="微软雅黑"/>
              </a:rPr>
              <a:t>张（</a:t>
            </a:r>
            <a:r>
              <a:rPr lang="en-US" sz="1050">
                <a:solidFill>
                  <a:srgbClr val="5F7080"/>
                </a:solidFill>
                <a:latin typeface="微软雅黑"/>
                <a:ea typeface="微软雅黑"/>
              </a:rPr>
              <a:t>train 1440 / val 360</a:t>
            </a:r>
            <a:r>
              <a:rPr lang="zh-CN" sz="1050">
                <a:solidFill>
                  <a:srgbClr val="5F7080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504825" y="2333625"/>
            <a:ext cx="7181850" cy="38100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504825" y="2333625"/>
            <a:ext cx="7181850" cy="390525"/>
          </a:xfrm>
          <a:custGeom>
            <a:pathLst>
              <a:path w="754" h="41">
                <a:moveTo>
                  <a:pt x="0" y="40"/>
                </a:moveTo>
                <a:lnTo>
                  <a:pt x="754" y="40"/>
                </a:lnTo>
                <a:lnTo>
                  <a:pt x="754" y="41"/>
                </a:lnTo>
                <a:lnTo>
                  <a:pt x="0" y="4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38175" y="24384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评估切分（</a:t>
            </a: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val </a:t>
            </a: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派生）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2733675" y="24384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E6F8E"/>
                </a:solidFill>
                <a:latin typeface="微软雅黑"/>
                <a:ea typeface="微软雅黑"/>
              </a:rPr>
              <a:t>口径隔离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162425" y="2438400"/>
            <a:ext cx="3390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7080"/>
                </a:solidFill>
                <a:latin typeface="微软雅黑"/>
                <a:ea typeface="微软雅黑"/>
              </a:rPr>
              <a:t>cal 178</a:t>
            </a:r>
            <a:r>
              <a:rPr lang="zh-CN" sz="1050">
                <a:solidFill>
                  <a:srgbClr val="5F7080"/>
                </a:solidFill>
                <a:latin typeface="微软雅黑"/>
                <a:ea typeface="微软雅黑"/>
              </a:rPr>
              <a:t>（调参）</a:t>
            </a:r>
            <a:r>
              <a:rPr lang="en-US" sz="1050">
                <a:solidFill>
                  <a:srgbClr val="5F7080"/>
                </a:solidFill>
                <a:latin typeface="微软雅黑"/>
                <a:ea typeface="微软雅黑"/>
              </a:rPr>
              <a:t>/ holdout 182</a:t>
            </a:r>
            <a:r>
              <a:rPr lang="zh-CN" sz="1050">
                <a:solidFill>
                  <a:srgbClr val="5F7080"/>
                </a:solidFill>
                <a:latin typeface="微软雅黑"/>
                <a:ea typeface="微软雅黑"/>
              </a:rPr>
              <a:t>（汇报）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504825" y="2714625"/>
            <a:ext cx="7181850" cy="390525"/>
          </a:xfrm>
          <a:custGeom>
            <a:pathLst>
              <a:path w="754" h="41">
                <a:moveTo>
                  <a:pt x="0" y="40"/>
                </a:moveTo>
                <a:lnTo>
                  <a:pt x="754" y="40"/>
                </a:lnTo>
                <a:lnTo>
                  <a:pt x="754" y="41"/>
                </a:lnTo>
                <a:lnTo>
                  <a:pt x="0" y="4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38175" y="28194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增强集</a:t>
            </a: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 aug2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733675" y="28194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7080"/>
                </a:solidFill>
                <a:latin typeface="微软雅黑"/>
                <a:ea typeface="微软雅黑"/>
              </a:rPr>
              <a:t>实验用（已证无效）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162425" y="2819400"/>
            <a:ext cx="3390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7080"/>
                </a:solidFill>
                <a:latin typeface="微软雅黑"/>
                <a:ea typeface="微软雅黑"/>
              </a:rPr>
              <a:t>5760 </a:t>
            </a:r>
            <a:r>
              <a:rPr lang="zh-CN" sz="1050">
                <a:solidFill>
                  <a:srgbClr val="5F7080"/>
                </a:solidFill>
                <a:latin typeface="微软雅黑"/>
                <a:ea typeface="微软雅黑"/>
              </a:rPr>
              <a:t>图</a:t>
            </a:r>
            <a:r>
              <a:rPr lang="en-US" sz="1050">
                <a:solidFill>
                  <a:srgbClr val="5F7080"/>
                </a:solidFill>
                <a:latin typeface="微软雅黑"/>
                <a:ea typeface="微软雅黑"/>
              </a:rPr>
              <a:t> / 5760 </a:t>
            </a:r>
            <a:r>
              <a:rPr lang="zh-CN" sz="1050">
                <a:solidFill>
                  <a:srgbClr val="5F7080"/>
                </a:solidFill>
                <a:latin typeface="微软雅黑"/>
                <a:ea typeface="微软雅黑"/>
              </a:rPr>
              <a:t>签，</a:t>
            </a:r>
            <a:r>
              <a:rPr lang="en-US" sz="1050">
                <a:solidFill>
                  <a:srgbClr val="5F7080"/>
                </a:solidFill>
                <a:latin typeface="微软雅黑"/>
                <a:ea typeface="微软雅黑"/>
              </a:rPr>
              <a:t>0 </a:t>
            </a:r>
            <a:r>
              <a:rPr lang="zh-CN" sz="1050">
                <a:solidFill>
                  <a:srgbClr val="5F7080"/>
                </a:solidFill>
                <a:latin typeface="微软雅黑"/>
                <a:ea typeface="微软雅黑"/>
              </a:rPr>
              <a:t>孤儿标签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504825" y="3095625"/>
            <a:ext cx="7181850" cy="38100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504825" y="3095625"/>
            <a:ext cx="7181850" cy="390525"/>
          </a:xfrm>
          <a:custGeom>
            <a:pathLst>
              <a:path w="754" h="41">
                <a:moveTo>
                  <a:pt x="0" y="40"/>
                </a:moveTo>
                <a:lnTo>
                  <a:pt x="754" y="40"/>
                </a:lnTo>
                <a:lnTo>
                  <a:pt x="754" y="41"/>
                </a:lnTo>
                <a:lnTo>
                  <a:pt x="0" y="4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38175" y="32004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DAGM 2007 </a:t>
            </a: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无缺陷图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2733675" y="32004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A23B"/>
                </a:solidFill>
                <a:latin typeface="微软雅黑"/>
                <a:ea typeface="微软雅黑"/>
              </a:rPr>
              <a:t>域外负样本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162425" y="3200400"/>
            <a:ext cx="3390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7080"/>
                </a:solidFill>
                <a:latin typeface="微软雅黑"/>
                <a:ea typeface="微软雅黑"/>
              </a:rPr>
              <a:t>6000 </a:t>
            </a:r>
            <a:r>
              <a:rPr lang="zh-CN" sz="1050">
                <a:solidFill>
                  <a:srgbClr val="5F7080"/>
                </a:solidFill>
                <a:latin typeface="微软雅黑"/>
                <a:ea typeface="微软雅黑"/>
              </a:rPr>
              <a:t>张（</a:t>
            </a:r>
            <a:r>
              <a:rPr lang="en-US" sz="1050">
                <a:solidFill>
                  <a:srgbClr val="5F7080"/>
                </a:solidFill>
                <a:latin typeface="微软雅黑"/>
                <a:ea typeface="微软雅黑"/>
              </a:rPr>
              <a:t>train 4800 / val 1200</a:t>
            </a:r>
            <a:r>
              <a:rPr lang="zh-CN" sz="1050">
                <a:solidFill>
                  <a:srgbClr val="5F7080"/>
                </a:solidFill>
                <a:latin typeface="微软雅黑"/>
                <a:ea typeface="微软雅黑"/>
              </a:rPr>
              <a:t>），空标签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504825" y="3476625"/>
            <a:ext cx="7181850" cy="390525"/>
          </a:xfrm>
          <a:custGeom>
            <a:pathLst>
              <a:path w="754" h="41">
                <a:moveTo>
                  <a:pt x="0" y="40"/>
                </a:moveTo>
                <a:lnTo>
                  <a:pt x="754" y="40"/>
                </a:lnTo>
                <a:lnTo>
                  <a:pt x="754" y="41"/>
                </a:lnTo>
                <a:lnTo>
                  <a:pt x="0" y="4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38175" y="35814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180 </a:t>
            </a: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张真实图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2733675" y="35814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E6F8E"/>
                </a:solidFill>
                <a:latin typeface="微软雅黑"/>
                <a:ea typeface="微软雅黑"/>
              </a:rPr>
              <a:t>端到端验证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162425" y="3581400"/>
            <a:ext cx="3390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7080"/>
                </a:solidFill>
                <a:latin typeface="微软雅黑"/>
                <a:ea typeface="微软雅黑"/>
              </a:rPr>
              <a:t>独立于训练</a:t>
            </a:r>
            <a:r>
              <a:rPr lang="en-US" sz="1050">
                <a:solidFill>
                  <a:srgbClr val="5F7080"/>
                </a:solidFill>
                <a:latin typeface="微软雅黑"/>
                <a:ea typeface="微软雅黑"/>
              </a:rPr>
              <a:t>/</a:t>
            </a:r>
            <a:r>
              <a:rPr lang="zh-CN" sz="1050">
                <a:solidFill>
                  <a:srgbClr val="5F7080"/>
                </a:solidFill>
                <a:latin typeface="微软雅黑"/>
                <a:ea typeface="微软雅黑"/>
              </a:rPr>
              <a:t>评估，只用于</a:t>
            </a:r>
            <a:r>
              <a:rPr lang="en-US" sz="1050">
                <a:solidFill>
                  <a:srgbClr val="5F7080"/>
                </a:solidFill>
                <a:latin typeface="微软雅黑"/>
                <a:ea typeface="微软雅黑"/>
              </a:rPr>
              <a:t> top-1 </a:t>
            </a:r>
            <a:r>
              <a:rPr lang="zh-CN" sz="1050">
                <a:solidFill>
                  <a:srgbClr val="5F7080"/>
                </a:solidFill>
                <a:latin typeface="微软雅黑"/>
                <a:ea typeface="微软雅黑"/>
              </a:rPr>
              <a:t>实测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542925" y="4010025"/>
            <a:ext cx="7181850" cy="9525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504825" y="4010025"/>
            <a:ext cx="7219950" cy="952500"/>
          </a:xfrm>
          <a:custGeom>
            <a:pathLst>
              <a:path w="758" h="100">
                <a:moveTo>
                  <a:pt x="0" y="0"/>
                </a:moveTo>
                <a:lnTo>
                  <a:pt x="4" y="0"/>
                </a:lnTo>
                <a:lnTo>
                  <a:pt x="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76275" y="4143375"/>
            <a:ext cx="687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标签审计（</a:t>
            </a: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198 </a:t>
            </a: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张抽检）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76275" y="4362450"/>
            <a:ext cx="68770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跨类标注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18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张（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9.1%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），集中在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scratches ↔ inclusion ——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这两类本身是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竖直暗条纹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的形态近亲。其余无标注噪声，判定为可接受现状，暂不返工。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7877175" y="1276350"/>
            <a:ext cx="38100" cy="19050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010525" y="1257300"/>
            <a:ext cx="2667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303E"/>
                </a:solidFill>
                <a:latin typeface="微软雅黑"/>
                <a:ea typeface="微软雅黑"/>
              </a:rPr>
              <a:t>训练图构成（负样本混合口径）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7877175" y="1600200"/>
            <a:ext cx="2076450" cy="43815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667750" y="1733550"/>
            <a:ext cx="49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54.5%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9953625" y="1600200"/>
            <a:ext cx="1733550" cy="4381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0572750" y="1733550"/>
            <a:ext cx="49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45.5%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7877175" y="2171700"/>
            <a:ext cx="114300" cy="11430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067675" y="2152650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缺陷标注图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5760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9153525" y="2171700"/>
            <a:ext cx="114300" cy="11430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344025" y="2152650"/>
            <a:ext cx="1057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无缺陷负样本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4800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7877175" y="2457450"/>
            <a:ext cx="3810000" cy="16954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010525" y="2590800"/>
            <a:ext cx="3543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为什么要单独引负样本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010525" y="2828925"/>
            <a:ext cx="3543300" cy="1190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NEU-DET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每张图都带缺陷框，模型从未见过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正常纹理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，等于只学了边界的一侧。</a:t>
            </a:r>
            <a:endParaRPr/>
          </a:p>
          <a:p>
            <a:pPr>
              <a:lnSpc>
                <a:spcPct val="160000"/>
              </a:lnSpc>
            </a:pPr>
            <a:r>
              <a:rPr sz="975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6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实测：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NEU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干净裁块误检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r>
              <a:rPr lang="en-US" sz="975" b="1">
                <a:solidFill>
                  <a:srgbClr val="E8A23B"/>
                </a:solidFill>
                <a:latin typeface="微软雅黑"/>
                <a:ea typeface="微软雅黑"/>
              </a:rPr>
              <a:t>35.5%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，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DAGM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无缺陷图误检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r>
              <a:rPr lang="en-US" sz="975" b="1">
                <a:solidFill>
                  <a:srgbClr val="E8A23B"/>
                </a:solidFill>
                <a:latin typeface="微软雅黑"/>
                <a:ea typeface="微软雅黑"/>
              </a:rPr>
              <a:t>64.4%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——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换一种纹理就崩，是典型的域外泛化缺口。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7877175" y="4286250"/>
            <a:ext cx="3810000" cy="12192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010525" y="4419600"/>
            <a:ext cx="3543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数据治理教训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010525" y="4657725"/>
            <a:ext cx="35433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早先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增强集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经查为假增强（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cv2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写中文路径静默失败，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1440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原图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+ 4320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孤儿标签）。已修复并把数据体检固化为训练前置步骤。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504825" y="5638800"/>
            <a:ext cx="11182350" cy="295275"/>
          </a:xfrm>
          <a:custGeom>
            <a:pathLst>
              <a:path w="1174" h="31">
                <a:moveTo>
                  <a:pt x="0" y="0"/>
                </a:moveTo>
                <a:lnTo>
                  <a:pt x="1174" y="0"/>
                </a:lnTo>
                <a:lnTo>
                  <a:pt x="1174" y="1"/>
                </a:lnTo>
                <a:lnTo>
                  <a:pt x="0" y="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04825" y="576262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3A5B3"/>
                </a:solidFill>
                <a:latin typeface="微软雅黑"/>
                <a:ea typeface="微软雅黑"/>
              </a:rPr>
              <a:t>基于</a:t>
            </a:r>
            <a:r>
              <a:rPr lang="en-US" sz="1050">
                <a:solidFill>
                  <a:srgbClr val="93A5B3"/>
                </a:solidFill>
                <a:latin typeface="微软雅黑"/>
                <a:ea typeface="微软雅黑"/>
              </a:rPr>
              <a:t> RK3588 </a:t>
            </a:r>
            <a:r>
              <a:rPr lang="zh-CN" sz="1050">
                <a:solidFill>
                  <a:srgbClr val="93A5B3"/>
                </a:solidFill>
                <a:latin typeface="微软雅黑"/>
                <a:ea typeface="微软雅黑"/>
              </a:rPr>
              <a:t>的轻量化工业缺陷检测系统</a:t>
            </a:r>
            <a:r>
              <a:rPr lang="en-US" sz="1050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93A5B3"/>
                </a:solidFill>
                <a:latin typeface="微软雅黑"/>
                <a:ea typeface="微软雅黑"/>
              </a:rPr>
              <a:t>模型训练与边缘部署分析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0629900" y="5762625"/>
            <a:ext cx="105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3A5B3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93A5B3"/>
                </a:solidFill>
                <a:latin typeface="微软雅黑"/>
                <a:ea typeface="微软雅黑"/>
              </a:rPr>
              <a:t> 3 </a:t>
            </a:r>
            <a:r>
              <a:rPr lang="zh-CN" sz="1050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r>
              <a:rPr lang="en-US" sz="1050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93A5B3"/>
                </a:solidFill>
                <a:latin typeface="微软雅黑"/>
                <a:ea typeface="微软雅黑"/>
              </a:rPr>
              <a:t>共</a:t>
            </a:r>
            <a:r>
              <a:rPr lang="en-US" sz="1050">
                <a:solidFill>
                  <a:srgbClr val="93A5B3"/>
                </a:solidFill>
                <a:latin typeface="微软雅黑"/>
                <a:ea typeface="微软雅黑"/>
              </a:rPr>
              <a:t> 10 </a:t>
            </a:r>
            <a:r>
              <a:rPr lang="zh-CN" sz="1050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82" name="" descr="&lt;Slide&#10;    style={{&#10;        width: '1280px',&#10;        height: '720px',&#10;        background: '#FFFFFF',&#10;        fontFamily: '微软雅黑',&#10;        paddingLeft: 53,&#10;        paddingRight: 53,&#10;        paddingTop: 38,&#10;        paddingBottom: 26,&#10;    }}&#10;&gt;&#10;    &lt;Box style={{ flexDirection: 'row', alignItems: 'center', gap: 12 }}&gt;&#10;        &lt;Box style={{ width: 6, height: 30, background: '#2E6F8E' }} /&gt;&#10;        &lt;Text style={{ fontSize: 30, fontWeight: 'bold', color: '#22303E' }}&gt;六类缺陷与强弱分布（holdout 182 张）&lt;/Text&gt;&#10;    &lt;/Box&gt;&#10;&#10;    &lt;Text style={{ fontSize: 16, color: '#5F7080', marginTop: 10, marginLeft: 18 }}&gt;&#10;        数据上 6 类完全均衡（每类 300 张），但模型表现分化明显 —— 强弱差距不在样本量，在类间形态相似度&#10;    &lt;/Text&gt;&#10;&#10;    &lt;Box style={{ flexDirection: 'row', gap: 20, marginTop: 16 }}&gt;&#10;        &lt;Box style={{ flex: 1 }}&gt;&#10;            &lt;Box style={{ flexDirection: 'row', gap: 10, alignItems: 'center', marginBottom: 12 }}&gt;&#10;                &lt;Box style={{ width: 4, height: 18, background: '#E8A23B' }} /&gt;&#10;                &lt;Text style={{ fontSize: 19, fontWeight: 'bold', color: '#22303E' }}&gt;各类 Recall（holdout，阈值 0.20）&lt;/Text&gt;&#10;            &lt;/Box&gt;&#10;&#10;            &lt;Box style={{ flexDirection: 'row', alignItems: 'center', marginBottom: 10 }}&gt;&#10;                &lt;Text style={{ fontSize: 14, fontWeight: 'bold', color: '#22303E', width: 150 }}&gt;patches&lt;/Text&gt;&#10;                &lt;Box style={{ width: 460, height: 22, background: '#F2F5F7' }}&gt;&#10;                    &lt;Box style={{ width: 447, height: 22, background: '#2E6F8E' }} /&gt;&#10;                &lt;/Box&gt;&#10;                &lt;Text style={{ fontSize: 14, fontWeight: 'bold', color: '#2E6F8E', marginLeft: 14 }}&gt;0.922&lt;/Text&gt;&#10;            &lt;/Box&gt;&#10;&#10;            &lt;Box style={{ flexDirection: 'row', alignItems: 'center', marginBottom: 10 }}&gt;&#10;                &lt;Text style={{ fontSize: 14, fontWeight: 'bold', color: '#22303E', width: 150 }}&gt;pitted_surface&lt;/Text&gt;&#10;                &lt;Box style={{ width: 460, height: 22, background: '#F2F5F7' }}&gt;&#10;                    &lt;Box style={{ width: 398, height: 22, background: '#2E6F8E' }} /&gt;&#10;                &lt;/Box&gt;&#10;                &lt;Text style={{ fontSize: 14, fontWeight: 'bold', color: '#2E6F8E', marginLeft: 14 }}&gt;0.822&lt;/Text&gt;&#10;            &lt;/Box&gt;&#10;&#10;            &lt;Box style={{ flexDirection: 'row', alignItems: 'center', marginBottom: 10 }}&gt;&#10;                &lt;Text style={{ fontSize: 14, fontWeight: 'bold', color: '#22303E', width: 150 }}&gt;scratches&lt;/Text&gt;&#10;                &lt;Box style={{ width: 460, height: 22, background: '#F2F5F7' }}&gt;&#10;                    &lt;Box style={{ width: 392, height: 22, background: '#2E6F8E' }} /&gt;&#10;                &lt;/Box&gt;&#10;                &lt;Text style={{ fontSize: 14, fontWeight: 'bold', color: '#2E6F8E', marginLeft: 14 }}&gt;0.810&lt;/Text&gt;&#10;            &lt;/Box&gt;&#10;&#10;            &lt;Box style={{ flexDirection: 'row', alignItems: 'center', marginBottom: 10 }}&gt;&#10;                &lt;Text style={{ fontSize: 14, fontWeight: 'bold', color: '#22303E', width: 150 }}&gt;inclusion&lt;/Text&gt;&#10;                &lt;Box style={{ width: 460, height: 22, background: '#F2F5F7' }}&gt;&#10;                    &lt;Box style={{ width: 376, height: 22, background: '#93A5B3' }} /&gt;&#10;                &lt;/Box&gt;&#10;                &lt;Text style={{ fontSize: 14, fontWeight: 'bold', color: '#5F7080', marginLeft: 14 }}&gt;0.776&lt;/Text&gt;&#10;            &lt;/Box&gt;&#10;&#10;            &lt;Box style={{ flexDirection: 'row', alignItems: 'center', marginBottom: 10 }}&gt;&#10;                &lt;Text style={{ fontSize: 14, fontWeight: 'bold', color: '#22303E', width: 150 }}&gt;rolled-in_scale&lt;/Text&gt;&#10;                &lt;Box style={{ width: 460, height: 22, background: '#F2F5F7' }}&gt;&#10;                    &lt;Box style={{ width: 355, height: 22, background: '#93A5B3' }} /&gt;&#10;                &lt;/Box&gt;&#10;                &lt;Text style={{ fontSize: 14, fontWeight: 'bold', color: '#5F7080', marginLeft: 14 }}&gt;0.734&lt;/Text&gt;&#10;            &lt;/Box&gt;&#10;&#10;            &lt;Box style={{ flexDirection: 'row', alignItems: 'center', marginBottom: 10 }}&gt;&#10;                &lt;Text style={{ fontSize: 14, fontWeight: 'bold', color: '#22303E', width: 150 }}&gt;crazing&lt;/Text&gt;&#10;                &lt;Box style={{ width: 460, height: 22, background: '#F2F5F7' }}&gt;&#10;                    &lt;Box style={{ width: 289, height: 22, background: '#E8A23B' }} /&gt;&#10;                &lt;/Box&gt;&#10;                &lt;Text style={{ fontSize: 14, fontWeight: 'bold', color: '#E8A23B', marginLeft: 14 }}&gt;0.597&lt;/Text&gt;&#10;            &lt;/Box&gt;&#10;&#10;            &lt;Box style={{ flexDirection: 'row', gap: 18, marginTop: 14 }}&gt;&#10;                &lt;Box style={{ flexDirection: 'row', gap: 8, alignItems: 'center' }}&gt;&#10;                    &lt;Box style={{ width: 12, height: 12, background: '#2E6F8E' }} /&gt;&#10;                    &lt;Text style={{ fontSize: 13, color: '#5F7080' }}&gt;强 R ≥ 0.80&lt;/Text&gt;&#10;                &lt;/Box&gt;&#10;                &lt;Box style={{ flexDirection: 'row', gap: 8, alignItems: 'center' }}&gt;&#10;                    &lt;Box style={{ width: 12, height: 12, background: '#93A5B3' }} /&gt;&#10;                    &lt;Text style={{ fontSize: 13, color: '#5F7080' }}&gt;中 0.70 ~ 0.80&lt;/Text&gt;&#10;                &lt;/Box&gt;&#10;                &lt;Box style={{ flexDirection: 'row', gap: 8, alignItems: 'center' }}&gt;&#10;                    &lt;Box style={{ width: 12, height: 12, background: '#E8A23B' }} /&gt;&#10;                    &lt;Text style={{ fontSize: 13, color: '#5F7080' }}&gt;弱 R &amp;lt; 0.70&lt;/Text&gt;&#10;                &lt;/Box&gt;&#10;            &lt;/Box&gt;&#10;        &lt;/Box&gt;&#10;&#10;        &lt;Box style={{ width: 360 }}&gt;&#10;            &lt;Box style={{ background: '#F2F5F7', borderTop: '4px solid #2E6F8E', padding: 12, marginBottom: 8 }}&gt;&#10;                &lt;Text style={{ fontSize: 14, fontWeight: 'bold', color: '#2E6F8E', marginBottom: 6 }}&gt;强类：形态独立&lt;/Text&gt;&#10;                &lt;Text style={{ fontSize: 12, color: '#5F7080', lineHeight: 1.5 }}&gt;patches R 0.922 / P 0.866，pitted_surface R 0.822，scratches R 0.810。纹理特征显著，不易与其它类混淆。&lt;/Text&gt;&#10;            &lt;/Box&gt;&#10;&#10;            &lt;Box style={{ background: '#F2F5F7', borderTop: '4px solid #93A5B3', padding: 12, marginBottom: 8 }}&gt;&#10;                &lt;Text style={{ fontSize: 14, fontWeight: 'bold', color: '#5F7080', marginBottom: 6 }}&gt;中间类：与近亲互串&lt;/Text&gt;&#10;                &lt;Text style={{ fontSize: 12, color: '#5F7080', lineHeight: 1.5 }}&gt;inclusion R 0.776 / P 0.667，rolled-in_scale R 0.734 / P 0.580。inclusion ↔ scratches 是 Top-1 混淆对，二者都是竖直暗条纹。&lt;/Text&gt;&#10;            &lt;/Box&gt;&#10;&#10;            &lt;Box style={{ background: '#F2F5F7', borderTop: '4px solid #E8A23B', padding: 12 }}&gt;&#10;                &lt;Text style={{ fontSize: 14, fontWeight: 'bold', color: '#E8A23B', marginBottom: 6 }}&gt;弱类 crazing：特征问题&lt;/Text&gt;&#10;                &lt;Text style={{ fontSize: 12, color: '#5F7080', lineHeight: 1.5 }}&gt;R 0.597 / P 仅 0.483。阈值扫描（0.20 以下无 TP 增量）与专项微调（整体 −24pt）两条路都试过且都失败 —— &lt;span style={{ fontWeight: 'bold', color: '#22303E' }}&gt;需换数据源，不是调参能救的&lt;/span&gt;。&lt;/Text&gt;&#10;            &lt;/Box&gt;&#10;        &lt;/Box&gt;&#10;    &lt;/Box&gt;&#10;&#10;    &lt;Box style={{ flexDirection: 'row', justifyContent: 'space-between', alignItems: 'center', borderTop: '1px solid #D6E0E9', paddingTop: 10, marginTop: 12 }}&gt;&#10;        &lt;Text style={{ fontSize: 13, color: '#93A5B3' }}&gt;基于 RK3588 的轻量化工业缺陷检测系统 · 模型训练与边缘部署分析&lt;/Text&gt;&#10;        &lt;Text style={{ fontSize: 13, color: '#93A5B3' }}&gt;第 4 页 · 共 10 页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504825" y="390525"/>
            <a:ext cx="57150" cy="2857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76275" y="361950"/>
            <a:ext cx="5248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2303E"/>
                </a:solidFill>
                <a:latin typeface="微软雅黑"/>
                <a:ea typeface="微软雅黑"/>
              </a:rPr>
              <a:t>六类缺陷与强弱分布（</a:t>
            </a:r>
            <a:r>
              <a:rPr lang="en-US" sz="2250" b="1">
                <a:solidFill>
                  <a:srgbClr val="22303E"/>
                </a:solidFill>
                <a:latin typeface="微软雅黑"/>
                <a:ea typeface="微软雅黑"/>
              </a:rPr>
              <a:t>holdout 182 </a:t>
            </a:r>
            <a:r>
              <a:rPr lang="zh-CN" sz="2250" b="1">
                <a:solidFill>
                  <a:srgbClr val="22303E"/>
                </a:solidFill>
                <a:latin typeface="微软雅黑"/>
                <a:ea typeface="微软雅黑"/>
              </a:rPr>
              <a:t>张）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76275" y="800100"/>
            <a:ext cx="1101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数据上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6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类完全均衡（每类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300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张），但模型表现分化明显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——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强弱差距不在样本量，在类间形态相似度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504825" y="1171575"/>
            <a:ext cx="38100" cy="17145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38175" y="1143000"/>
            <a:ext cx="3028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2303E"/>
                </a:solidFill>
                <a:latin typeface="微软雅黑"/>
                <a:ea typeface="微软雅黑"/>
              </a:rPr>
              <a:t>各类</a:t>
            </a:r>
            <a:r>
              <a:rPr lang="en-US" sz="1425" b="1">
                <a:solidFill>
                  <a:srgbClr val="22303E"/>
                </a:solidFill>
                <a:latin typeface="微软雅黑"/>
                <a:ea typeface="微软雅黑"/>
              </a:rPr>
              <a:t> Recall</a:t>
            </a:r>
            <a:r>
              <a:rPr lang="zh-CN" sz="1425" b="1">
                <a:solidFill>
                  <a:srgbClr val="22303E"/>
                </a:solidFill>
                <a:latin typeface="微软雅黑"/>
                <a:ea typeface="微软雅黑"/>
              </a:rPr>
              <a:t>（</a:t>
            </a:r>
            <a:r>
              <a:rPr lang="en-US" sz="1425" b="1">
                <a:solidFill>
                  <a:srgbClr val="22303E"/>
                </a:solidFill>
                <a:latin typeface="微软雅黑"/>
                <a:ea typeface="微软雅黑"/>
              </a:rPr>
              <a:t>holdout</a:t>
            </a:r>
            <a:r>
              <a:rPr lang="zh-CN" sz="1425" b="1">
                <a:solidFill>
                  <a:srgbClr val="22303E"/>
                </a:solidFill>
                <a:latin typeface="微软雅黑"/>
                <a:ea typeface="微软雅黑"/>
              </a:rPr>
              <a:t>，阈值</a:t>
            </a:r>
            <a:r>
              <a:rPr lang="en-US" sz="1425" b="1">
                <a:solidFill>
                  <a:srgbClr val="22303E"/>
                </a:solidFill>
                <a:latin typeface="微软雅黑"/>
                <a:ea typeface="微软雅黑"/>
              </a:rPr>
              <a:t> 0.20</a:t>
            </a:r>
            <a:r>
              <a:rPr lang="zh-CN" sz="1425" b="1">
                <a:solidFill>
                  <a:srgbClr val="22303E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04825" y="150495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patches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1933575" y="1476375"/>
            <a:ext cx="4381500" cy="2095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1933575" y="1476375"/>
            <a:ext cx="4257675" cy="2095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448425" y="15049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E6F8E"/>
                </a:solidFill>
                <a:latin typeface="微软雅黑"/>
                <a:ea typeface="微软雅黑"/>
              </a:rPr>
              <a:t>0.922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04825" y="180975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pitted_surface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1933575" y="1781175"/>
            <a:ext cx="4381500" cy="2095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1933575" y="1781175"/>
            <a:ext cx="3790950" cy="2095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448425" y="18097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E6F8E"/>
                </a:solidFill>
                <a:latin typeface="微软雅黑"/>
                <a:ea typeface="微软雅黑"/>
              </a:rPr>
              <a:t>0.822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04825" y="211455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scratches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1933575" y="2085975"/>
            <a:ext cx="4381500" cy="2095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1933575" y="2085975"/>
            <a:ext cx="3733800" cy="2095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448425" y="21145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E6F8E"/>
                </a:solidFill>
                <a:latin typeface="微软雅黑"/>
                <a:ea typeface="微软雅黑"/>
              </a:rPr>
              <a:t>0.810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04825" y="241935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inclusion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1933575" y="2390775"/>
            <a:ext cx="4381500" cy="2095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1933575" y="2390775"/>
            <a:ext cx="3581400" cy="209550"/>
          </a:xfrm>
          <a:prstGeom prst="rect">
            <a:avLst/>
          </a:prstGeom>
          <a:solidFill>
            <a:srgbClr val="93A5B3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448425" y="24193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F7080"/>
                </a:solidFill>
                <a:latin typeface="微软雅黑"/>
                <a:ea typeface="微软雅黑"/>
              </a:rPr>
              <a:t>0.776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04825" y="272415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rolled-in_scale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1933575" y="2695575"/>
            <a:ext cx="4381500" cy="2095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1933575" y="2695575"/>
            <a:ext cx="3381375" cy="209550"/>
          </a:xfrm>
          <a:prstGeom prst="rect">
            <a:avLst/>
          </a:prstGeom>
          <a:solidFill>
            <a:srgbClr val="93A5B3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448425" y="27241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F7080"/>
                </a:solidFill>
                <a:latin typeface="微软雅黑"/>
                <a:ea typeface="微软雅黑"/>
              </a:rPr>
              <a:t>0.734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04825" y="302895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crazing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1933575" y="3000375"/>
            <a:ext cx="4381500" cy="2095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1933575" y="3000375"/>
            <a:ext cx="2752725" cy="20955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448425" y="30289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8A23B"/>
                </a:solidFill>
                <a:latin typeface="微软雅黑"/>
                <a:ea typeface="微软雅黑"/>
              </a:rPr>
              <a:t>0.597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504825" y="3457575"/>
            <a:ext cx="114300" cy="11430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95325" y="3438525"/>
            <a:ext cx="64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强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R ≥ 0.80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1514475" y="3457575"/>
            <a:ext cx="114300" cy="114300"/>
          </a:xfrm>
          <a:prstGeom prst="rect">
            <a:avLst/>
          </a:prstGeom>
          <a:solidFill>
            <a:srgbClr val="93A5B3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704975" y="3438525"/>
            <a:ext cx="809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中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0.70 ~ 0.80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2686050" y="3457575"/>
            <a:ext cx="114300" cy="11430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2876550" y="3438525"/>
            <a:ext cx="64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弱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R &lt; 0.70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8258175" y="1181100"/>
            <a:ext cx="3429000" cy="904875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8258175" y="1143000"/>
            <a:ext cx="3429000" cy="942975"/>
          </a:xfrm>
          <a:custGeom>
            <a:pathLst>
              <a:path w="360" h="99">
                <a:moveTo>
                  <a:pt x="0" y="0"/>
                </a:moveTo>
                <a:lnTo>
                  <a:pt x="360" y="0"/>
                </a:lnTo>
                <a:lnTo>
                  <a:pt x="360" y="4"/>
                </a:lnTo>
                <a:lnTo>
                  <a:pt x="0" y="4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372475" y="129540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E6F8E"/>
                </a:solidFill>
                <a:latin typeface="微软雅黑"/>
                <a:ea typeface="微软雅黑"/>
              </a:rPr>
              <a:t>强类：形态独立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372475" y="1514475"/>
            <a:ext cx="32004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patches R 0.922 / P 0.866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，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pitted_surface R 0.822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，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scratches R 0.810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。纹理特征显著，不易与其它类混淆。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8258175" y="2162175"/>
            <a:ext cx="3429000" cy="11049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8258175" y="2124075"/>
            <a:ext cx="3429000" cy="1143000"/>
          </a:xfrm>
          <a:custGeom>
            <a:pathLst>
              <a:path w="360" h="120">
                <a:moveTo>
                  <a:pt x="0" y="0"/>
                </a:moveTo>
                <a:lnTo>
                  <a:pt x="360" y="0"/>
                </a:lnTo>
                <a:lnTo>
                  <a:pt x="360" y="4"/>
                </a:lnTo>
                <a:lnTo>
                  <a:pt x="0" y="4"/>
                </a:lnTo>
                <a:close/>
              </a:path>
            </a:pathLst>
          </a:custGeom>
          <a:solidFill>
            <a:srgbClr val="93A5B3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372475" y="2276475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F7080"/>
                </a:solidFill>
                <a:latin typeface="微软雅黑"/>
                <a:ea typeface="微软雅黑"/>
              </a:rPr>
              <a:t>中间类：与近亲互串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372475" y="2495550"/>
            <a:ext cx="3200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inclusion R 0.776 / P 0.667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，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rolled-in_scale R 0.734 / P 0.580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。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inclusion ↔ scratches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是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Top-1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混淆对，二者都是竖直暗条纹。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8258175" y="3343275"/>
            <a:ext cx="3429000" cy="11049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8258175" y="3305175"/>
            <a:ext cx="3429000" cy="1143000"/>
          </a:xfrm>
          <a:custGeom>
            <a:pathLst>
              <a:path w="360" h="120">
                <a:moveTo>
                  <a:pt x="0" y="0"/>
                </a:moveTo>
                <a:lnTo>
                  <a:pt x="360" y="0"/>
                </a:lnTo>
                <a:lnTo>
                  <a:pt x="360" y="4"/>
                </a:lnTo>
                <a:lnTo>
                  <a:pt x="0" y="4"/>
                </a:lnTo>
                <a:close/>
              </a:path>
            </a:pathLst>
          </a:custGeom>
          <a:solidFill>
            <a:srgbClr val="E8A23B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372475" y="3457575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8A23B"/>
                </a:solidFill>
                <a:latin typeface="微软雅黑"/>
                <a:ea typeface="微软雅黑"/>
              </a:rPr>
              <a:t>弱类</a:t>
            </a:r>
            <a:r>
              <a:rPr lang="en-US" sz="1050" b="1">
                <a:solidFill>
                  <a:srgbClr val="E8A23B"/>
                </a:solidFill>
                <a:latin typeface="微软雅黑"/>
                <a:ea typeface="微软雅黑"/>
              </a:rPr>
              <a:t> crazing</a:t>
            </a:r>
            <a:r>
              <a:rPr lang="zh-CN" sz="1050" b="1">
                <a:solidFill>
                  <a:srgbClr val="E8A23B"/>
                </a:solidFill>
                <a:latin typeface="微软雅黑"/>
                <a:ea typeface="微软雅黑"/>
              </a:rPr>
              <a:t>：特征问题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372475" y="3676650"/>
            <a:ext cx="3200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R 0.597 / P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仅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0.483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。阈值扫描（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0.20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以下无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TP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增量）与专项微调（整体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−24pt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）两条路都试过且都失败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—— </a:t>
            </a:r>
            <a:r>
              <a:rPr lang="zh-CN" sz="900" b="1">
                <a:solidFill>
                  <a:srgbClr val="22303E"/>
                </a:solidFill>
                <a:latin typeface="微软雅黑"/>
                <a:ea typeface="微软雅黑"/>
              </a:rPr>
              <a:t>需换数据源，不是调参能救的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04825" y="4524375"/>
            <a:ext cx="11182350" cy="266700"/>
          </a:xfrm>
          <a:custGeom>
            <a:pathLst>
              <a:path w="1174" h="28">
                <a:moveTo>
                  <a:pt x="0" y="0"/>
                </a:moveTo>
                <a:lnTo>
                  <a:pt x="1174" y="0"/>
                </a:lnTo>
                <a:lnTo>
                  <a:pt x="1174" y="1"/>
                </a:lnTo>
                <a:lnTo>
                  <a:pt x="0" y="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04825" y="4629150"/>
            <a:ext cx="3714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基于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RK3588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的轻量化工业缺陷检测系统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模型训练与边缘部署分析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0706100" y="4629150"/>
            <a:ext cx="981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第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4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共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10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34" name="" descr="&lt;Slide&#10;    style={{&#10;        width: '1280px',&#10;        height: '720px',&#10;        background: '#FFFFFF',&#10;        fontFamily: '微软雅黑',&#10;        paddingLeft: 53,&#10;        paddingRight: 53,&#10;        paddingTop: 38,&#10;        paddingBottom: 26,&#10;    }}&#10;&gt;&#10;    &lt;Box style={{ flexDirection: 'row', alignItems: 'center', gap: 12 }}&gt;&#10;        &lt;Box style={{ width: 6, height: 30, background: '#2E6F8E' }} /&gt;&#10;        &lt;Text style={{ fontSize: 30, fontWeight: 'bold', color: '#22303E' }}&gt;模型训练演进：7 次实验与 2 次失败&lt;/Text&gt;&#10;    &lt;/Box&gt;&#10;&#10;    &lt;Text style={{ fontSize: 16, color: '#5F7080', marginTop: 10, marginLeft: 18 }}&gt;&#10;        最终部署的 &lt;span style={{ fontWeight: 'bold', color: '#E8A23B' }}&gt;neu_yolo11n_640&lt;/span&gt; 不是&quot;分数最高&quot;的那次，而是唯一同时满足精度、误检、可部署三项的那次&#10;    &lt;/Text&gt;&#10;&#10;    &lt;Box style={{ flexDirection: 'row', gap: 20, marginTop: 14 }}&gt;&#10;        &lt;Box style={{ flex: 1 }}&gt;&#10;            &lt;Box style={{ flexDirection: 'row', paddingLeft: 4, paddingRight: 4, paddingBottom: 8, borderBottom: '1px solid #D6E0E9' }}&gt;&#10;                &lt;Text style={{ fontSize: 13, fontWeight: 'bold', color: '#93A5B3', width: 250 }}&gt;实验&lt;/Text&gt;&#10;                &lt;Text style={{ fontSize: 13, fontWeight: 'bold', color: '#93A5B3', width: 330 }}&gt;mAP50&lt;/Text&gt;&#10;                &lt;Text style={{ fontSize: 13, fontWeight: 'bold', color: '#93A5B3', width: 66 }}&gt;数值&lt;/Text&gt;&#10;                &lt;Text style={{ fontSize: 13, fontWeight: 'bold', color: '#93A5B3', flex: 1 }}&gt;结论&lt;/Text&gt;&#10;            &lt;/Box&gt;&#10;&#10;            &lt;Box style={{ flexDirection: 'row', alignItems: 'center', paddingTop: 9, paddingBottom: 9, borderBottom: '1px solid #EEF2F5' }}&gt;&#10;                &lt;Text style={{ fontSize: 13, color: '#22303E', width: 250 }}&gt;neu_yolo11n · 80 轮 · 640&lt;/Text&gt;&#10;                &lt;Box style={{ width: 330, height: 16, background: '#F2F5F7' }}&gt;&lt;Box style={{ width: 268, height: 16, background: '#93A5B3' }} /&gt;&lt;/Box&gt;&#10;                &lt;Text style={{ fontSize: 13, fontWeight: 'bold', color: '#5F7080', width: 66, paddingLeft: 10 }}&gt;0.651&lt;/Text&gt;&#10;                &lt;Text style={{ fontSize: 13, color: '#5F7080', flex: 1 }}&gt;基线起点&lt;/Text&gt;&#10;            &lt;/Box&gt;&#10;&#10;            &lt;Box style={{ flexDirection: 'row', alignItems: 'center', paddingTop: 9, paddingBottom: 9, borderBottom: '1px solid #EEF2F5' }}&gt;&#10;                &lt;Text style={{ fontSize: 13, color: '#22303E', width: 250 }}&gt;neu_yolo11n_aug · 60 轮 · 320&lt;/Text&gt;&#10;                &lt;Box style={{ width: 330, height: 16, background: '#F2F5F7' }}&gt;&lt;Box style={{ width: 309, height: 16, background: '#93A5B3' }} /&gt;&lt;/Box&gt;&#10;                &lt;Text style={{ fontSize: 13, fontWeight: 'bold', color: '#5F7080', width: 66, paddingLeft: 10 }}&gt;0.750&lt;/Text&gt;&#10;                &lt;Text style={{ fontSize: 13, color: '#5F7080', flex: 1 }}&gt;训练/推理分辨率失配&lt;/Text&gt;&#10;            &lt;/Box&gt;&#10;&#10;            &lt;Box style={{ flexDirection: 'row', alignItems: 'center', paddingTop: 9, paddingBottom: 9, background: '#FBF7EF', borderBottom: '1px solid #EEF2F5' }}&gt;&#10;                &lt;Text style={{ fontSize: 13, fontWeight: 'bold', color: '#22303E', width: 250 }}&gt;_640 · 200 轮 · 640（部署主力）&lt;/Text&gt;&#10;                &lt;Box style={{ width: 330, height: 16, background: '#F2F5F7' }}&gt;&lt;Box style={{ width: 323, height: 16, background: '#E8A23B' }} /&gt;&lt;/Box&gt;&#10;                &lt;Text style={{ fontSize: 13, fontWeight: 'bold', color: '#E8A23B', width: 66, paddingLeft: 10 }}&gt;0.783&lt;/Text&gt;&#10;                &lt;Text style={{ fontSize: 13, color: '#22303E', flex: 1 }}&gt;holdout 0.7393，板端权重来源&lt;/Text&gt;&#10;            &lt;/Box&gt;&#10;&#10;            &lt;Box style={{ flexDirection: 'row', alignItems: 'center', paddingTop: 9, paddingBottom: 9, borderBottom: '1px solid #EEF2F5' }}&gt;&#10;                &lt;Text style={{ fontSize: 13, color: '#22303E', width: 250 }}&gt;aug2 · 真增强 5760 图&lt;/Text&gt;&#10;                &lt;Box style={{ width: 330, height: 16, background: '#F2F5F7' }}&gt;&lt;Box style={{ width: 320, height: 16, background: '#93A5B3' }} /&gt;&lt;/Box&gt;&#10;                &lt;Text style={{ fontSize: 13, fontWeight: 'bold', color: '#5F7080', width: 66, paddingLeft: 10 }}&gt;0.775&lt;/Text&gt;&#10;                &lt;Text style={{ fontSize: 13, color: '#5F7080', flex: 1 }}&gt;不如基线，已禁用&lt;/Text&gt;&#10;            &lt;/Box&gt;&#10;&#10;            &lt;Box style={{ flexDirection: 'row', alignItems: 'center', paddingTop: 9, paddingBottom: 9, borderBottom: '1px solid #EEF2F5' }}&gt;&#10;                &lt;Text style={{ fontSize: 13, color: '#22303E', width: 250 }}&gt;negdagm 1:1（含负样本）&lt;/Text&gt;&#10;                &lt;Box style={{ width: 330, height: 16, background: '#F2F5F7' }}&gt;&lt;Box style={{ width: 301, height: 16, background: '#2E6F8E' }} /&gt;&lt;/Box&gt;&#10;                &lt;Text style={{ fontSize: 13, fontWeight: 'bold', color: '#2E6F8E', width: 66, paddingLeft: 10 }}&gt;0.730&lt;/Text&gt;&#10;                &lt;Text style={{ fontSize: 13, color: '#5F7080', flex: 1 }}&gt;holdout 口径，误检 0%&lt;/Text&gt;&#10;            &lt;/Box&gt;&#10;&#10;            &lt;Box style={{ flexDirection: 'row', alignItems: 'center', paddingTop: 9, paddingBottom: 9, borderBottom: '1px solid #EEF2F5' }}&gt;&#10;                &lt;Text style={{ fontSize: 13, color: '#22303E', width: 250 }}&gt;negdagm_half 1:2&lt;/Text&gt;&#10;                &lt;Box style={{ width: 330, height: 16, background: '#F2F5F7' }}&gt;&lt;Box style={{ width: 298, height: 16, background: '#2E6F8E' }} /&gt;&lt;/Box&gt;&#10;                &lt;Text style={{ fontSize: 13, fontWeight: 'bold', color: '#2E6F8E', width: 66, paddingLeft: 10 }}&gt;0.722&lt;/Text&gt;&#10;                &lt;Text style={{ fontSize: 13, color: '#5F7080', flex: 1 }}&gt;比例解不开 tradeoff&lt;/Text&gt;&#10;            &lt;/Box&gt;&#10;&#10;            &lt;Box style={{ flexDirection: 'row', alignItems: 'center', paddingTop: 9, paddingBottom: 9 }}&gt;&#10;                &lt;Text style={{ fontSize: 13, color: '#22303E', width: 250 }}&gt;crazing_focus 专项微调&lt;/Text&gt;&#10;                &lt;Box style={{ width: 330, height: 16, background: '#F2F5F7' }}&gt;&lt;Box style={{ width: 207, height: 16, background: '#C0504D' }} /&gt;&lt;/Box&gt;&#10;                &lt;Text style={{ fontSize: 13, fontWeight: 'bold', color: '#C0504D', width: 66, paddingLeft: 10 }}&gt;0.502&lt;/Text&gt;&#10;                &lt;Text style={{ fontSize: 13, fontWeight: 'bold', color: '#C0504D', flex: 1 }}&gt;灾难性遗忘，不可部署&lt;/Text&gt;&#10;            &lt;/Box&gt;&#10;        &lt;/Box&gt;&#10;&#10;        &lt;Box style={{ width: 320 }}&gt;&#10;            &lt;Box style={{ background: '#F2F5F7', borderLeft: '4px solid #C0504D', padding: 12, marginBottom: 10 }}&gt;&#10;                &lt;Text style={{ fontSize: 14, fontWeight: 'bold', color: '#C0504D', marginBottom: 6 }}&gt;失败 1：数据增强不涨点&lt;/Text&gt;&#10;                &lt;Text style={{ fontSize: 12, color: '#5F7080', lineHeight: 1.5 }}&gt;真增强集 5760 图训出来 0.775，反而不如 1440 图的 0.783。NEU 类间差异大、类内差异小，通用增强带来的增量有限。&lt;/Text&gt;&#10;            &lt;/Box&gt;&#10;&#10;            &lt;Box style={{ background: '#F2F5F7', borderLeft: '4px solid #C0504D', padding: 12, marginBottom: 10 }}&gt;&#10;                &lt;Text style={{ fontSize: 14, fontWeight: 'bold', color: '#C0504D', marginBottom: 6 }}&gt;失败 2：弱类专项微调&lt;/Text&gt;&#10;                &lt;Text style={{ fontSize: 12, color: '#5F7080', lineHeight: 1.5 }}&gt;只喂 crazing + 负样本，30 轮后本类 R 仅 +1.4pt，其余 5 类最多掉 52pt。单类微调在多类检测上风险极高。&lt;/Text&gt;&#10;            &lt;/Box&gt;&#10;&#10;            &lt;Box style={{ background: '#F2F5F7', borderLeft: '4px solid #22303E', padding: 12 }}&gt;&#10;                &lt;Text style={{ fontSize: 14, fontWeight: 'bold', color: '#22303E', marginBottom: 6 }}&gt;口径提醒&lt;/Text&gt;&#10;                &lt;Text style={{ fontSize: 12, color: '#5F7080', lineHeight: 1.5 }}&gt;&#10;                    上表 0.651 / 0.750 / 0.783 / 0.775 为&lt;span style={{ fontWeight: 'bold' }}&gt;全 val 360 张&lt;/span&gt;口径（历史演进记录）；后三行为&lt;span style={{ fontWeight: 'bold' }}&gt;holdout 182 张&lt;/span&gt;口径。&lt;br /&gt;&lt;br /&gt;&#10;                    另有合成数据 0.959 —— 那是合成集成绩，&lt;span style={{ fontWeight: 'bold', color: '#C0504D' }}&gt;不得作为 NEU 成绩引用&lt;/span&gt;。&#10;                &lt;/Text&gt;&#10;            &lt;/Box&gt;&#10;        &lt;/Box&gt;&#10;    &lt;/Box&gt;&#10;&#10;    &lt;Box style={{ flexDirection: 'row', justifyContent: 'space-between', alignItems: 'center', borderTop: '1px solid #D6E0E9', paddingTop: 10, marginTop: 12 }}&gt;&#10;        &lt;Text style={{ fontSize: 13, color: '#93A5B3' }}&gt;基于 RK3588 的轻量化工业缺陷检测系统 · 模型训练与边缘部署分析&lt;/Text&gt;&#10;        &lt;Text style={{ fontSize: 13, color: '#93A5B3' }}&gt;第 5 页 · 共 10 页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504825" y="390525"/>
            <a:ext cx="57150" cy="2857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76275" y="361950"/>
            <a:ext cx="46196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2303E"/>
                </a:solidFill>
                <a:latin typeface="微软雅黑"/>
                <a:ea typeface="微软雅黑"/>
              </a:rPr>
              <a:t>模型训练演进：</a:t>
            </a:r>
            <a:r>
              <a:rPr lang="en-US" sz="2250" b="1">
                <a:solidFill>
                  <a:srgbClr val="22303E"/>
                </a:solidFill>
                <a:latin typeface="微软雅黑"/>
                <a:ea typeface="微软雅黑"/>
              </a:rPr>
              <a:t>7 </a:t>
            </a:r>
            <a:r>
              <a:rPr lang="zh-CN" sz="2250" b="1">
                <a:solidFill>
                  <a:srgbClr val="22303E"/>
                </a:solidFill>
                <a:latin typeface="微软雅黑"/>
                <a:ea typeface="微软雅黑"/>
              </a:rPr>
              <a:t>次实验与</a:t>
            </a:r>
            <a:r>
              <a:rPr lang="en-US" sz="2250" b="1">
                <a:solidFill>
                  <a:srgbClr val="22303E"/>
                </a:solidFill>
                <a:latin typeface="微软雅黑"/>
                <a:ea typeface="微软雅黑"/>
              </a:rPr>
              <a:t> 2 </a:t>
            </a:r>
            <a:r>
              <a:rPr lang="zh-CN" sz="2250" b="1">
                <a:solidFill>
                  <a:srgbClr val="22303E"/>
                </a:solidFill>
                <a:latin typeface="微软雅黑"/>
                <a:ea typeface="微软雅黑"/>
              </a:rPr>
              <a:t>次失败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76275" y="800100"/>
            <a:ext cx="1101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最终部署的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r>
              <a:rPr lang="en-US" sz="1200" b="1">
                <a:solidFill>
                  <a:srgbClr val="E8A23B"/>
                </a:solidFill>
                <a:latin typeface="微软雅黑"/>
                <a:ea typeface="微软雅黑"/>
              </a:rPr>
              <a:t>neu_yolo11n_640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不是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分数最高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的那次，而是唯一同时满足精度、误检、可部署三项的那次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504825" y="1123950"/>
            <a:ext cx="7943850" cy="247650"/>
          </a:xfrm>
          <a:custGeom>
            <a:pathLst>
              <a:path w="834" h="26">
                <a:moveTo>
                  <a:pt x="0" y="25"/>
                </a:moveTo>
                <a:lnTo>
                  <a:pt x="834" y="25"/>
                </a:lnTo>
                <a:lnTo>
                  <a:pt x="834" y="26"/>
                </a:lnTo>
                <a:lnTo>
                  <a:pt x="0" y="26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42925" y="1123950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93A5B3"/>
                </a:solidFill>
                <a:latin typeface="微软雅黑"/>
                <a:ea typeface="微软雅黑"/>
              </a:rPr>
              <a:t>实验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2924175" y="1123950"/>
            <a:ext cx="3143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93A5B3"/>
                </a:solidFill>
                <a:latin typeface="微软雅黑"/>
                <a:ea typeface="微软雅黑"/>
              </a:rPr>
              <a:t>mAP50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067425" y="1123950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93A5B3"/>
                </a:solidFill>
                <a:latin typeface="微软雅黑"/>
                <a:ea typeface="微软雅黑"/>
              </a:rPr>
              <a:t>数值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696075" y="11239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93A5B3"/>
                </a:solidFill>
                <a:latin typeface="微软雅黑"/>
                <a:ea typeface="微软雅黑"/>
              </a:rPr>
              <a:t>结论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504825" y="1362075"/>
            <a:ext cx="7943850" cy="342900"/>
          </a:xfrm>
          <a:custGeom>
            <a:pathLst>
              <a:path w="834" h="36">
                <a:moveTo>
                  <a:pt x="0" y="35"/>
                </a:moveTo>
                <a:lnTo>
                  <a:pt x="834" y="35"/>
                </a:lnTo>
                <a:lnTo>
                  <a:pt x="83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EEF2F5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04825" y="1447800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303E"/>
                </a:solidFill>
                <a:latin typeface="微软雅黑"/>
                <a:ea typeface="微软雅黑"/>
              </a:rPr>
              <a:t>neu_yolo11n · 80 </a:t>
            </a:r>
            <a:r>
              <a:rPr lang="zh-CN" sz="975">
                <a:solidFill>
                  <a:srgbClr val="22303E"/>
                </a:solidFill>
                <a:latin typeface="微软雅黑"/>
                <a:ea typeface="微软雅黑"/>
              </a:rPr>
              <a:t>轮</a:t>
            </a:r>
            <a:r>
              <a:rPr lang="en-US" sz="975">
                <a:solidFill>
                  <a:srgbClr val="22303E"/>
                </a:solidFill>
                <a:latin typeface="微软雅黑"/>
                <a:ea typeface="微软雅黑"/>
              </a:rPr>
              <a:t> · 640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2886075" y="1447800"/>
            <a:ext cx="3143250" cy="1524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2886075" y="1447800"/>
            <a:ext cx="2552700" cy="152400"/>
          </a:xfrm>
          <a:prstGeom prst="rect">
            <a:avLst/>
          </a:prstGeom>
          <a:solidFill>
            <a:srgbClr val="93A5B3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029325" y="1447800"/>
            <a:ext cx="628650" cy="152400"/>
          </a:xfrm>
          <a:prstGeom prst="rect"/>
        </p:spPr>
        <p:txBody>
          <a:bodyPr wrap="none" lIns="71438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F7080"/>
                </a:solidFill>
                <a:latin typeface="微软雅黑"/>
                <a:ea typeface="微软雅黑"/>
              </a:rPr>
              <a:t>0.651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657975" y="1447800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基线起点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504825" y="1695450"/>
            <a:ext cx="7943850" cy="342900"/>
          </a:xfrm>
          <a:custGeom>
            <a:pathLst>
              <a:path w="834" h="36">
                <a:moveTo>
                  <a:pt x="0" y="35"/>
                </a:moveTo>
                <a:lnTo>
                  <a:pt x="834" y="35"/>
                </a:lnTo>
                <a:lnTo>
                  <a:pt x="83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EEF2F5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504825" y="178117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303E"/>
                </a:solidFill>
                <a:latin typeface="微软雅黑"/>
                <a:ea typeface="微软雅黑"/>
              </a:rPr>
              <a:t>neu_yolo11n_aug · 60 </a:t>
            </a:r>
            <a:r>
              <a:rPr lang="zh-CN" sz="975">
                <a:solidFill>
                  <a:srgbClr val="22303E"/>
                </a:solidFill>
                <a:latin typeface="微软雅黑"/>
                <a:ea typeface="微软雅黑"/>
              </a:rPr>
              <a:t>轮</a:t>
            </a:r>
            <a:r>
              <a:rPr lang="en-US" sz="975">
                <a:solidFill>
                  <a:srgbClr val="22303E"/>
                </a:solidFill>
                <a:latin typeface="微软雅黑"/>
                <a:ea typeface="微软雅黑"/>
              </a:rPr>
              <a:t> · 320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2886075" y="1781175"/>
            <a:ext cx="3143250" cy="1524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2886075" y="1781175"/>
            <a:ext cx="2943225" cy="152400"/>
          </a:xfrm>
          <a:prstGeom prst="rect">
            <a:avLst/>
          </a:prstGeom>
          <a:solidFill>
            <a:srgbClr val="93A5B3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29325" y="1781175"/>
            <a:ext cx="628650" cy="152400"/>
          </a:xfrm>
          <a:prstGeom prst="rect"/>
        </p:spPr>
        <p:txBody>
          <a:bodyPr wrap="none" lIns="71438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F7080"/>
                </a:solidFill>
                <a:latin typeface="微软雅黑"/>
                <a:ea typeface="微软雅黑"/>
              </a:rPr>
              <a:t>0.750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657975" y="1781175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训练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/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推理分辨率失配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504825" y="2028825"/>
            <a:ext cx="7943850" cy="333375"/>
          </a:xfrm>
          <a:prstGeom prst="rect">
            <a:avLst/>
          </a:prstGeom>
          <a:solidFill>
            <a:srgbClr val="FBF7EF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504825" y="2028825"/>
            <a:ext cx="7943850" cy="342900"/>
          </a:xfrm>
          <a:custGeom>
            <a:pathLst>
              <a:path w="834" h="36">
                <a:moveTo>
                  <a:pt x="0" y="35"/>
                </a:moveTo>
                <a:lnTo>
                  <a:pt x="834" y="35"/>
                </a:lnTo>
                <a:lnTo>
                  <a:pt x="83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EEF2F5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04825" y="2114550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303E"/>
                </a:solidFill>
                <a:latin typeface="微软雅黑"/>
                <a:ea typeface="微软雅黑"/>
              </a:rPr>
              <a:t>_640 · 200 </a:t>
            </a:r>
            <a:r>
              <a:rPr lang="zh-CN" sz="975" b="1">
                <a:solidFill>
                  <a:srgbClr val="22303E"/>
                </a:solidFill>
                <a:latin typeface="微软雅黑"/>
                <a:ea typeface="微软雅黑"/>
              </a:rPr>
              <a:t>轮</a:t>
            </a:r>
            <a:r>
              <a:rPr lang="en-US" sz="975" b="1">
                <a:solidFill>
                  <a:srgbClr val="22303E"/>
                </a:solidFill>
                <a:latin typeface="微软雅黑"/>
                <a:ea typeface="微软雅黑"/>
              </a:rPr>
              <a:t> · 640</a:t>
            </a:r>
            <a:r>
              <a:rPr lang="zh-CN" sz="975" b="1">
                <a:solidFill>
                  <a:srgbClr val="22303E"/>
                </a:solidFill>
                <a:latin typeface="微软雅黑"/>
                <a:ea typeface="微软雅黑"/>
              </a:rPr>
              <a:t>（部署主力）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2886075" y="2114550"/>
            <a:ext cx="3143250" cy="1524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2886075" y="2114550"/>
            <a:ext cx="3076575" cy="15240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29325" y="2114550"/>
            <a:ext cx="628650" cy="152400"/>
          </a:xfrm>
          <a:prstGeom prst="rect"/>
        </p:spPr>
        <p:txBody>
          <a:bodyPr wrap="none" lIns="71438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A23B"/>
                </a:solidFill>
                <a:latin typeface="微软雅黑"/>
                <a:ea typeface="微软雅黑"/>
              </a:rPr>
              <a:t>0.783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657975" y="2114550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303E"/>
                </a:solidFill>
                <a:latin typeface="微软雅黑"/>
                <a:ea typeface="微软雅黑"/>
              </a:rPr>
              <a:t>holdout 0.7393</a:t>
            </a:r>
            <a:r>
              <a:rPr lang="zh-CN" sz="975">
                <a:solidFill>
                  <a:srgbClr val="22303E"/>
                </a:solidFill>
                <a:latin typeface="微软雅黑"/>
                <a:ea typeface="微软雅黑"/>
              </a:rPr>
              <a:t>，板端权重来源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504825" y="2362200"/>
            <a:ext cx="7943850" cy="342900"/>
          </a:xfrm>
          <a:custGeom>
            <a:pathLst>
              <a:path w="834" h="36">
                <a:moveTo>
                  <a:pt x="0" y="35"/>
                </a:moveTo>
                <a:lnTo>
                  <a:pt x="834" y="35"/>
                </a:lnTo>
                <a:lnTo>
                  <a:pt x="83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EEF2F5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04825" y="244792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303E"/>
                </a:solidFill>
                <a:latin typeface="微软雅黑"/>
                <a:ea typeface="微软雅黑"/>
              </a:rPr>
              <a:t>aug2 · </a:t>
            </a:r>
            <a:r>
              <a:rPr lang="zh-CN" sz="975">
                <a:solidFill>
                  <a:srgbClr val="22303E"/>
                </a:solidFill>
                <a:latin typeface="微软雅黑"/>
                <a:ea typeface="微软雅黑"/>
              </a:rPr>
              <a:t>真增强</a:t>
            </a:r>
            <a:r>
              <a:rPr lang="en-US" sz="975">
                <a:solidFill>
                  <a:srgbClr val="22303E"/>
                </a:solidFill>
                <a:latin typeface="微软雅黑"/>
                <a:ea typeface="微软雅黑"/>
              </a:rPr>
              <a:t> 5760 </a:t>
            </a:r>
            <a:r>
              <a:rPr lang="zh-CN" sz="975">
                <a:solidFill>
                  <a:srgbClr val="22303E"/>
                </a:solidFill>
                <a:latin typeface="微软雅黑"/>
                <a:ea typeface="微软雅黑"/>
              </a:rPr>
              <a:t>图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2886075" y="2447925"/>
            <a:ext cx="3143250" cy="1524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2886075" y="2447925"/>
            <a:ext cx="3048000" cy="152400"/>
          </a:xfrm>
          <a:prstGeom prst="rect">
            <a:avLst/>
          </a:prstGeom>
          <a:solidFill>
            <a:srgbClr val="93A5B3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029325" y="2447925"/>
            <a:ext cx="628650" cy="152400"/>
          </a:xfrm>
          <a:prstGeom prst="rect"/>
        </p:spPr>
        <p:txBody>
          <a:bodyPr wrap="none" lIns="71438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F7080"/>
                </a:solidFill>
                <a:latin typeface="微软雅黑"/>
                <a:ea typeface="微软雅黑"/>
              </a:rPr>
              <a:t>0.775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657975" y="2447925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不如基线，已禁用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504825" y="2695575"/>
            <a:ext cx="7943850" cy="342900"/>
          </a:xfrm>
          <a:custGeom>
            <a:pathLst>
              <a:path w="834" h="36">
                <a:moveTo>
                  <a:pt x="0" y="35"/>
                </a:moveTo>
                <a:lnTo>
                  <a:pt x="834" y="35"/>
                </a:lnTo>
                <a:lnTo>
                  <a:pt x="83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EEF2F5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04825" y="2781300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303E"/>
                </a:solidFill>
                <a:latin typeface="微软雅黑"/>
                <a:ea typeface="微软雅黑"/>
              </a:rPr>
              <a:t>negdagm 1:1</a:t>
            </a:r>
            <a:r>
              <a:rPr lang="zh-CN" sz="975">
                <a:solidFill>
                  <a:srgbClr val="22303E"/>
                </a:solidFill>
                <a:latin typeface="微软雅黑"/>
                <a:ea typeface="微软雅黑"/>
              </a:rPr>
              <a:t>（含负样本）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2886075" y="2781300"/>
            <a:ext cx="3143250" cy="1524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2886075" y="2781300"/>
            <a:ext cx="2867025" cy="15240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029325" y="2781300"/>
            <a:ext cx="628650" cy="152400"/>
          </a:xfrm>
          <a:prstGeom prst="rect"/>
        </p:spPr>
        <p:txBody>
          <a:bodyPr wrap="none" lIns="71438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6F8E"/>
                </a:solidFill>
                <a:latin typeface="微软雅黑"/>
                <a:ea typeface="微软雅黑"/>
              </a:rPr>
              <a:t>0.730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657975" y="2781300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holdout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口径，误检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0%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504825" y="3028950"/>
            <a:ext cx="7943850" cy="342900"/>
          </a:xfrm>
          <a:custGeom>
            <a:pathLst>
              <a:path w="834" h="36">
                <a:moveTo>
                  <a:pt x="0" y="35"/>
                </a:moveTo>
                <a:lnTo>
                  <a:pt x="834" y="35"/>
                </a:lnTo>
                <a:lnTo>
                  <a:pt x="83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EEF2F5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04825" y="311467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303E"/>
                </a:solidFill>
                <a:latin typeface="微软雅黑"/>
                <a:ea typeface="微软雅黑"/>
              </a:rPr>
              <a:t>negdagm_half 1:2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2886075" y="3114675"/>
            <a:ext cx="3143250" cy="1524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2886075" y="3114675"/>
            <a:ext cx="2838450" cy="15240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29325" y="3114675"/>
            <a:ext cx="628650" cy="152400"/>
          </a:xfrm>
          <a:prstGeom prst="rect"/>
        </p:spPr>
        <p:txBody>
          <a:bodyPr wrap="none" lIns="71438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6F8E"/>
                </a:solidFill>
                <a:latin typeface="微软雅黑"/>
                <a:ea typeface="微软雅黑"/>
              </a:rPr>
              <a:t>0.722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657975" y="3114675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比例解不开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tradeoff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504825" y="3448050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303E"/>
                </a:solidFill>
                <a:latin typeface="微软雅黑"/>
                <a:ea typeface="微软雅黑"/>
              </a:rPr>
              <a:t>crazing_focus </a:t>
            </a:r>
            <a:r>
              <a:rPr lang="zh-CN" sz="975">
                <a:solidFill>
                  <a:srgbClr val="22303E"/>
                </a:solidFill>
                <a:latin typeface="微软雅黑"/>
                <a:ea typeface="微软雅黑"/>
              </a:rPr>
              <a:t>专项微调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2886075" y="3448050"/>
            <a:ext cx="3143250" cy="1524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2886075" y="3448050"/>
            <a:ext cx="1971675" cy="152400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29325" y="3448050"/>
            <a:ext cx="628650" cy="152400"/>
          </a:xfrm>
          <a:prstGeom prst="rect"/>
        </p:spPr>
        <p:txBody>
          <a:bodyPr wrap="none" lIns="71438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0504D"/>
                </a:solidFill>
                <a:latin typeface="微软雅黑"/>
                <a:ea typeface="微软雅黑"/>
              </a:rPr>
              <a:t>0.502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657975" y="3448050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0504D"/>
                </a:solidFill>
                <a:latin typeface="微软雅黑"/>
                <a:ea typeface="微软雅黑"/>
              </a:rPr>
              <a:t>灾难性遗忘，不可部署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8677275" y="1123950"/>
            <a:ext cx="3048000" cy="10668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8639175" y="1123950"/>
            <a:ext cx="3086100" cy="1066800"/>
          </a:xfrm>
          <a:custGeom>
            <a:pathLst>
              <a:path w="324" h="112">
                <a:moveTo>
                  <a:pt x="0" y="0"/>
                </a:moveTo>
                <a:lnTo>
                  <a:pt x="4" y="0"/>
                </a:lnTo>
                <a:lnTo>
                  <a:pt x="4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791575" y="123825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0504D"/>
                </a:solidFill>
                <a:latin typeface="微软雅黑"/>
                <a:ea typeface="微软雅黑"/>
              </a:rPr>
              <a:t>失败</a:t>
            </a:r>
            <a:r>
              <a:rPr lang="en-US" sz="1050" b="1">
                <a:solidFill>
                  <a:srgbClr val="C0504D"/>
                </a:solidFill>
                <a:latin typeface="微软雅黑"/>
                <a:ea typeface="微软雅黑"/>
              </a:rPr>
              <a:t> 1</a:t>
            </a:r>
            <a:r>
              <a:rPr lang="zh-CN" sz="1050" b="1">
                <a:solidFill>
                  <a:srgbClr val="C0504D"/>
                </a:solidFill>
                <a:latin typeface="微软雅黑"/>
                <a:ea typeface="微软雅黑"/>
              </a:rPr>
              <a:t>：数据增强不涨点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791575" y="1457325"/>
            <a:ext cx="2781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真增强集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5760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图训出来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0.775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，反而不如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1440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图的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0.783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。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NEU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类间差异大、类内差异小，通用增强带来的增量有限。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8677275" y="2286000"/>
            <a:ext cx="3048000" cy="10668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8639175" y="2286000"/>
            <a:ext cx="3086100" cy="1066800"/>
          </a:xfrm>
          <a:custGeom>
            <a:pathLst>
              <a:path w="324" h="112">
                <a:moveTo>
                  <a:pt x="0" y="0"/>
                </a:moveTo>
                <a:lnTo>
                  <a:pt x="4" y="0"/>
                </a:lnTo>
                <a:lnTo>
                  <a:pt x="4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791575" y="240030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0504D"/>
                </a:solidFill>
                <a:latin typeface="微软雅黑"/>
                <a:ea typeface="微软雅黑"/>
              </a:rPr>
              <a:t>失败</a:t>
            </a:r>
            <a:r>
              <a:rPr lang="en-US" sz="1050" b="1">
                <a:solidFill>
                  <a:srgbClr val="C0504D"/>
                </a:solidFill>
                <a:latin typeface="微软雅黑"/>
                <a:ea typeface="微软雅黑"/>
              </a:rPr>
              <a:t> 2</a:t>
            </a:r>
            <a:r>
              <a:rPr lang="zh-CN" sz="1050" b="1">
                <a:solidFill>
                  <a:srgbClr val="C0504D"/>
                </a:solidFill>
                <a:latin typeface="微软雅黑"/>
                <a:ea typeface="微软雅黑"/>
              </a:rPr>
              <a:t>：弱类专项微调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791575" y="2619375"/>
            <a:ext cx="2781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只喂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crazing +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负样本，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30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轮后本类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R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仅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+1.4pt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，其余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5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类最多掉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52pt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。单类微调在多类检测上风险极高。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8677275" y="3448050"/>
            <a:ext cx="3048000" cy="1685925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8639175" y="3448050"/>
            <a:ext cx="3086100" cy="1685925"/>
          </a:xfrm>
          <a:custGeom>
            <a:pathLst>
              <a:path w="324" h="177">
                <a:moveTo>
                  <a:pt x="0" y="0"/>
                </a:moveTo>
                <a:lnTo>
                  <a:pt x="4" y="0"/>
                </a:lnTo>
                <a:lnTo>
                  <a:pt x="4" y="177"/>
                </a:lnTo>
                <a:lnTo>
                  <a:pt x="0" y="177"/>
                </a:lnTo>
                <a:close/>
              </a:path>
            </a:pathLst>
          </a:custGeom>
          <a:solidFill>
            <a:srgbClr val="22303E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791575" y="356235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口径提醒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791575" y="3781425"/>
            <a:ext cx="278130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上表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0.651 / 0.750 / 0.783 / 0.775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为</a:t>
            </a:r>
            <a:r>
              <a:rPr lang="zh-CN" sz="900" b="1">
                <a:solidFill>
                  <a:srgbClr val="5F7080"/>
                </a:solidFill>
                <a:latin typeface="微软雅黑"/>
                <a:ea typeface="微软雅黑"/>
              </a:rPr>
              <a:t>全</a:t>
            </a:r>
            <a:r>
              <a:rPr lang="en-US" sz="900" b="1">
                <a:solidFill>
                  <a:srgbClr val="5F7080"/>
                </a:solidFill>
                <a:latin typeface="微软雅黑"/>
                <a:ea typeface="微软雅黑"/>
              </a:rPr>
              <a:t> val 360 </a:t>
            </a:r>
            <a:r>
              <a:rPr lang="zh-CN" sz="900" b="1">
                <a:solidFill>
                  <a:srgbClr val="5F7080"/>
                </a:solidFill>
                <a:latin typeface="微软雅黑"/>
                <a:ea typeface="微软雅黑"/>
              </a:rPr>
              <a:t>张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口径（历史演进记录）；后三行为</a:t>
            </a:r>
            <a:r>
              <a:rPr lang="en-US" sz="900" b="1">
                <a:solidFill>
                  <a:srgbClr val="5F7080"/>
                </a:solidFill>
                <a:latin typeface="微软雅黑"/>
                <a:ea typeface="微软雅黑"/>
              </a:rPr>
              <a:t>holdout 182 </a:t>
            </a:r>
            <a:r>
              <a:rPr lang="zh-CN" sz="900" b="1">
                <a:solidFill>
                  <a:srgbClr val="5F7080"/>
                </a:solidFill>
                <a:latin typeface="微软雅黑"/>
                <a:ea typeface="微软雅黑"/>
              </a:rPr>
              <a:t>张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口径。</a:t>
            </a:r>
            <a:endParaRPr/>
          </a:p>
          <a:p>
            <a:pPr>
              <a:lnSpc>
                <a:spcPct val="150000"/>
              </a:lnSpc>
            </a:pPr>
            <a:r>
              <a:rPr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50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另有合成数据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0.959 ——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那是合成集成绩，</a:t>
            </a:r>
            <a:r>
              <a:rPr lang="zh-CN" sz="900" b="1">
                <a:solidFill>
                  <a:srgbClr val="C0504D"/>
                </a:solidFill>
                <a:latin typeface="微软雅黑"/>
                <a:ea typeface="微软雅黑"/>
              </a:rPr>
              <a:t>不得作为</a:t>
            </a:r>
            <a:r>
              <a:rPr lang="en-US" sz="900" b="1">
                <a:solidFill>
                  <a:srgbClr val="C0504D"/>
                </a:solidFill>
                <a:latin typeface="微软雅黑"/>
                <a:ea typeface="微软雅黑"/>
              </a:rPr>
              <a:t> NEU </a:t>
            </a:r>
            <a:r>
              <a:rPr lang="zh-CN" sz="900" b="1">
                <a:solidFill>
                  <a:srgbClr val="C0504D"/>
                </a:solidFill>
                <a:latin typeface="微软雅黑"/>
                <a:ea typeface="微软雅黑"/>
              </a:rPr>
              <a:t>成绩引用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504825" y="5248275"/>
            <a:ext cx="11182350" cy="266700"/>
          </a:xfrm>
          <a:custGeom>
            <a:pathLst>
              <a:path w="1174" h="28">
                <a:moveTo>
                  <a:pt x="0" y="0"/>
                </a:moveTo>
                <a:lnTo>
                  <a:pt x="1174" y="0"/>
                </a:lnTo>
                <a:lnTo>
                  <a:pt x="1174" y="1"/>
                </a:lnTo>
                <a:lnTo>
                  <a:pt x="0" y="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04825" y="5353050"/>
            <a:ext cx="3714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基于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RK3588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的轻量化工业缺陷检测系统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模型训练与边缘部署分析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0706100" y="5353050"/>
            <a:ext cx="981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第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5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共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10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01" name="" descr="&lt;Slide&#10;    style={{&#10;        width: '1280px',&#10;        height: '720px',&#10;        background: '#FFFFFF',&#10;        fontFamily: '微软雅黑',&#10;        paddingLeft: 53,&#10;        paddingRight: 53,&#10;        paddingTop: 38,&#10;        paddingBottom: 26,&#10;    }}&#10;&gt;&#10;    &lt;Box style={{ flexDirection: 'row', alignItems: 'center', gap: 12 }}&gt;&#10;        &lt;Box style={{ width: 6, height: 30, background: '#2E6F8E' }} /&gt;&#10;        &lt;Text style={{ fontSize: 30, fontWeight: 'bold', color: '#22303E' }}&gt;六类识别准确度：Recall 与 Precision 双看&lt;/Text&gt;&#10;    &lt;/Box&gt;&#10;&#10;    &lt;Text style={{ fontSize: 16, color: '#5F7080', marginTop: 10, marginLeft: 18 }}&gt;&#10;        holdout 182 张、统一阈值 0.20 —— 整体 mAP50 0.7393 / mAP50-95 0.4087 / P 0.6619 / R 0.7757&#10;    &lt;/Text&gt;&#10;&#10;    &lt;Box style={{ flexDirection: 'row', gap: 20, marginTop: 16 }}&gt;&#10;        &lt;Box style={{ flex: 1 }}&gt;&#10;            &lt;Box style={{ flexDirection: 'row', gap: 16, marginBottom: 12 }}&gt;&#10;                &lt;Box style={{ flexDirection: 'row', gap: 8, alignItems: 'center' }}&gt;&#10;                    &lt;Box style={{ width: 14, height: 14, background: '#2E6F8E' }} /&gt;&#10;                    &lt;Text style={{ fontSize: 13, color: '#5F7080' }}&gt;Recall（查全）&lt;/Text&gt;&#10;                &lt;/Box&gt;&#10;                &lt;Box style={{ flexDirection: 'row', gap: 8, alignItems: 'center' }}&gt;&#10;                    &lt;Box style={{ width: 14, height: 14, background: '#E8A23B' }} /&gt;&#10;                    &lt;Text style={{ fontSize: 13, color: '#5F7080' }}&gt;Precision（查准）&lt;/Text&gt;&#10;                &lt;/Box&gt;&#10;            &lt;/Box&gt;&#10;&#10;            &lt;Box style={{ flexDirection: 'row', alignItems: 'center', marginBottom: 14 }}&gt;&#10;                &lt;Text style={{ fontSize: 14, fontWeight: 'bold', color: '#22303E', width: 140 }}&gt;patches&lt;/Text&gt;&#10;                &lt;Box style={{ width: 480 }}&gt;&#10;                    &lt;Box style={{ flexDirection: 'row', alignItems: 'center', marginBottom: 3 }}&gt;&#10;                        &lt;Box style={{ width: 466, height: 14, background: '#2E6F8E' }} /&gt;&#10;                        &lt;Text style={{ fontSize: 12, fontWeight: 'bold', color: '#2E6F8E', marginLeft: 10 }}&gt;0.922&lt;/Text&gt;&#10;                    &lt;/Box&gt;&#10;                    &lt;Box style={{ flexDirection: 'row', alignItems: 'center' }}&gt;&#10;                        &lt;Box style={{ width: 437, height: 14, background: '#E8A23B' }} /&gt;&#10;                        &lt;Text style={{ fontSize: 12, fontWeight: 'bold', color: '#E8A23B', marginLeft: 10 }}&gt;0.866&lt;/Text&gt;&#10;                    &lt;/Box&gt;&#10;                &lt;/Box&gt;&#10;            &lt;/Box&gt;&#10;&#10;            &lt;Box style={{ flexDirection: 'row', alignItems: 'center', marginBottom: 14 }}&gt;&#10;                &lt;Text style={{ fontSize: 14, fontWeight: 'bold', color: '#22303E', width: 140 }}&gt;pitted_surface&lt;/Text&gt;&#10;                &lt;Box style={{ width: 480 }}&gt;&#10;                    &lt;Box style={{ flexDirection: 'row', alignItems: 'center', marginBottom: 3 }}&gt;&#10;                        &lt;Box style={{ width: 415, height: 14, background: '#2E6F8E' }} /&gt;&#10;                        &lt;Text style={{ fontSize: 12, fontWeight: 'bold', color: '#2E6F8E', marginLeft: 10 }}&gt;0.822&lt;/Text&gt;&#10;                    &lt;/Box&gt;&#10;                    &lt;Box style={{ flexDirection: 'row', alignItems: 'center' }}&gt;&#10;                        &lt;Box style={{ width: 346, height: 14, background: '#E8A23B' }} /&gt;&#10;                        &lt;Text style={{ fontSize: 12, fontWeight: 'bold', color: '#E8A23B', marginLeft: 10 }}&gt;0.685&lt;/Text&gt;&#10;                    &lt;/Box&gt;&#10;                &lt;/Box&gt;&#10;            &lt;/Box&gt;&#10;&#10;            &lt;Box style={{ flexDirection: 'row', alignItems: 'center', marginBottom: 14 }}&gt;&#10;                &lt;Text style={{ fontSize: 14, fontWeight: 'bold', color: '#22303E', width: 140 }}&gt;scratches&lt;/Text&gt;&#10;                &lt;Box style={{ width: 480 }}&gt;&#10;                    &lt;Box style={{ flexDirection: 'row', alignItems: 'center', marginBottom: 3 }}&gt;&#10;                        &lt;Box style={{ width: 409, height: 14, background: '#2E6F8E' }} /&gt;&#10;                        &lt;Text style={{ fontSize: 12, fontWeight: 'bold', color: '#2E6F8E', marginLeft: 10 }}&gt;0.810&lt;/Text&gt;&#10;                    &lt;/Box&gt;&#10;                    &lt;Box style={{ flexDirection: 'row', alignItems: 'center' }}&gt;&#10;                        &lt;Box style={{ width: 363, height: 14, background: '#E8A23B' }} /&gt;&#10;                        &lt;Text style={{ fontSize: 12, fontWeight: 'bold', color: '#E8A23B', marginLeft: 10 }}&gt;0.718&lt;/Text&gt;&#10;                    &lt;/Box&gt;&#10;                &lt;/Box&gt;&#10;            &lt;/Box&gt;&#10;&#10;            &lt;Box style={{ flexDirection: 'row', alignItems: 'center', marginBottom: 14 }}&gt;&#10;                &lt;Text style={{ fontSize: 14, fontWeight: 'bold', color: '#22303E', width: 140 }}&gt;inclusion&lt;/Text&gt;&#10;                &lt;Box style={{ width: 480 }}&gt;&#10;                    &lt;Box style={{ flexDirection: 'row', alignItems: 'center', marginBottom: 3 }}&gt;&#10;                        &lt;Box style={{ width: 392, height: 14, background: '#2E6F8E' }} /&gt;&#10;                        &lt;Text style={{ fontSize: 12, fontWeight: 'bold', color: '#2E6F8E', marginLeft: 10 }}&gt;0.776&lt;/Text&gt;&#10;                    &lt;/Box&gt;&#10;                    &lt;Box style={{ flexDirection: 'row', alignItems: 'center' }}&gt;&#10;                        &lt;Box style={{ width: 337, height: 14, background: '#E8A23B' }} /&gt;&#10;                        &lt;Text style={{ fontSize: 12, fontWeight: 'bold', color: '#E8A23B', marginLeft: 10 }}&gt;0.667&lt;/Text&gt;&#10;                    &lt;/Box&gt;&#10;                &lt;/Box&gt;&#10;            &lt;/Box&gt;&#10;&#10;            &lt;Box style={{ flexDirection: 'row', alignItems: 'center', marginBottom: 14 }}&gt;&#10;                &lt;Text style={{ fontSize: 14, fontWeight: 'bold', color: '#22303E', width: 140 }}&gt;rolled-in_scale&lt;/Text&gt;&#10;                &lt;Box style={{ width: 480 }}&gt;&#10;                    &lt;Box style={{ flexDirection: 'row', alignItems: 'center', marginBottom: 3 }}&gt;&#10;                        &lt;Box style={{ width: 371, height: 14, background: '#2E6F8E' }} /&gt;&#10;                        &lt;Text style={{ fontSize: 12, fontWeight: 'bold', color: '#2E6F8E', marginLeft: 10 }}&gt;0.734&lt;/Text&gt;&#10;                    &lt;/Box&gt;&#10;                    &lt;Box style={{ flexDirection: 'row', alignItems: 'center' }}&gt;&#10;                        &lt;Box style={{ width: 293, height: 14, background: '#E8A23B' }} /&gt;&#10;                        &lt;Text style={{ fontSize: 12, fontWeight: 'bold', color: '#E8A23B', marginLeft: 10 }}&gt;0.580&lt;/Text&gt;&#10;                    &lt;/Box&gt;&#10;                &lt;/Box&gt;&#10;            &lt;/Box&gt;&#10;&#10;            &lt;Box style={{ flexDirection: 'row', alignItems: 'center' }}&gt;&#10;                &lt;Text style={{ fontSize: 14, fontWeight: 'bold', color: '#22303E', width: 140 }}&gt;crazing&lt;/Text&gt;&#10;                &lt;Box style={{ width: 480 }}&gt;&#10;                    &lt;Box style={{ flexDirection: 'row', alignItems: 'center', marginBottom: 3 }}&gt;&#10;                        &lt;Box style={{ width: 302, height: 14, background: '#2E6F8E' }} /&gt;&#10;                        &lt;Text style={{ fontSize: 12, fontWeight: 'bold', color: '#2E6F8E', marginLeft: 10 }}&gt;0.597&lt;/Text&gt;&#10;                    &lt;/Box&gt;&#10;                    &lt;Box style={{ flexDirection: 'row', alignItems: 'center' }}&gt;&#10;                        &lt;Box style={{ width: 244, height: 14, background: '#E8A23B' }} /&gt;&#10;                        &lt;Text style={{ fontSize: 12, fontWeight: 'bold', color: '#E8A23B', marginLeft: 10 }}&gt;0.483&lt;/Text&gt;&#10;                    &lt;/Box&gt;&#10;                &lt;/Box&gt;&#10;            &lt;/Box&gt;&#10;        &lt;/Box&gt;&#10;&#10;        &lt;Box style={{ width: 330 }}&gt;&#10;            &lt;Box style={{ background: '#F2F5F7', borderTop: '4px solid #2E6F8E', padding: 12, marginBottom: 10 }}&gt;&#10;                &lt;Text style={{ fontSize: 14, fontWeight: 'bold', color: '#2E6F8E', marginBottom: 6 }}&gt;最强：patches&lt;/Text&gt;&#10;                &lt;Text style={{ fontSize: 12, color: '#5F7080', lineHeight: 1.5 }}&gt;R 0.922 / P 0.866，双指标都是全类第一。斑块状缺陷轮廓闭合、与背景对比强，是本任务里最容易学的形态。&lt;/Text&gt;&#10;            &lt;/Box&gt;&#10;&#10;            &lt;Box style={{ background: '#F2F5F7', borderTop: '4px solid #E8A23B', padding: 12, marginBottom: 10 }}&gt;&#10;                &lt;Text style={{ fontSize: 14, fontWeight: 'bold', color: '#E8A23B', marginBottom: 6 }}&gt;最弱：crazing&lt;/Text&gt;&#10;                &lt;Text style={{ fontSize: 12, color: '#5F7080', lineHeight: 1.5 }}&gt;R 0.597 / P 0.483。龟裂纹路细密且与背景纹理连续，模型特征区分度不足；阈值与微调两条路都已证无效，判定为数据上限问题。&lt;/Text&gt;&#10;            &lt;/Box&gt;&#10;&#10;            &lt;Box style={{ background: '#F2F5F7', borderTop: '4px solid #93A5B3', padding: 12, marginBottom: 10 }}&gt;&#10;                &lt;Text style={{ fontSize: 14, fontWeight: 'bold', color: '#5F7080', marginBottom: 6 }}&gt;交叉混淆：scratches ↔ inclusion&lt;/Text&gt;&#10;                &lt;Text style={{ fontSize: 12, color: '#5F7080', lineHeight: 1.5 }}&gt;180 张真实图 top-1 实测 97.8%，误差全部落在这两类之间；数据集 9.1% 跨类标注也集中于此。&lt;/Text&gt;&#10;            &lt;/Box&gt;&#10;&#10;            &lt;Box style={{ background: '#22303E', padding: 12 }}&gt;&#10;                &lt;Text style={{ fontSize: 14, fontWeight: 'bold', color: '#FFFFFF', marginBottom: 6 }}&gt;阈值结论&lt;/Text&gt;&#10;                &lt;Text style={{ fontSize: 12, color: '#D6E0E9', lineHeight: 1.5 }}&gt;per-class 阈值（0.16 / 0.30）在 cal 上几乎与统一 0.20 等价，scratches 召回反而 −4pt —— 已验证可统一回 0.20，简化板端代码。&lt;/Text&gt;&#10;            &lt;/Box&gt;&#10;        &lt;/Box&gt;&#10;    &lt;/Box&gt;&#10;&#10;    &lt;Box style={{ flexDirection: 'row', justifyContent: 'space-between', alignItems: 'center', borderTop: '1px solid #D6E0E9', paddingTop: 10, marginTop: 12 }}&gt;&#10;        &lt;Text style={{ fontSize: 13, color: '#93A5B3' }}&gt;基于 RK3588 的轻量化工业缺陷检测系统 · 模型训练与边缘部署分析&lt;/Text&gt;&#10;        &lt;Text style={{ fontSize: 13, color: '#93A5B3' }}&gt;第 6 页 · 共 10 页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504825" y="390525"/>
            <a:ext cx="57150" cy="2857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76275" y="361950"/>
            <a:ext cx="5581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2303E"/>
                </a:solidFill>
                <a:latin typeface="微软雅黑"/>
                <a:ea typeface="微软雅黑"/>
              </a:rPr>
              <a:t>六类识别准确度：</a:t>
            </a:r>
            <a:r>
              <a:rPr lang="en-US" sz="2250" b="1">
                <a:solidFill>
                  <a:srgbClr val="22303E"/>
                </a:solidFill>
                <a:latin typeface="微软雅黑"/>
                <a:ea typeface="微软雅黑"/>
              </a:rPr>
              <a:t>Recall </a:t>
            </a:r>
            <a:r>
              <a:rPr lang="zh-CN" sz="2250" b="1">
                <a:solidFill>
                  <a:srgbClr val="22303E"/>
                </a:solidFill>
                <a:latin typeface="微软雅黑"/>
                <a:ea typeface="微软雅黑"/>
              </a:rPr>
              <a:t>与</a:t>
            </a:r>
            <a:r>
              <a:rPr lang="en-US" sz="2250" b="1">
                <a:solidFill>
                  <a:srgbClr val="22303E"/>
                </a:solidFill>
                <a:latin typeface="微软雅黑"/>
                <a:ea typeface="微软雅黑"/>
              </a:rPr>
              <a:t> Precision </a:t>
            </a:r>
            <a:r>
              <a:rPr lang="zh-CN" sz="2250" b="1">
                <a:solidFill>
                  <a:srgbClr val="22303E"/>
                </a:solidFill>
                <a:latin typeface="微软雅黑"/>
                <a:ea typeface="微软雅黑"/>
              </a:rPr>
              <a:t>双看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76275" y="800100"/>
            <a:ext cx="1101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holdout 182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张、统一阈值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0.20 ——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整体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mAP50 0.7393 / mAP50-95 0.4087 / P 0.6619 / R 0.7757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504825" y="1152525"/>
            <a:ext cx="133350" cy="1333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14375" y="1143000"/>
            <a:ext cx="81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Recall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（查全）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1685925" y="1152525"/>
            <a:ext cx="133350" cy="13335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895475" y="1143000"/>
            <a:ext cx="981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Precision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（查准）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04825" y="14859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patches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1838325" y="1419225"/>
            <a:ext cx="4438650" cy="1333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096000" y="1409700"/>
            <a:ext cx="314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E6F8E"/>
                </a:solidFill>
                <a:latin typeface="微软雅黑"/>
                <a:ea typeface="微软雅黑"/>
              </a:rPr>
              <a:t>0.922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1838325" y="1590675"/>
            <a:ext cx="4162425" cy="13335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076950" y="158115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8A23B"/>
                </a:solidFill>
                <a:latin typeface="微软雅黑"/>
                <a:ea typeface="微软雅黑"/>
              </a:rPr>
              <a:t>0.866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04825" y="193357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pitted_surface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1838325" y="1866900"/>
            <a:ext cx="3952875" cy="1333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5886450" y="185737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E6F8E"/>
                </a:solidFill>
                <a:latin typeface="微软雅黑"/>
                <a:ea typeface="微软雅黑"/>
              </a:rPr>
              <a:t>0.822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1838325" y="2038350"/>
            <a:ext cx="3295650" cy="13335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5229225" y="202882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8A23B"/>
                </a:solidFill>
                <a:latin typeface="微软雅黑"/>
                <a:ea typeface="微软雅黑"/>
              </a:rPr>
              <a:t>0.685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504825" y="23812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scratches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1838325" y="2314575"/>
            <a:ext cx="3895725" cy="1333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829300" y="230505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E6F8E"/>
                </a:solidFill>
                <a:latin typeface="微软雅黑"/>
                <a:ea typeface="微软雅黑"/>
              </a:rPr>
              <a:t>0.810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1838325" y="2486025"/>
            <a:ext cx="3457575" cy="13335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391150" y="247650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8A23B"/>
                </a:solidFill>
                <a:latin typeface="微软雅黑"/>
                <a:ea typeface="微软雅黑"/>
              </a:rPr>
              <a:t>0.718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04825" y="282892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inclusion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1838325" y="2762250"/>
            <a:ext cx="3733800" cy="1333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667375" y="275272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E6F8E"/>
                </a:solidFill>
                <a:latin typeface="微软雅黑"/>
                <a:ea typeface="微软雅黑"/>
              </a:rPr>
              <a:t>0.776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1838325" y="2933700"/>
            <a:ext cx="3209925" cy="13335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143500" y="292417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8A23B"/>
                </a:solidFill>
                <a:latin typeface="微软雅黑"/>
                <a:ea typeface="微软雅黑"/>
              </a:rPr>
              <a:t>0.667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04825" y="32766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rolled-in_scale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1838325" y="3209925"/>
            <a:ext cx="3533775" cy="1333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467350" y="320040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E6F8E"/>
                </a:solidFill>
                <a:latin typeface="微软雅黑"/>
                <a:ea typeface="微软雅黑"/>
              </a:rPr>
              <a:t>0.734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1838325" y="3381375"/>
            <a:ext cx="2790825" cy="13335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724400" y="337185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8A23B"/>
                </a:solidFill>
                <a:latin typeface="微软雅黑"/>
                <a:ea typeface="微软雅黑"/>
              </a:rPr>
              <a:t>0.580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04825" y="372427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303E"/>
                </a:solidFill>
                <a:latin typeface="微软雅黑"/>
                <a:ea typeface="微软雅黑"/>
              </a:rPr>
              <a:t>crazing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1838325" y="3657600"/>
            <a:ext cx="2876550" cy="1333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810125" y="364807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E6F8E"/>
                </a:solidFill>
                <a:latin typeface="微软雅黑"/>
                <a:ea typeface="微软雅黑"/>
              </a:rPr>
              <a:t>0.597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1838325" y="3829050"/>
            <a:ext cx="2324100" cy="13335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257675" y="381952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8A23B"/>
                </a:solidFill>
                <a:latin typeface="微软雅黑"/>
                <a:ea typeface="微软雅黑"/>
              </a:rPr>
              <a:t>0.483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8543925" y="1181100"/>
            <a:ext cx="3143250" cy="904875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8543925" y="1143000"/>
            <a:ext cx="3143250" cy="942975"/>
          </a:xfrm>
          <a:custGeom>
            <a:pathLst>
              <a:path w="330" h="99">
                <a:moveTo>
                  <a:pt x="0" y="0"/>
                </a:moveTo>
                <a:lnTo>
                  <a:pt x="330" y="0"/>
                </a:lnTo>
                <a:lnTo>
                  <a:pt x="330" y="4"/>
                </a:lnTo>
                <a:lnTo>
                  <a:pt x="0" y="4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658225" y="1295400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E6F8E"/>
                </a:solidFill>
                <a:latin typeface="微软雅黑"/>
                <a:ea typeface="微软雅黑"/>
              </a:rPr>
              <a:t>最强：</a:t>
            </a:r>
            <a:r>
              <a:rPr lang="en-US" sz="1050" b="1">
                <a:solidFill>
                  <a:srgbClr val="2E6F8E"/>
                </a:solidFill>
                <a:latin typeface="微软雅黑"/>
                <a:ea typeface="微软雅黑"/>
              </a:rPr>
              <a:t>patches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658225" y="1514475"/>
            <a:ext cx="29146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R 0.922 / P 0.866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，双指标都是全类第一。斑块状缺陷轮廓闭合、与背景对比强，是本任务里最容易学的形态。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8543925" y="2181225"/>
            <a:ext cx="3143250" cy="11049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8543925" y="2143125"/>
            <a:ext cx="3143250" cy="1143000"/>
          </a:xfrm>
          <a:custGeom>
            <a:pathLst>
              <a:path w="330" h="120">
                <a:moveTo>
                  <a:pt x="0" y="0"/>
                </a:moveTo>
                <a:lnTo>
                  <a:pt x="330" y="0"/>
                </a:lnTo>
                <a:lnTo>
                  <a:pt x="330" y="4"/>
                </a:lnTo>
                <a:lnTo>
                  <a:pt x="0" y="4"/>
                </a:lnTo>
                <a:close/>
              </a:path>
            </a:pathLst>
          </a:custGeom>
          <a:solidFill>
            <a:srgbClr val="E8A23B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658225" y="229552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8A23B"/>
                </a:solidFill>
                <a:latin typeface="微软雅黑"/>
                <a:ea typeface="微软雅黑"/>
              </a:rPr>
              <a:t>最弱：</a:t>
            </a:r>
            <a:r>
              <a:rPr lang="en-US" sz="1050" b="1">
                <a:solidFill>
                  <a:srgbClr val="E8A23B"/>
                </a:solidFill>
                <a:latin typeface="微软雅黑"/>
                <a:ea typeface="微软雅黑"/>
              </a:rPr>
              <a:t>crazing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658225" y="2514600"/>
            <a:ext cx="29146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R 0.597 / P 0.483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。龟裂纹路细密且与背景纹理连续，模型特征区分度不足；阈值与微调两条路都已证无效，判定为数据上限问题。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8543925" y="3381375"/>
            <a:ext cx="3143250" cy="904875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8543925" y="3343275"/>
            <a:ext cx="3143250" cy="942975"/>
          </a:xfrm>
          <a:custGeom>
            <a:pathLst>
              <a:path w="330" h="99">
                <a:moveTo>
                  <a:pt x="0" y="0"/>
                </a:moveTo>
                <a:lnTo>
                  <a:pt x="330" y="0"/>
                </a:lnTo>
                <a:lnTo>
                  <a:pt x="330" y="4"/>
                </a:lnTo>
                <a:lnTo>
                  <a:pt x="0" y="4"/>
                </a:lnTo>
                <a:close/>
              </a:path>
            </a:pathLst>
          </a:custGeom>
          <a:solidFill>
            <a:srgbClr val="93A5B3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658225" y="34956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F7080"/>
                </a:solidFill>
                <a:latin typeface="微软雅黑"/>
                <a:ea typeface="微软雅黑"/>
              </a:rPr>
              <a:t>交叉混淆：</a:t>
            </a:r>
            <a:r>
              <a:rPr lang="en-US" sz="1050" b="1">
                <a:solidFill>
                  <a:srgbClr val="5F7080"/>
                </a:solidFill>
                <a:latin typeface="微软雅黑"/>
                <a:ea typeface="微软雅黑"/>
              </a:rPr>
              <a:t>scratches ↔ inclusion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658225" y="3714750"/>
            <a:ext cx="29146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180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张真实图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top-1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实测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97.8%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，误差全部落在这两类之间；数据集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9.1%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跨类标注也集中于此。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8543925" y="4343400"/>
            <a:ext cx="3143250" cy="106680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658225" y="4457700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微软雅黑"/>
                <a:ea typeface="微软雅黑"/>
              </a:rPr>
              <a:t>阈值结论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658225" y="4676775"/>
            <a:ext cx="29146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D6E0E9"/>
                </a:solidFill>
                <a:latin typeface="微软雅黑"/>
                <a:ea typeface="微软雅黑"/>
              </a:rPr>
              <a:t>per-class </a:t>
            </a: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阈值（</a:t>
            </a:r>
            <a:r>
              <a:rPr lang="en-US" sz="900">
                <a:solidFill>
                  <a:srgbClr val="D6E0E9"/>
                </a:solidFill>
                <a:latin typeface="微软雅黑"/>
                <a:ea typeface="微软雅黑"/>
              </a:rPr>
              <a:t>0.16 / 0.30</a:t>
            </a: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）在</a:t>
            </a:r>
            <a:r>
              <a:rPr lang="en-US" sz="900">
                <a:solidFill>
                  <a:srgbClr val="D6E0E9"/>
                </a:solidFill>
                <a:latin typeface="微软雅黑"/>
                <a:ea typeface="微软雅黑"/>
              </a:rPr>
              <a:t> cal </a:t>
            </a: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上几乎与统一</a:t>
            </a:r>
            <a:r>
              <a:rPr lang="en-US" sz="900">
                <a:solidFill>
                  <a:srgbClr val="D6E0E9"/>
                </a:solidFill>
                <a:latin typeface="微软雅黑"/>
                <a:ea typeface="微软雅黑"/>
              </a:rPr>
              <a:t> 0.20 </a:t>
            </a: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等价，</a:t>
            </a:r>
            <a:r>
              <a:rPr lang="en-US" sz="900">
                <a:solidFill>
                  <a:srgbClr val="D6E0E9"/>
                </a:solidFill>
                <a:latin typeface="微软雅黑"/>
                <a:ea typeface="微软雅黑"/>
              </a:rPr>
              <a:t>scratches </a:t>
            </a: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召回反而</a:t>
            </a:r>
            <a:r>
              <a:rPr lang="en-US" sz="900">
                <a:solidFill>
                  <a:srgbClr val="D6E0E9"/>
                </a:solidFill>
                <a:latin typeface="微软雅黑"/>
                <a:ea typeface="微软雅黑"/>
              </a:rPr>
              <a:t> −4pt —— </a:t>
            </a: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已验证可统一回</a:t>
            </a:r>
            <a:r>
              <a:rPr lang="en-US" sz="900">
                <a:solidFill>
                  <a:srgbClr val="D6E0E9"/>
                </a:solidFill>
                <a:latin typeface="微软雅黑"/>
                <a:ea typeface="微软雅黑"/>
              </a:rPr>
              <a:t> 0.20</a:t>
            </a: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，简化板端代码。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504825" y="5524500"/>
            <a:ext cx="11182350" cy="266700"/>
          </a:xfrm>
          <a:custGeom>
            <a:pathLst>
              <a:path w="1174" h="28">
                <a:moveTo>
                  <a:pt x="0" y="0"/>
                </a:moveTo>
                <a:lnTo>
                  <a:pt x="1174" y="0"/>
                </a:lnTo>
                <a:lnTo>
                  <a:pt x="1174" y="1"/>
                </a:lnTo>
                <a:lnTo>
                  <a:pt x="0" y="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04825" y="5629275"/>
            <a:ext cx="3714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基于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RK3588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的轻量化工业缺陷检测系统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模型训练与边缘部署分析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0706100" y="5629275"/>
            <a:ext cx="981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第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6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共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10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58" name="" descr="&lt;Slide&#10;    style={{&#10;        width: '1280px',&#10;        height: '720px',&#10;        background: '#FFFFFF',&#10;        fontFamily: '微软雅黑',&#10;        paddingLeft: 53,&#10;        paddingRight: 53,&#10;        paddingTop: 36,&#10;        paddingBottom: 24,&#10;    }}&#10;&gt;&#10;    &lt;Box style={{ flexDirection: 'row', alignItems: 'center', gap: 12 }}&gt;&#10;        &lt;Box style={{ width: 6, height: 30, background: '#2E6F8E' }} /&gt;&#10;        &lt;Text style={{ fontSize: 30, fontWeight: 'bold', color: '#22303E' }}&gt;破局：负样本闭环与双模型级联&lt;/Text&gt;&#10;    &lt;/Box&gt;&#10;&#10;    &lt;Text style={{ fontSize: 16, color: '#5F7080', marginTop: 8, marginLeft: 18 }}&gt;&#10;        误检与 top-1 的 tradeoff 用调参解不开 —— 最终靠&lt;span style={{ fontWeight: 'bold', color: '#22303E' }}&gt;把两个目标拆给两个模型&lt;/span&gt;绕开&#10;    &lt;/Text&gt;&#10;&#10;    &lt;Box style={{ flexDirection: 'row', gap: 14, marginTop: 14, alignItems: 'stretch' }}&gt;&#10;        &lt;Box style={{ flex: 1, background: '#FDF6F5', borderTop: '4px solid #C0504D', padding: 14 }}&gt;&#10;            &lt;Text style={{ fontSize: 12, fontWeight: 'bold', color: '#C0504D', marginBottom: 6 }}&gt;STEP 1 · 发现真问题&lt;/Text&gt;&#10;            &lt;Text style={{ fontSize: 17, fontWeight: 'bold', color: '#22303E', marginBottom: 8 }}&gt;模型没学过&quot;什么不是缺陷&quot;&lt;/Text&gt;&#10;            &lt;Text style={{ fontSize: 12, color: '#5F7080', lineHeight: 1.55 }}&gt;&#10;                NEU-DET 每张图都带缺陷框，决策边界只有一侧。&lt;br /&gt;&lt;br /&gt;&#10;                实测误检率：NEU 干净裁块 &lt;span style={{ fontWeight: 'bold', color: '#C0504D' }}&gt;35.5%&lt;/span&gt;；换成 DAGM 2007 无缺陷图直接 &lt;span style={{ fontWeight: 'bold', color: '#C0504D' }}&gt;64.4%&lt;/span&gt;。&lt;br /&gt;&lt;br /&gt;&#10;                误检框里 60% 被判成 crazing —— 模型把所有高频纹理噪声都当龟裂。&#10;            &lt;/Text&gt;&#10;        &lt;/Box&gt;&#10;&#10;        &lt;Box style={{ width: 34, justifyContent: 'center', alignItems: 'center' }}&gt;&#10;            &lt;Text style={{ fontSize: 22, fontWeight: 'bold', color: '#93A5B3' }}&gt;→&lt;/Text&gt;&#10;        &lt;/Box&gt;&#10;&#10;        &lt;Box style={{ flex: 1, background: '#F2F5F7', borderTop: '4px solid #93A5B3', padding: 14 }}&gt;&#10;            &lt;Text style={{ fontSize: 12, fontWeight: 'bold', color: '#5F7080', marginBottom: 6 }}&gt;STEP 2 · 尝试与失败&lt;/Text&gt;&#10;            &lt;Text style={{ fontSize: 17, fontWeight: 'bold', color: '#22303E', marginBottom: 8 }}&gt;加负样本重训，tradeoff 出现&lt;/Text&gt;&#10;            &lt;Text style={{ fontSize: 12, color: '#5F7080', lineHeight: 1.55 }}&gt;&#10;                把 DAGM 无缺陷图按比例混入重训：&lt;br /&gt;&lt;br /&gt;&#10;                误检 &lt;span style={{ fontWeight: 'bold', color: '#2E6F8E' }}&gt;64.4% → 0%&lt;/span&gt;，但 180 张真实图 top-1 &lt;span style={{ fontWeight: 'bold', color: '#C0504D' }}&gt;97.8% → 95.6%&lt;/span&gt;。&lt;br /&gt;&lt;br /&gt;&#10;                1:1 与 1:2 两档比例都试过，都停在 95.6% —— &lt;span style={{ fontWeight: 'bold', color: '#22303E' }}&gt;比例调不出两全&lt;/span&gt;。&#10;            &lt;/Text&gt;&#10;        &lt;/Box&gt;&#10;&#10;        &lt;Box style={{ width: 34, justifyContent: 'center', alignItems: 'center' }}&gt;&#10;            &lt;Text style={{ fontSize: 22, fontWeight: 'bold', color: '#E8A23B' }}&gt;→&lt;/Text&gt;&#10;        &lt;/Box&gt;&#10;&#10;        &lt;Box style={{ flex: 1, background: '#FBF7EF', borderTop: '4px solid #E8A23B', padding: 14 }}&gt;&#10;            &lt;Text style={{ fontSize: 12, fontWeight: 'bold', color: '#E8A23B', marginBottom: 6 }}&gt;STEP 3 · 结构性破局&lt;/Text&gt;&#10;            &lt;Text style={{ fontSize: 17, fontWeight: 'bold', color: '#22303E', marginBottom: 8 }}&gt;级联：一个判有无，一个判类别&lt;/Text&gt;&#10;            &lt;Text style={{ fontSize: 12, color: '#5F7080', lineHeight: 1.55 }}&gt;&#10;                一级 &lt;span style={{ fontWeight: 'bold', color: '#22303E' }}&gt;negdagm_filter&lt;/span&gt; 只回答&quot;有没有缺陷&quot;，0 框直接放行；&lt;br /&gt;&lt;br /&gt;&#10;                二级 &lt;span style={{ fontWeight: 'bold', color: '#22303E' }}&gt;best_neu6_640&lt;/span&gt; 才做 6 类精判。&lt;br /&gt;&lt;br /&gt;&#10;                两个目标各有专责，&lt;span style={{ fontWeight: 'bold', color: '#22303E' }}&gt;不再互相挤压&lt;/span&gt;。&#10;            &lt;/Text&gt;&#10;        &lt;/Box&gt;&#10;    &lt;/Box&gt;&#10;&#10;    &lt;Box style={{ flexDirection: 'row', alignItems: 'stretch', gap: 12, marginTop: 14, background: '#F2F5F7', padding: 14 }}&gt;&#10;        &lt;Box style={{ width: 250, background: '#FFFFFF', border: '1px solid #D6E0E9', padding: 10 }}&gt;&#10;            &lt;Text style={{ fontSize: 13, fontWeight: 'bold', color: '#22303E' }}&gt;输入帧&lt;/Text&gt;&#10;            &lt;Text style={{ fontSize: 11, color: '#5F7080', marginTop: 4 }}&gt;板端相机 / 上位机推图&lt;/Text&gt;&#10;        &lt;/Box&gt;&#10;        &lt;Text style={{ fontSize: 20, fontWeight: 'bold', color: '#93A5B3' }}&gt;→&lt;/Text&gt;&#10;        &lt;Box style={{ width: 300, background: '#FFFFFF', borderLeft: '4px solid #E8A23B', padding: 10 }}&gt;&#10;            &lt;Text style={{ fontSize: 13, fontWeight: 'bold', color: '#22303E' }}&gt;一级 · negdagm_filter.rknn&lt;/Text&gt;&#10;            &lt;Text style={{ fontSize: 11, color: '#5F7080', marginTop: 4 }}&gt;FP16 / 7.5MB · 含负样本训练 · ~70ms · 0 框 → OK&lt;/Text&gt;&#10;        &lt;/Box&gt;&#10;        &lt;Text style={{ fontSize: 20, fontWeight: 'bold', color: '#93A5B3' }}&gt;→&lt;/Text&gt;&#10;        &lt;Box style={{ width: 300, background: '#FFFFFF', borderLeft: '4px solid #2E6F8E', padding: 10 }}&gt;&#10;            &lt;Text style={{ fontSize: 13, fontWeight: 'bold', color: '#22303E' }}&gt;二级 · best_neu6_640.rknn&lt;/Text&gt;&#10;            &lt;Text style={{ fontSize: 11, color: '#5F7080', marginTop: 4 }}&gt;FP16 / 7.5MB · 6 类精判 · ~140-215ms&lt;/Text&gt;&#10;        &lt;/Box&gt;&#10;        &lt;Text style={{ fontSize: 20, fontWeight: 'bold', color: '#93A5B3' }}&gt;→&lt;/Text&gt;&#10;        &lt;Box style={{ flex: 1, background: '#FFFFFF', border: '1px solid #D6E0E9', padding: 10 }}&gt;&#10;            &lt;Text style={{ fontSize: 13, fontWeight: 'bold', color: '#22303E' }}&gt;结果回传&lt;/Text&gt;&#10;            &lt;Text style={{ fontSize: 11, color: '#5F7080', marginTop: 4 }}&gt;协议与单模型版一致&lt;/Text&gt;&#10;        &lt;/Box&gt;&#10;    &lt;/Box&gt;&#10;&#10;    &lt;Box style={{ flexDirection: 'row', gap: 14, marginTop: 14 }}&gt;&#10;        &lt;Box style={{ flex: 1, background: '#22303E', padding: 12, alignItems: 'center' }}&gt;&#10;            &lt;Text style={{ fontSize: 24, fontWeight: 'bold', color: '#FFFFFF' }}&gt;0%&lt;/Text&gt;&#10;            &lt;Text style={{ fontSize: 12, color: '#D6E0E9', marginTop: 4 }}&gt;域外误检（基线 64.4%）&lt;/Text&gt;&#10;        &lt;/Box&gt;&#10;        &lt;Box style={{ flex: 1, background: '#22303E', padding: 12, alignItems: 'center' }}&gt;&#10;            &lt;Text style={{ fontSize: 24, fontWeight: 'bold', color: '#FFFFFF' }}&gt;97.8%&lt;/Text&gt;&#10;            &lt;Text style={{ fontSize: 12, color: '#D6E0E9', marginTop: 4 }}&gt;180 图 top-1（未退化）&lt;/Text&gt;&#10;        &lt;/Box&gt;&#10;        &lt;Box style={{ flex: 1, background: '#22303E', padding: 12, alignItems: 'center' }}&gt;&#10;            &lt;Text style={{ fontSize: 24, fontWeight: 'bold', color: '#FFFFFF' }}&gt;0.7393&lt;/Text&gt;&#10;            &lt;Text style={{ fontSize: 12, color: '#D6E0E9', marginTop: 4 }}&gt;holdout mAP50（不掉点）&lt;/Text&gt;&#10;        &lt;/Box&gt;&#10;        &lt;Box style={{ flex: 1, background: '#22303E', padding: 12, alignItems: 'center' }}&gt;&#10;            &lt;Text style={{ fontSize: 24, fontWeight: 'bold', color: '#FFFFFF' }}&gt;196ms&lt;/Text&gt;&#10;            &lt;Text style={{ fontSize: 12, color: '#D6E0E9', marginTop: 4 }}&gt;板端 p50 延迟（约 5 FPS）&lt;/Text&gt;&#10;        &lt;/Box&gt;&#10;    &lt;/Box&gt;&#10;&#10;    &lt;Box style={{ flexDirection: 'row', justifyContent: 'space-between', alignItems: 'center', borderTop: '1px solid #D6E0E9', paddingTop: 8, marginTop: 10 }}&gt;&#10;        &lt;Text style={{ fontSize: 12, color: '#93A5B3' }}&gt;基于 RK3588 的轻量化工业缺陷检测系统 · 模型训练与边缘部署分析&lt;/Text&gt;&#10;        &lt;Text style={{ fontSize: 12, color: '#93A5B3' }}&gt;第 7 页 · 共 10 页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0" name=""/>
          <p:cNvSpPr/>
          <p:nvPr/>
        </p:nvSpPr>
        <p:spPr>
          <a:xfrm rot="0" flipH="0" flipV="0">
            <a:off x="504825" y="371475"/>
            <a:ext cx="57150" cy="2857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76275" y="342900"/>
            <a:ext cx="4000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2303E"/>
                </a:solidFill>
                <a:latin typeface="微软雅黑"/>
                <a:ea typeface="微软雅黑"/>
              </a:rPr>
              <a:t>破局：负样本闭环与双模型级联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76275" y="762000"/>
            <a:ext cx="1101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误检与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top-1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的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tradeoff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用调参解不开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——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最终靠</a:t>
            </a:r>
            <a:r>
              <a:rPr lang="zh-CN" sz="1200" b="1">
                <a:solidFill>
                  <a:srgbClr val="22303E"/>
                </a:solidFill>
                <a:latin typeface="微软雅黑"/>
                <a:ea typeface="微软雅黑"/>
              </a:rPr>
              <a:t>把两个目标拆给两个模型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绕开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504825" y="1123950"/>
            <a:ext cx="3333750" cy="2276475"/>
          </a:xfrm>
          <a:prstGeom prst="rect">
            <a:avLst/>
          </a:prstGeom>
          <a:solidFill>
            <a:srgbClr val="FDF6F5"/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504825" y="1085850"/>
            <a:ext cx="3333750" cy="2314575"/>
          </a:xfrm>
          <a:custGeom>
            <a:pathLst>
              <a:path w="350" h="243">
                <a:moveTo>
                  <a:pt x="0" y="0"/>
                </a:moveTo>
                <a:lnTo>
                  <a:pt x="350" y="0"/>
                </a:lnTo>
                <a:lnTo>
                  <a:pt x="350" y="4"/>
                </a:lnTo>
                <a:lnTo>
                  <a:pt x="0" y="4"/>
                </a:lnTo>
                <a:close/>
              </a:path>
            </a:pathLst>
          </a:custGeom>
          <a:solidFill>
            <a:srgbClr val="C0504D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38175" y="1257300"/>
            <a:ext cx="3067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0504D"/>
                </a:solidFill>
                <a:latin typeface="微软雅黑"/>
                <a:ea typeface="微软雅黑"/>
              </a:rPr>
              <a:t>STEP 1 · </a:t>
            </a:r>
            <a:r>
              <a:rPr lang="zh-CN" sz="900" b="1">
                <a:solidFill>
                  <a:srgbClr val="C0504D"/>
                </a:solidFill>
                <a:latin typeface="微软雅黑"/>
                <a:ea typeface="微软雅黑"/>
              </a:rPr>
              <a:t>发现真问题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38175" y="1457325"/>
            <a:ext cx="3067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303E"/>
                </a:solidFill>
                <a:latin typeface="微软雅黑"/>
                <a:ea typeface="微软雅黑"/>
              </a:rPr>
              <a:t>模型没学过</a:t>
            </a:r>
            <a:r>
              <a:rPr lang="en-US" sz="1275" b="1">
                <a:solidFill>
                  <a:srgbClr val="22303E"/>
                </a:solidFill>
                <a:latin typeface="微软雅黑"/>
                <a:ea typeface="微软雅黑"/>
              </a:rPr>
              <a:t>"</a:t>
            </a:r>
            <a:r>
              <a:rPr lang="zh-CN" sz="1275" b="1">
                <a:solidFill>
                  <a:srgbClr val="22303E"/>
                </a:solidFill>
                <a:latin typeface="微软雅黑"/>
                <a:ea typeface="微软雅黑"/>
              </a:rPr>
              <a:t>什么不是缺陷</a:t>
            </a:r>
            <a:r>
              <a:rPr lang="en-US" sz="1275" b="1">
                <a:solidFill>
                  <a:srgbClr val="22303E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38175" y="1733550"/>
            <a:ext cx="3067050" cy="1495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NEU-DET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每张图都带缺陷框，决策边界只有一侧。</a:t>
            </a:r>
            <a:endParaRPr/>
          </a:p>
          <a:p>
            <a:pPr>
              <a:lnSpc>
                <a:spcPct val="155000"/>
              </a:lnSpc>
            </a:pPr>
            <a:r>
              <a:rPr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55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实测误检率：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NEU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干净裁块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r>
              <a:rPr lang="en-US" sz="900" b="1">
                <a:solidFill>
                  <a:srgbClr val="C0504D"/>
                </a:solidFill>
                <a:latin typeface="微软雅黑"/>
                <a:ea typeface="微软雅黑"/>
              </a:rPr>
              <a:t>35.5%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；换成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DAGM 2007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无缺陷图直接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r>
              <a:rPr lang="en-US" sz="900" b="1">
                <a:solidFill>
                  <a:srgbClr val="C0504D"/>
                </a:solidFill>
                <a:latin typeface="微软雅黑"/>
                <a:ea typeface="微软雅黑"/>
              </a:rPr>
              <a:t>64.4%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。</a:t>
            </a:r>
            <a:endParaRPr/>
          </a:p>
          <a:p>
            <a:pPr>
              <a:lnSpc>
                <a:spcPct val="155000"/>
              </a:lnSpc>
            </a:pPr>
            <a:r>
              <a:rPr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55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误检框里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60%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被判成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crazing ——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模型把所有高频纹理噪声都当龟裂。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4029075" y="20955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93A5B3"/>
                </a:solidFill>
                <a:latin typeface="微软雅黑"/>
                <a:ea typeface="微软雅黑"/>
              </a:rPr>
              <a:t>→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4429125" y="1123950"/>
            <a:ext cx="3333750" cy="2276475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370" name=""/>
          <p:cNvSpPr/>
          <p:nvPr/>
        </p:nvSpPr>
        <p:spPr>
          <a:xfrm rot="0" flipH="0" flipV="0">
            <a:off x="4429125" y="1085850"/>
            <a:ext cx="3333750" cy="2314575"/>
          </a:xfrm>
          <a:custGeom>
            <a:pathLst>
              <a:path w="350" h="243">
                <a:moveTo>
                  <a:pt x="0" y="0"/>
                </a:moveTo>
                <a:lnTo>
                  <a:pt x="350" y="0"/>
                </a:lnTo>
                <a:lnTo>
                  <a:pt x="350" y="4"/>
                </a:lnTo>
                <a:lnTo>
                  <a:pt x="0" y="4"/>
                </a:lnTo>
                <a:close/>
              </a:path>
            </a:pathLst>
          </a:custGeom>
          <a:solidFill>
            <a:srgbClr val="93A5B3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4562475" y="1257300"/>
            <a:ext cx="3067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5F7080"/>
                </a:solidFill>
                <a:latin typeface="微软雅黑"/>
                <a:ea typeface="微软雅黑"/>
              </a:rPr>
              <a:t>STEP 2 · </a:t>
            </a:r>
            <a:r>
              <a:rPr lang="zh-CN" sz="900" b="1">
                <a:solidFill>
                  <a:srgbClr val="5F7080"/>
                </a:solidFill>
                <a:latin typeface="微软雅黑"/>
                <a:ea typeface="微软雅黑"/>
              </a:rPr>
              <a:t>尝试与失败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4562475" y="1457325"/>
            <a:ext cx="3067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303E"/>
                </a:solidFill>
                <a:latin typeface="微软雅黑"/>
                <a:ea typeface="微软雅黑"/>
              </a:rPr>
              <a:t>加负样本重训，</a:t>
            </a:r>
            <a:r>
              <a:rPr lang="en-US" sz="1275" b="1">
                <a:solidFill>
                  <a:srgbClr val="22303E"/>
                </a:solidFill>
                <a:latin typeface="微软雅黑"/>
                <a:ea typeface="微软雅黑"/>
              </a:rPr>
              <a:t>tradeoff </a:t>
            </a:r>
            <a:r>
              <a:rPr lang="zh-CN" sz="1275" b="1">
                <a:solidFill>
                  <a:srgbClr val="22303E"/>
                </a:solidFill>
                <a:latin typeface="微软雅黑"/>
                <a:ea typeface="微软雅黑"/>
              </a:rPr>
              <a:t>出现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4562475" y="1733550"/>
            <a:ext cx="3067050" cy="1495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把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DAGM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无缺陷图按比例混入重训：</a:t>
            </a:r>
            <a:endParaRPr/>
          </a:p>
          <a:p>
            <a:pPr>
              <a:lnSpc>
                <a:spcPct val="155000"/>
              </a:lnSpc>
            </a:pPr>
            <a:r>
              <a:rPr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55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误检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r>
              <a:rPr lang="en-US" sz="900" b="1">
                <a:solidFill>
                  <a:srgbClr val="2E6F8E"/>
                </a:solidFill>
                <a:latin typeface="微软雅黑"/>
                <a:ea typeface="微软雅黑"/>
              </a:rPr>
              <a:t>64.4% → 0%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，但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180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张真实图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top-1 </a:t>
            </a:r>
            <a:r>
              <a:rPr lang="en-US" sz="900" b="1">
                <a:solidFill>
                  <a:srgbClr val="C0504D"/>
                </a:solidFill>
                <a:latin typeface="微软雅黑"/>
                <a:ea typeface="微软雅黑"/>
              </a:rPr>
              <a:t>97.8% → 95.6%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。</a:t>
            </a:r>
            <a:endParaRPr/>
          </a:p>
          <a:p>
            <a:pPr>
              <a:lnSpc>
                <a:spcPct val="155000"/>
              </a:lnSpc>
            </a:pPr>
            <a:r>
              <a:rPr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55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1:1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与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1:2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两档比例都试过，都停在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95.6% —— </a:t>
            </a:r>
            <a:r>
              <a:rPr lang="zh-CN" sz="900" b="1">
                <a:solidFill>
                  <a:srgbClr val="22303E"/>
                </a:solidFill>
                <a:latin typeface="微软雅黑"/>
                <a:ea typeface="微软雅黑"/>
              </a:rPr>
              <a:t>比例调不出两全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953375" y="20955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E8A23B"/>
                </a:solidFill>
                <a:latin typeface="微软雅黑"/>
                <a:ea typeface="微软雅黑"/>
              </a:rPr>
              <a:t>→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8353425" y="1123950"/>
            <a:ext cx="3333750" cy="2276475"/>
          </a:xfrm>
          <a:prstGeom prst="rect">
            <a:avLst/>
          </a:prstGeom>
          <a:solidFill>
            <a:srgbClr val="FBF7EF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8353425" y="1085850"/>
            <a:ext cx="3333750" cy="2314575"/>
          </a:xfrm>
          <a:custGeom>
            <a:pathLst>
              <a:path w="350" h="243">
                <a:moveTo>
                  <a:pt x="0" y="0"/>
                </a:moveTo>
                <a:lnTo>
                  <a:pt x="350" y="0"/>
                </a:lnTo>
                <a:lnTo>
                  <a:pt x="350" y="4"/>
                </a:lnTo>
                <a:lnTo>
                  <a:pt x="0" y="4"/>
                </a:lnTo>
                <a:close/>
              </a:path>
            </a:pathLst>
          </a:custGeom>
          <a:solidFill>
            <a:srgbClr val="E8A23B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486775" y="1257300"/>
            <a:ext cx="3067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8A23B"/>
                </a:solidFill>
                <a:latin typeface="微软雅黑"/>
                <a:ea typeface="微软雅黑"/>
              </a:rPr>
              <a:t>STEP 3 · </a:t>
            </a:r>
            <a:r>
              <a:rPr lang="zh-CN" sz="900" b="1">
                <a:solidFill>
                  <a:srgbClr val="E8A23B"/>
                </a:solidFill>
                <a:latin typeface="微软雅黑"/>
                <a:ea typeface="微软雅黑"/>
              </a:rPr>
              <a:t>结构性破局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486775" y="1457325"/>
            <a:ext cx="3067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303E"/>
                </a:solidFill>
                <a:latin typeface="微软雅黑"/>
                <a:ea typeface="微软雅黑"/>
              </a:rPr>
              <a:t>级联：一个判有无，一个判类别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486775" y="1733550"/>
            <a:ext cx="3067050" cy="1276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一级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r>
              <a:rPr lang="en-US" sz="900" b="1">
                <a:solidFill>
                  <a:srgbClr val="22303E"/>
                </a:solidFill>
                <a:latin typeface="微软雅黑"/>
                <a:ea typeface="微软雅黑"/>
              </a:rPr>
              <a:t>negdagm_filter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只回答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有没有缺陷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，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0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框直接放行；</a:t>
            </a:r>
            <a:endParaRPr/>
          </a:p>
          <a:p>
            <a:pPr>
              <a:lnSpc>
                <a:spcPct val="155000"/>
              </a:lnSpc>
            </a:pPr>
            <a:r>
              <a:rPr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55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二级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r>
              <a:rPr lang="en-US" sz="900" b="1">
                <a:solidFill>
                  <a:srgbClr val="22303E"/>
                </a:solidFill>
                <a:latin typeface="微软雅黑"/>
                <a:ea typeface="微软雅黑"/>
              </a:rPr>
              <a:t>best_neu6_640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才做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6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类精判。</a:t>
            </a:r>
            <a:endParaRPr/>
          </a:p>
          <a:p>
            <a:pPr>
              <a:lnSpc>
                <a:spcPct val="155000"/>
              </a:lnSpc>
            </a:pPr>
            <a:r>
              <a:rPr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55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两个目标各有专责，</a:t>
            </a:r>
            <a:r>
              <a:rPr lang="zh-CN" sz="900" b="1">
                <a:solidFill>
                  <a:srgbClr val="22303E"/>
                </a:solidFill>
                <a:latin typeface="微软雅黑"/>
                <a:ea typeface="微软雅黑"/>
              </a:rPr>
              <a:t>不再互相挤压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504825" y="3495675"/>
            <a:ext cx="11182350" cy="7810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638175" y="3629025"/>
            <a:ext cx="2381250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9"/>
            </a:solidFill>
            <a:prstDash val="solid"/>
          </a:ln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733425" y="3724275"/>
            <a:ext cx="2190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303E"/>
                </a:solidFill>
                <a:latin typeface="微软雅黑"/>
                <a:ea typeface="微软雅黑"/>
              </a:rPr>
              <a:t>输入帧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733425" y="3914775"/>
            <a:ext cx="2190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F7080"/>
                </a:solidFill>
                <a:latin typeface="微软雅黑"/>
                <a:ea typeface="微软雅黑"/>
              </a:rPr>
              <a:t>板端相机</a:t>
            </a:r>
            <a:r>
              <a:rPr lang="en-US" sz="825">
                <a:solidFill>
                  <a:srgbClr val="5F7080"/>
                </a:solidFill>
                <a:latin typeface="微软雅黑"/>
                <a:ea typeface="微软雅黑"/>
              </a:rPr>
              <a:t> / </a:t>
            </a:r>
            <a:r>
              <a:rPr lang="zh-CN" sz="825">
                <a:solidFill>
                  <a:srgbClr val="5F7080"/>
                </a:solidFill>
                <a:latin typeface="微软雅黑"/>
                <a:ea typeface="微软雅黑"/>
              </a:rPr>
              <a:t>上位机推图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3133725" y="3629025"/>
            <a:ext cx="190500" cy="514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93A5B3"/>
                </a:solidFill>
                <a:latin typeface="微软雅黑"/>
                <a:ea typeface="微软雅黑"/>
              </a:rPr>
              <a:t>→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3476625" y="3629025"/>
            <a:ext cx="2819400" cy="514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3438525" y="3629025"/>
            <a:ext cx="2857500" cy="514350"/>
          </a:xfrm>
          <a:custGeom>
            <a:pathLst>
              <a:path w="300" h="54">
                <a:moveTo>
                  <a:pt x="0" y="0"/>
                </a:moveTo>
                <a:lnTo>
                  <a:pt x="4" y="0"/>
                </a:lnTo>
                <a:lnTo>
                  <a:pt x="4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8A23B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3571875" y="3724275"/>
            <a:ext cx="2628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303E"/>
                </a:solidFill>
                <a:latin typeface="微软雅黑"/>
                <a:ea typeface="微软雅黑"/>
              </a:rPr>
              <a:t>一级</a:t>
            </a:r>
            <a:r>
              <a:rPr lang="en-US" sz="975" b="1">
                <a:solidFill>
                  <a:srgbClr val="22303E"/>
                </a:solidFill>
                <a:latin typeface="微软雅黑"/>
                <a:ea typeface="微软雅黑"/>
              </a:rPr>
              <a:t> · negdagm_filter.rknn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3571875" y="3914775"/>
            <a:ext cx="2628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F7080"/>
                </a:solidFill>
                <a:latin typeface="微软雅黑"/>
                <a:ea typeface="微软雅黑"/>
              </a:rPr>
              <a:t>FP16 / 7.5MB · </a:t>
            </a:r>
            <a:r>
              <a:rPr lang="zh-CN" sz="825">
                <a:solidFill>
                  <a:srgbClr val="5F7080"/>
                </a:solidFill>
                <a:latin typeface="微软雅黑"/>
                <a:ea typeface="微软雅黑"/>
              </a:rPr>
              <a:t>含负样本训练</a:t>
            </a:r>
            <a:r>
              <a:rPr lang="en-US" sz="825">
                <a:solidFill>
                  <a:srgbClr val="5F7080"/>
                </a:solidFill>
                <a:latin typeface="微软雅黑"/>
                <a:ea typeface="微软雅黑"/>
              </a:rPr>
              <a:t> · ~70ms · 0 </a:t>
            </a:r>
            <a:r>
              <a:rPr lang="zh-CN" sz="825">
                <a:solidFill>
                  <a:srgbClr val="5F7080"/>
                </a:solidFill>
                <a:latin typeface="微软雅黑"/>
                <a:ea typeface="微软雅黑"/>
              </a:rPr>
              <a:t>框</a:t>
            </a:r>
            <a:r>
              <a:rPr lang="en-US" sz="825">
                <a:solidFill>
                  <a:srgbClr val="5F7080"/>
                </a:solidFill>
                <a:latin typeface="微软雅黑"/>
                <a:ea typeface="微软雅黑"/>
              </a:rPr>
              <a:t> → OK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410325" y="3629025"/>
            <a:ext cx="190500" cy="514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93A5B3"/>
                </a:solidFill>
                <a:latin typeface="微软雅黑"/>
                <a:ea typeface="微软雅黑"/>
              </a:rPr>
              <a:t>→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753225" y="3629025"/>
            <a:ext cx="2819400" cy="514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6715125" y="3629025"/>
            <a:ext cx="2857500" cy="514350"/>
          </a:xfrm>
          <a:custGeom>
            <a:pathLst>
              <a:path w="300" h="54">
                <a:moveTo>
                  <a:pt x="0" y="0"/>
                </a:moveTo>
                <a:lnTo>
                  <a:pt x="4" y="0"/>
                </a:lnTo>
                <a:lnTo>
                  <a:pt x="4" y="54"/>
                </a:lnTo>
                <a:lnTo>
                  <a:pt x="0" y="54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848475" y="3724275"/>
            <a:ext cx="2628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303E"/>
                </a:solidFill>
                <a:latin typeface="微软雅黑"/>
                <a:ea typeface="微软雅黑"/>
              </a:rPr>
              <a:t>二级</a:t>
            </a:r>
            <a:r>
              <a:rPr lang="en-US" sz="975" b="1">
                <a:solidFill>
                  <a:srgbClr val="22303E"/>
                </a:solidFill>
                <a:latin typeface="微软雅黑"/>
                <a:ea typeface="微软雅黑"/>
              </a:rPr>
              <a:t> · best_neu6_640.rknn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848475" y="3914775"/>
            <a:ext cx="2628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F7080"/>
                </a:solidFill>
                <a:latin typeface="微软雅黑"/>
                <a:ea typeface="微软雅黑"/>
              </a:rPr>
              <a:t>FP16 / 7.5MB · 6 </a:t>
            </a:r>
            <a:r>
              <a:rPr lang="zh-CN" sz="825">
                <a:solidFill>
                  <a:srgbClr val="5F7080"/>
                </a:solidFill>
                <a:latin typeface="微软雅黑"/>
                <a:ea typeface="微软雅黑"/>
              </a:rPr>
              <a:t>类精判</a:t>
            </a:r>
            <a:r>
              <a:rPr lang="en-US" sz="825">
                <a:solidFill>
                  <a:srgbClr val="5F7080"/>
                </a:solidFill>
                <a:latin typeface="微软雅黑"/>
                <a:ea typeface="微软雅黑"/>
              </a:rPr>
              <a:t> · ~140-215ms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9686925" y="3629025"/>
            <a:ext cx="190500" cy="514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93A5B3"/>
                </a:solidFill>
                <a:latin typeface="微软雅黑"/>
                <a:ea typeface="微软雅黑"/>
              </a:rPr>
              <a:t>→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9991725" y="3629025"/>
            <a:ext cx="1562100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9"/>
            </a:solidFill>
            <a:prstDash val="solid"/>
          </a:ln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0086975" y="3724275"/>
            <a:ext cx="137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303E"/>
                </a:solidFill>
                <a:latin typeface="微软雅黑"/>
                <a:ea typeface="微软雅黑"/>
              </a:rPr>
              <a:t>结果回传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0086975" y="39147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F7080"/>
                </a:solidFill>
                <a:latin typeface="微软雅黑"/>
                <a:ea typeface="微软雅黑"/>
              </a:rPr>
              <a:t>协议与单模型版一致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504825" y="4410075"/>
            <a:ext cx="2695575" cy="68580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638300" y="4524375"/>
            <a:ext cx="428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0%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209675" y="4838700"/>
            <a:ext cx="1285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域外误检（基线</a:t>
            </a:r>
            <a:r>
              <a:rPr lang="en-US" sz="900">
                <a:solidFill>
                  <a:srgbClr val="D6E0E9"/>
                </a:solidFill>
                <a:latin typeface="微软雅黑"/>
                <a:ea typeface="微软雅黑"/>
              </a:rPr>
              <a:t> 64.4%</a:t>
            </a: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3333750" y="4410075"/>
            <a:ext cx="2695575" cy="68580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286250" y="4524375"/>
            <a:ext cx="7905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97.8%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4076700" y="4838700"/>
            <a:ext cx="121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D6E0E9"/>
                </a:solidFill>
                <a:latin typeface="微软雅黑"/>
                <a:ea typeface="微软雅黑"/>
              </a:rPr>
              <a:t>180 </a:t>
            </a: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图</a:t>
            </a:r>
            <a:r>
              <a:rPr lang="en-US" sz="900">
                <a:solidFill>
                  <a:srgbClr val="D6E0E9"/>
                </a:solidFill>
                <a:latin typeface="微软雅黑"/>
                <a:ea typeface="微软雅黑"/>
              </a:rPr>
              <a:t> top-1</a:t>
            </a: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（未退化）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162675" y="4410075"/>
            <a:ext cx="2695575" cy="68580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7115175" y="4524375"/>
            <a:ext cx="800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0.7393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838950" y="4838700"/>
            <a:ext cx="1343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D6E0E9"/>
                </a:solidFill>
                <a:latin typeface="微软雅黑"/>
                <a:ea typeface="微软雅黑"/>
              </a:rPr>
              <a:t>holdout mAP50</a:t>
            </a: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（不掉点）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8991600" y="4410075"/>
            <a:ext cx="2695575" cy="68580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9953625" y="4524375"/>
            <a:ext cx="781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196ms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9648825" y="4838700"/>
            <a:ext cx="1381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板端</a:t>
            </a:r>
            <a:r>
              <a:rPr lang="en-US" sz="900">
                <a:solidFill>
                  <a:srgbClr val="D6E0E9"/>
                </a:solidFill>
                <a:latin typeface="微软雅黑"/>
                <a:ea typeface="微软雅黑"/>
              </a:rPr>
              <a:t> p50 </a:t>
            </a: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延迟（约</a:t>
            </a:r>
            <a:r>
              <a:rPr lang="en-US" sz="900">
                <a:solidFill>
                  <a:srgbClr val="D6E0E9"/>
                </a:solidFill>
                <a:latin typeface="微软雅黑"/>
                <a:ea typeface="微软雅黑"/>
              </a:rPr>
              <a:t> 5 FPS</a:t>
            </a:r>
            <a:r>
              <a:rPr lang="zh-CN" sz="900">
                <a:solidFill>
                  <a:srgbClr val="D6E0E9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504825" y="5191125"/>
            <a:ext cx="11182350" cy="238125"/>
          </a:xfrm>
          <a:custGeom>
            <a:pathLst>
              <a:path w="1174" h="25">
                <a:moveTo>
                  <a:pt x="0" y="0"/>
                </a:moveTo>
                <a:lnTo>
                  <a:pt x="1174" y="0"/>
                </a:lnTo>
                <a:lnTo>
                  <a:pt x="1174" y="1"/>
                </a:lnTo>
                <a:lnTo>
                  <a:pt x="0" y="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04825" y="5276850"/>
            <a:ext cx="3429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3A5B3"/>
                </a:solidFill>
                <a:latin typeface="微软雅黑"/>
                <a:ea typeface="微软雅黑"/>
              </a:rPr>
              <a:t>基于</a:t>
            </a:r>
            <a:r>
              <a:rPr lang="en-US" sz="900">
                <a:solidFill>
                  <a:srgbClr val="93A5B3"/>
                </a:solidFill>
                <a:latin typeface="微软雅黑"/>
                <a:ea typeface="微软雅黑"/>
              </a:rPr>
              <a:t> RK3588 </a:t>
            </a:r>
            <a:r>
              <a:rPr lang="zh-CN" sz="900">
                <a:solidFill>
                  <a:srgbClr val="93A5B3"/>
                </a:solidFill>
                <a:latin typeface="微软雅黑"/>
                <a:ea typeface="微软雅黑"/>
              </a:rPr>
              <a:t>的轻量化工业缺陷检测系统</a:t>
            </a:r>
            <a:r>
              <a:rPr lang="en-US" sz="900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93A5B3"/>
                </a:solidFill>
                <a:latin typeface="微软雅黑"/>
                <a:ea typeface="微软雅黑"/>
              </a:rPr>
              <a:t>模型训练与边缘部署分析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0782300" y="5276850"/>
            <a:ext cx="904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3A5B3"/>
                </a:solidFill>
                <a:latin typeface="微软雅黑"/>
                <a:ea typeface="微软雅黑"/>
              </a:rPr>
              <a:t>第</a:t>
            </a:r>
            <a:r>
              <a:rPr lang="en-US" sz="900">
                <a:solidFill>
                  <a:srgbClr val="93A5B3"/>
                </a:solidFill>
                <a:latin typeface="微软雅黑"/>
                <a:ea typeface="微软雅黑"/>
              </a:rPr>
              <a:t> 7 </a:t>
            </a:r>
            <a:r>
              <a:rPr lang="zh-CN" sz="900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r>
              <a:rPr lang="en-US" sz="900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93A5B3"/>
                </a:solidFill>
                <a:latin typeface="微软雅黑"/>
                <a:ea typeface="微软雅黑"/>
              </a:rPr>
              <a:t>共</a:t>
            </a:r>
            <a:r>
              <a:rPr lang="en-US" sz="900">
                <a:solidFill>
                  <a:srgbClr val="93A5B3"/>
                </a:solidFill>
                <a:latin typeface="微软雅黑"/>
                <a:ea typeface="微软雅黑"/>
              </a:rPr>
              <a:t> 10 </a:t>
            </a:r>
            <a:r>
              <a:rPr lang="zh-CN" sz="900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13" name="" descr="&lt;Slide&#10;    style={{&#10;        width: '1280px',&#10;        height: '720px',&#10;        background: '#FFFFFF',&#10;        fontFamily: '微软雅黑',&#10;        paddingLeft: 53,&#10;        paddingRight: 53,&#10;        paddingTop: 38,&#10;        paddingBottom: 26,&#10;    }}&#10;&gt;&#10;    &lt;Box style={{ flexDirection: 'row', alignItems: 'center', gap: 12 }}&gt;&#10;        &lt;Box style={{ width: 6, height: 30, background: '#2E6F8E' }} /&gt;&#10;        &lt;Text style={{ fontSize: 30, fontWeight: 'bold', color: '#22303E' }}&gt;板端部署与工程指标（RK3588）&lt;/Text&gt;&#10;    &lt;/Box&gt;&#10;&#10;    &lt;Text style={{ fontSize: 16, color: '#5F7080', marginTop: 10, marginLeft: 18 }}&gt;&#10;        ATK-DLRK3588 / Buildroot，RKNN FP16 双模型常驻 —— 精度之外，这一页回答&quot;跑得稳不稳&quot;&#10;    &lt;/Text&gt;&#10;&#10;    &lt;Box style={{ flexDirection: 'row', gap: 16, marginTop: 16 }}&gt;&#10;        &lt;Box style={{ flex: 1, background: '#F2F5F7', borderTop: '4px solid #2E6F8E', padding: 14, height: 108 }}&gt;&#10;            &lt;Text style={{ fontSize: 34, fontWeight: 'bold', color: '#22303E' }}&gt;196ms&lt;/Text&gt;&#10;            &lt;Text style={{ fontSize: 13, fontWeight: 'bold', color: '#2E6F8E', marginTop: 6 }}&gt;推理延迟 p50&lt;/Text&gt;&#10;            &lt;Text style={{ fontSize: 12, color: '#5F7080', marginTop: 4 }}&gt;609 帧实测&lt;/Text&gt;&#10;        &lt;/Box&gt;&#10;        &lt;Box style={{ flex: 1, background: '#F2F5F7', borderTop: '4px solid #2E6F8E', padding: 14, height: 108 }}&gt;&#10;            &lt;Text style={{ fontSize: 34, fontWeight: 'bold', color: '#22303E' }}&gt;216ms&lt;/Text&gt;&#10;            &lt;Text style={{ fontSize: 13, fontWeight: 'bold', color: '#2E6F8E', marginTop: 6 }}&gt;推理延迟 p95&lt;/Text&gt;&#10;            &lt;Text style={{ fontSize: 12, color: '#5F7080', marginTop: 4 }}&gt;p99 225ms，尾部可控&lt;/Text&gt;&#10;        &lt;/Box&gt;&#10;        &lt;Box style={{ flex: 1, background: '#F2F5F7', borderTop: '4px solid #E8A23B', padding: 14, height: 108 }}&gt;&#10;            &lt;Text style={{ fontSize: 34, fontWeight: 'bold', color: '#22303E' }}&gt;1445&lt;/Text&gt;&#10;            &lt;Text style={{ fontSize: 13, fontWeight: 'bold', color: '#2E6F8E', marginTop: 6 }}&gt;压测帧数（零异常）&lt;/Text&gt;&#10;            &lt;Text style={{ fontSize: 12, color: '#5F7080', marginTop: 4 }}&gt;60s soak 59 帧无停顿&lt;/Text&gt;&#10;        &lt;/Box&gt;&#10;        &lt;Box style={{ flex: 1, background: '#F2F5F7', borderTop: '4px solid #E8A23B', padding: 14, height: 108 }}&gt;&#10;            &lt;Text style={{ fontSize: 34, fontWeight: 'bold', color: '#22303E' }}&gt;0&lt;/Text&gt;&#10;            &lt;Text style={{ fontSize: 13, fontWeight: 'bold', color: '#2E6F8E', marginTop: 6 }}&gt;DAGM 域外误检&lt;/Text&gt;&#10;            &lt;Text style={{ fontSize: 12, color: '#5F7080', marginTop: 4 }}&gt;20 张抽样，83ms/张&lt;/Text&gt;&#10;        &lt;/Box&gt;&#10;    &lt;/Box&gt;&#10;&#10;    &lt;Box style={{ marginTop: 18 }}&gt;&#10;        &lt;Box style={{ flexDirection: 'row', background: '#22303E', paddingLeft: 14, paddingRight: 14, paddingTop: 9, paddingBottom: 9 }}&gt;&#10;            &lt;Text style={{ fontSize: 13, fontWeight: 'bold', color: '#FFFFFF', width: 190 }}&gt;维度&lt;/Text&gt;&#10;            &lt;Text style={{ fontSize: 13, fontWeight: 'bold', color: '#FFFFFF', width: 230 }}&gt;实测&lt;/Text&gt;&#10;            &lt;Text style={{ fontSize: 13, fontWeight: 'bold', color: '#FFFFFF', flex: 1 }}&gt;说明&lt;/Text&gt;&#10;        &lt;/Box&gt;&#10;&#10;        &lt;Box style={{ flexDirection: 'row', borderBottom: '1px solid #D6E0E9', paddingLeft: 14, paddingRight: 14, paddingTop: 9, paddingBottom: 9 }}&gt;&#10;            &lt;Text style={{ fontSize: 13, fontWeight: 'bold', color: '#22303E', width: 190 }}&gt;吞吐&lt;/Text&gt;&#10;            &lt;Text style={{ fontSize: 13, color: '#2E6F8E', width: 230 }}&gt;约 5 FPS&lt;/Text&gt;&#10;            &lt;Text style={{ fontSize: 13, color: '#5F7080', flex: 1 }}&gt;满足 ≤5 pcs/s 产线节拍；无缺陷图只跑一级，约 70ms&lt;/Text&gt;&#10;        &lt;/Box&gt;&#10;&#10;        &lt;Box style={{ flexDirection: 'row', background: '#F7F9FA', borderBottom: '1px solid #D6E0E9', paddingLeft: 14, paddingRight: 14, paddingTop: 9, paddingBottom: 9 }}&gt;&#10;            &lt;Text style={{ fontSize: 13, fontWeight: 'bold', color: '#22303E', width: 190 }}&gt;模型与量化&lt;/Text&gt;&#10;            &lt;Text style={{ fontSize: 13, color: '#2E6F8E', width: 230 }}&gt;FP16 ×2，各 7.5MB&lt;/Text&gt;&#10;            &lt;Text style={{ fontSize: 13, color: '#5F7080', flex: 1 }}&gt;INT8 暂不可用（RKNN 分类头异常，已定位待修）；板端归一化须 uint8 NHWC + std=255 成对&lt;/Text&gt;&#10;        &lt;/Box&gt;&#10;&#10;        &lt;Box style={{ flexDirection: 'row', borderBottom: '1px solid #D6E0E9', paddingLeft: 14, paddingRight: 14, paddingTop: 9, paddingBottom: 9 }}&gt;&#10;            &lt;Text style={{ fontSize: 13, fontWeight: 'bold', color: '#22303E', width: 190 }}&gt;运行模式&lt;/Text&gt;&#10;            &lt;Text style={{ fontSize: 13, color: '#E8A23B', width: 230 }}&gt;step 按需推帧&lt;/Text&gt;&#10;            &lt;Text style={{ fontSize: 13, color: '#5F7080', flex: 1 }}&gt;上位机发 next 才推一帧（09-21 落地），端到端 15s 由 1 条提升到 15 条&lt;/Text&gt;&#10;        &lt;/Box&gt;&#10;&#10;        &lt;Box style={{ flexDirection: 'row', background: '#F7F9FA', borderBottom: '1px solid #D6E0E9', paddingLeft: 14, paddingRight: 14, paddingTop: 9, paddingBottom: 9 }}&gt;&#10;            &lt;Text style={{ fontSize: 13, fontWeight: 'bold', color: '#22303E', width: 190 }}&gt;掉电自启&lt;/Text&gt;&#10;            &lt;Text style={{ fontSize: 13, color: '#2E6F8E', width: 230 }}&gt;S99board → start_cascade.sh&lt;/Text&gt;&#10;            &lt;Text style={{ fontSize: 13, color: '#5F7080', flex: 1 }}&gt;重启后自动恢复级联服务；S98boardip 固化双 IP（静态地址 + 链路本地地址）&lt;/Text&gt;&#10;        &lt;/Box&gt;&#10;&#10;        &lt;Box style={{ flexDirection: 'row', borderBottom: '1px solid #D6E0E9', paddingLeft: 14, paddingRight: 14, paddingTop: 9, paddingBottom: 9 }}&gt;&#10;            &lt;Text style={{ fontSize: 13, fontWeight: 'bold', color: '#22303E', width: 190 }}&gt;长期机制&lt;/Text&gt;&#10;            &lt;Text style={{ fontSize: 13, color: '#2E6F8E', width: 230 }}&gt;4 套常驻&lt;/Text&gt;&#10;            &lt;Text style={{ fontSize: 13, color: '#5F7080', flex: 1 }}&gt;看门狗 1min（连续 3 次异常自动重启）/ 健康 5min / 磁盘 6h / 域外误检监控 1h（阈值 5% 告警）&lt;/Text&gt;&#10;        &lt;/Box&gt;&#10;&#10;        &lt;Box style={{ flexDirection: 'row', background: '#F7F9FA', paddingLeft: 14, paddingRight: 14, paddingTop: 9, paddingBottom: 9 }}&gt;&#10;            &lt;Text style={{ fontSize: 13, fontWeight: 'bold', color: '#22303E', width: 190 }}&gt;数据回流&lt;/Text&gt;&#10;            &lt;Text style={{ fontSize: 13, color: '#2E6F8E', width: 230 }}&gt;难例自动归档&lt;/Text&gt;&#10;            &lt;Text style={{ fontSize: 13, color: '#5F7080', flex: 1 }}&gt;周级难例回流（已修命名冲突与 0 字节校验）；标签审计脚本可复跑&lt;/Text&gt;&#10;        &lt;/Box&gt;&#10;    &lt;/Box&gt;&#10;&#10;    &lt;Box style={{ flexDirection: 'row', justifyContent: 'space-between', alignItems: 'center', borderTop: '1px solid #D6E0E9', paddingTop: 10, marginTop: 12 }}&gt;&#10;        &lt;Text style={{ fontSize: 13, color: '#93A5B3' }}&gt;基于 RK3588 的轻量化工业缺陷检测系统 · 模型训练与边缘部署分析&lt;/Text&gt;&#10;        &lt;Text style={{ fontSize: 13, color: '#93A5B3' }}&gt;第 8 页 · 共 10 页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504825" y="390525"/>
            <a:ext cx="57150" cy="2857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76275" y="361950"/>
            <a:ext cx="428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2303E"/>
                </a:solidFill>
                <a:latin typeface="微软雅黑"/>
                <a:ea typeface="微软雅黑"/>
              </a:rPr>
              <a:t>板端部署与工程指标（</a:t>
            </a:r>
            <a:r>
              <a:rPr lang="en-US" sz="2250" b="1">
                <a:solidFill>
                  <a:srgbClr val="22303E"/>
                </a:solidFill>
                <a:latin typeface="微软雅黑"/>
                <a:ea typeface="微软雅黑"/>
              </a:rPr>
              <a:t>RK3588</a:t>
            </a:r>
            <a:r>
              <a:rPr lang="zh-CN" sz="2250" b="1">
                <a:solidFill>
                  <a:srgbClr val="22303E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76275" y="800100"/>
            <a:ext cx="1101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ATK-DLRK3588 / Buildroot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，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RKNN FP16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双模型常驻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——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精度之外，这一页回答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跑得稳不稳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504825" y="1181100"/>
            <a:ext cx="2686050" cy="9906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504825" y="1143000"/>
            <a:ext cx="2686050" cy="1028700"/>
          </a:xfrm>
          <a:custGeom>
            <a:pathLst>
              <a:path w="282" h="108">
                <a:moveTo>
                  <a:pt x="0" y="0"/>
                </a:moveTo>
                <a:lnTo>
                  <a:pt x="282" y="0"/>
                </a:lnTo>
                <a:lnTo>
                  <a:pt x="282" y="4"/>
                </a:lnTo>
                <a:lnTo>
                  <a:pt x="0" y="4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38175" y="1314450"/>
            <a:ext cx="2419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303E"/>
                </a:solidFill>
                <a:latin typeface="微软雅黑"/>
                <a:ea typeface="微软雅黑"/>
              </a:rPr>
              <a:t>196ms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38175" y="1762125"/>
            <a:ext cx="2419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E6F8E"/>
                </a:solidFill>
                <a:latin typeface="微软雅黑"/>
                <a:ea typeface="微软雅黑"/>
              </a:rPr>
              <a:t>推理延迟</a:t>
            </a:r>
            <a:r>
              <a:rPr lang="en-US" sz="975" b="1">
                <a:solidFill>
                  <a:srgbClr val="2E6F8E"/>
                </a:solidFill>
                <a:latin typeface="微软雅黑"/>
                <a:ea typeface="微软雅黑"/>
              </a:rPr>
              <a:t> p50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38175" y="1952625"/>
            <a:ext cx="2419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609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帧实测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3343275" y="1181100"/>
            <a:ext cx="2676525" cy="9906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3343275" y="1143000"/>
            <a:ext cx="2676525" cy="1028700"/>
          </a:xfrm>
          <a:custGeom>
            <a:pathLst>
              <a:path w="281" h="108">
                <a:moveTo>
                  <a:pt x="0" y="0"/>
                </a:moveTo>
                <a:lnTo>
                  <a:pt x="281" y="0"/>
                </a:lnTo>
                <a:lnTo>
                  <a:pt x="281" y="4"/>
                </a:lnTo>
                <a:lnTo>
                  <a:pt x="0" y="4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3476625" y="1314450"/>
            <a:ext cx="2409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303E"/>
                </a:solidFill>
                <a:latin typeface="微软雅黑"/>
                <a:ea typeface="微软雅黑"/>
              </a:rPr>
              <a:t>216ms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3476625" y="1762125"/>
            <a:ext cx="2409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E6F8E"/>
                </a:solidFill>
                <a:latin typeface="微软雅黑"/>
                <a:ea typeface="微软雅黑"/>
              </a:rPr>
              <a:t>推理延迟</a:t>
            </a:r>
            <a:r>
              <a:rPr lang="en-US" sz="975" b="1">
                <a:solidFill>
                  <a:srgbClr val="2E6F8E"/>
                </a:solidFill>
                <a:latin typeface="微软雅黑"/>
                <a:ea typeface="微软雅黑"/>
              </a:rPr>
              <a:t> p95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3476625" y="1952625"/>
            <a:ext cx="2409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p99 225ms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，尾部可控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6172200" y="1181100"/>
            <a:ext cx="2686050" cy="9906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429" name=""/>
          <p:cNvSpPr/>
          <p:nvPr/>
        </p:nvSpPr>
        <p:spPr>
          <a:xfrm rot="0" flipH="0" flipV="0">
            <a:off x="6172200" y="1143000"/>
            <a:ext cx="2686050" cy="1028700"/>
          </a:xfrm>
          <a:custGeom>
            <a:pathLst>
              <a:path w="282" h="108">
                <a:moveTo>
                  <a:pt x="0" y="0"/>
                </a:moveTo>
                <a:lnTo>
                  <a:pt x="282" y="0"/>
                </a:lnTo>
                <a:lnTo>
                  <a:pt x="282" y="4"/>
                </a:lnTo>
                <a:lnTo>
                  <a:pt x="0" y="4"/>
                </a:lnTo>
                <a:close/>
              </a:path>
            </a:pathLst>
          </a:custGeom>
          <a:solidFill>
            <a:srgbClr val="E8A23B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305550" y="1314450"/>
            <a:ext cx="2419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303E"/>
                </a:solidFill>
                <a:latin typeface="微软雅黑"/>
                <a:ea typeface="微软雅黑"/>
              </a:rPr>
              <a:t>1445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6305550" y="1762125"/>
            <a:ext cx="2419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E6F8E"/>
                </a:solidFill>
                <a:latin typeface="微软雅黑"/>
                <a:ea typeface="微软雅黑"/>
              </a:rPr>
              <a:t>压测帧数（零异常）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305550" y="1952625"/>
            <a:ext cx="2419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60s soak 59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帧无停顿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9010650" y="1181100"/>
            <a:ext cx="2676525" cy="9906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9010650" y="1143000"/>
            <a:ext cx="2676525" cy="1028700"/>
          </a:xfrm>
          <a:custGeom>
            <a:pathLst>
              <a:path w="281" h="108">
                <a:moveTo>
                  <a:pt x="0" y="0"/>
                </a:moveTo>
                <a:lnTo>
                  <a:pt x="281" y="0"/>
                </a:lnTo>
                <a:lnTo>
                  <a:pt x="281" y="4"/>
                </a:lnTo>
                <a:lnTo>
                  <a:pt x="0" y="4"/>
                </a:lnTo>
                <a:close/>
              </a:path>
            </a:pathLst>
          </a:custGeom>
          <a:solidFill>
            <a:srgbClr val="E8A23B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9144000" y="1314450"/>
            <a:ext cx="2409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303E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9144000" y="1762125"/>
            <a:ext cx="2409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6F8E"/>
                </a:solidFill>
                <a:latin typeface="微软雅黑"/>
                <a:ea typeface="微软雅黑"/>
              </a:rPr>
              <a:t>DAGM </a:t>
            </a:r>
            <a:r>
              <a:rPr lang="zh-CN" sz="975" b="1">
                <a:solidFill>
                  <a:srgbClr val="2E6F8E"/>
                </a:solidFill>
                <a:latin typeface="微软雅黑"/>
                <a:ea typeface="微软雅黑"/>
              </a:rPr>
              <a:t>域外误检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9144000" y="1952625"/>
            <a:ext cx="2409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20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张抽样，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83ms/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张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504825" y="2343150"/>
            <a:ext cx="11182350" cy="32385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38175" y="2428875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/>
                <a:ea typeface="微软雅黑"/>
              </a:rPr>
              <a:t>维度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2447925" y="2428875"/>
            <a:ext cx="2190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/>
                <a:ea typeface="微软雅黑"/>
              </a:rPr>
              <a:t>实测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4638675" y="2428875"/>
            <a:ext cx="6915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/>
                <a:ea typeface="微软雅黑"/>
              </a:rPr>
              <a:t>说明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504825" y="2667000"/>
            <a:ext cx="11182350" cy="342900"/>
          </a:xfrm>
          <a:custGeom>
            <a:pathLst>
              <a:path w="1174" h="36">
                <a:moveTo>
                  <a:pt x="0" y="35"/>
                </a:moveTo>
                <a:lnTo>
                  <a:pt x="1174" y="35"/>
                </a:lnTo>
                <a:lnTo>
                  <a:pt x="117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38175" y="2752725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303E"/>
                </a:solidFill>
                <a:latin typeface="微软雅黑"/>
                <a:ea typeface="微软雅黑"/>
              </a:rPr>
              <a:t>吞吐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2447925" y="2752725"/>
            <a:ext cx="2190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E6F8E"/>
                </a:solidFill>
                <a:latin typeface="微软雅黑"/>
                <a:ea typeface="微软雅黑"/>
              </a:rPr>
              <a:t>约</a:t>
            </a:r>
            <a:r>
              <a:rPr lang="en-US" sz="975">
                <a:solidFill>
                  <a:srgbClr val="2E6F8E"/>
                </a:solidFill>
                <a:latin typeface="微软雅黑"/>
                <a:ea typeface="微软雅黑"/>
              </a:rPr>
              <a:t> 5 FPS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4638675" y="2752725"/>
            <a:ext cx="6915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满足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≤5 pcs/s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产线节拍；无缺陷图只跑一级，约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70ms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504825" y="3000375"/>
            <a:ext cx="11182350" cy="333375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504825" y="3000375"/>
            <a:ext cx="11182350" cy="342900"/>
          </a:xfrm>
          <a:custGeom>
            <a:pathLst>
              <a:path w="1174" h="36">
                <a:moveTo>
                  <a:pt x="0" y="35"/>
                </a:moveTo>
                <a:lnTo>
                  <a:pt x="1174" y="35"/>
                </a:lnTo>
                <a:lnTo>
                  <a:pt x="117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38175" y="308610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303E"/>
                </a:solidFill>
                <a:latin typeface="微软雅黑"/>
                <a:ea typeface="微软雅黑"/>
              </a:rPr>
              <a:t>模型与量化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2447925" y="3086100"/>
            <a:ext cx="2190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E6F8E"/>
                </a:solidFill>
                <a:latin typeface="微软雅黑"/>
                <a:ea typeface="微软雅黑"/>
              </a:rPr>
              <a:t>FP16 ×2</a:t>
            </a:r>
            <a:r>
              <a:rPr lang="zh-CN" sz="975">
                <a:solidFill>
                  <a:srgbClr val="2E6F8E"/>
                </a:solidFill>
                <a:latin typeface="微软雅黑"/>
                <a:ea typeface="微软雅黑"/>
              </a:rPr>
              <a:t>，各</a:t>
            </a:r>
            <a:r>
              <a:rPr lang="en-US" sz="975">
                <a:solidFill>
                  <a:srgbClr val="2E6F8E"/>
                </a:solidFill>
                <a:latin typeface="微软雅黑"/>
                <a:ea typeface="微软雅黑"/>
              </a:rPr>
              <a:t> 7.5MB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4638675" y="3086100"/>
            <a:ext cx="6915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INT8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暂不可用（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RKNN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分类头异常，已定位待修）；板端归一化须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uint8 NHWC + std=255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成对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504825" y="3333750"/>
            <a:ext cx="11182350" cy="342900"/>
          </a:xfrm>
          <a:custGeom>
            <a:pathLst>
              <a:path w="1174" h="36">
                <a:moveTo>
                  <a:pt x="0" y="35"/>
                </a:moveTo>
                <a:lnTo>
                  <a:pt x="1174" y="35"/>
                </a:lnTo>
                <a:lnTo>
                  <a:pt x="117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38175" y="3419475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303E"/>
                </a:solidFill>
                <a:latin typeface="微软雅黑"/>
                <a:ea typeface="微软雅黑"/>
              </a:rPr>
              <a:t>运行模式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2447925" y="3419475"/>
            <a:ext cx="2190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A23B"/>
                </a:solidFill>
                <a:latin typeface="微软雅黑"/>
                <a:ea typeface="微软雅黑"/>
              </a:rPr>
              <a:t>step </a:t>
            </a:r>
            <a:r>
              <a:rPr lang="zh-CN" sz="975">
                <a:solidFill>
                  <a:srgbClr val="E8A23B"/>
                </a:solidFill>
                <a:latin typeface="微软雅黑"/>
                <a:ea typeface="微软雅黑"/>
              </a:rPr>
              <a:t>按需推帧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4638675" y="3419475"/>
            <a:ext cx="6915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上位机发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next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才推一帧（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09-21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落地），端到端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15s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由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1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条提升到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15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条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504825" y="3667125"/>
            <a:ext cx="11182350" cy="333375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p/>
        </p:txBody>
      </p:sp>
      <p:sp>
        <p:nvSpPr>
          <p:cNvPr id="456" name=""/>
          <p:cNvSpPr/>
          <p:nvPr/>
        </p:nvSpPr>
        <p:spPr>
          <a:xfrm rot="0" flipH="0" flipV="0">
            <a:off x="504825" y="3667125"/>
            <a:ext cx="11182350" cy="342900"/>
          </a:xfrm>
          <a:custGeom>
            <a:pathLst>
              <a:path w="1174" h="36">
                <a:moveTo>
                  <a:pt x="0" y="35"/>
                </a:moveTo>
                <a:lnTo>
                  <a:pt x="1174" y="35"/>
                </a:lnTo>
                <a:lnTo>
                  <a:pt x="117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638175" y="37528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303E"/>
                </a:solidFill>
                <a:latin typeface="微软雅黑"/>
                <a:ea typeface="微软雅黑"/>
              </a:rPr>
              <a:t>掉电自启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2447925" y="3752850"/>
            <a:ext cx="2190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E6F8E"/>
                </a:solidFill>
                <a:latin typeface="微软雅黑"/>
                <a:ea typeface="微软雅黑"/>
              </a:rPr>
              <a:t>S99board → start_cascade.sh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4638675" y="3752850"/>
            <a:ext cx="6915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重启后自动恢复级联服务；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S98boardip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固化双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IP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（静态地址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+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链路本地地址）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504825" y="4000500"/>
            <a:ext cx="11182350" cy="342900"/>
          </a:xfrm>
          <a:custGeom>
            <a:pathLst>
              <a:path w="1174" h="36">
                <a:moveTo>
                  <a:pt x="0" y="35"/>
                </a:moveTo>
                <a:lnTo>
                  <a:pt x="1174" y="35"/>
                </a:lnTo>
                <a:lnTo>
                  <a:pt x="117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38175" y="4086225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303E"/>
                </a:solidFill>
                <a:latin typeface="微软雅黑"/>
                <a:ea typeface="微软雅黑"/>
              </a:rPr>
              <a:t>长期机制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2447925" y="4086225"/>
            <a:ext cx="2190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E6F8E"/>
                </a:solidFill>
                <a:latin typeface="微软雅黑"/>
                <a:ea typeface="微软雅黑"/>
              </a:rPr>
              <a:t>4 </a:t>
            </a:r>
            <a:r>
              <a:rPr lang="zh-CN" sz="975">
                <a:solidFill>
                  <a:srgbClr val="2E6F8E"/>
                </a:solidFill>
                <a:latin typeface="微软雅黑"/>
                <a:ea typeface="微软雅黑"/>
              </a:rPr>
              <a:t>套常驻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4638675" y="4086225"/>
            <a:ext cx="6915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看门狗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1min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（连续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3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次异常自动重启）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/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健康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5min /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磁盘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6h /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域外误检监控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1h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（阈值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5%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告警）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504825" y="4333875"/>
            <a:ext cx="11182350" cy="323850"/>
          </a:xfrm>
          <a:prstGeom prst="rect">
            <a:avLst/>
          </a:prstGeom>
          <a:solidFill>
            <a:srgbClr val="F7F9FA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638175" y="441960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303E"/>
                </a:solidFill>
                <a:latin typeface="微软雅黑"/>
                <a:ea typeface="微软雅黑"/>
              </a:rPr>
              <a:t>数据回流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2447925" y="4419600"/>
            <a:ext cx="2190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E6F8E"/>
                </a:solidFill>
                <a:latin typeface="微软雅黑"/>
                <a:ea typeface="微软雅黑"/>
              </a:rPr>
              <a:t>难例自动归档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4638675" y="4419600"/>
            <a:ext cx="6915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周级难例回流（已修命名冲突与</a:t>
            </a:r>
            <a:r>
              <a:rPr lang="en-US" sz="975">
                <a:solidFill>
                  <a:srgbClr val="5F7080"/>
                </a:solidFill>
                <a:latin typeface="微软雅黑"/>
                <a:ea typeface="微软雅黑"/>
              </a:rPr>
              <a:t> 0 </a:t>
            </a:r>
            <a:r>
              <a:rPr lang="zh-CN" sz="975">
                <a:solidFill>
                  <a:srgbClr val="5F7080"/>
                </a:solidFill>
                <a:latin typeface="微软雅黑"/>
                <a:ea typeface="微软雅黑"/>
              </a:rPr>
              <a:t>字节校验）；标签审计脚本可复跑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504825" y="4772025"/>
            <a:ext cx="11182350" cy="266700"/>
          </a:xfrm>
          <a:custGeom>
            <a:pathLst>
              <a:path w="1174" h="28">
                <a:moveTo>
                  <a:pt x="0" y="0"/>
                </a:moveTo>
                <a:lnTo>
                  <a:pt x="1174" y="0"/>
                </a:lnTo>
                <a:lnTo>
                  <a:pt x="1174" y="1"/>
                </a:lnTo>
                <a:lnTo>
                  <a:pt x="0" y="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504825" y="4876800"/>
            <a:ext cx="3714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基于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RK3588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的轻量化工业缺陷检测系统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模型训练与边缘部署分析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0706100" y="4876800"/>
            <a:ext cx="981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第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8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共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10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71" name="" descr="&lt;Slide&#10;    style={{&#10;        width: '1280px',&#10;        height: '720px',&#10;        background: '#FFFFFF',&#10;        fontFamily: '微软雅黑',&#10;        paddingLeft: 53,&#10;        paddingRight: 53,&#10;        paddingTop: 38,&#10;        paddingBottom: 26,&#10;    }}&#10;&gt;&#10;    &lt;Box style={{ flexDirection: 'row', alignItems: 'center', gap: 12 }}&gt;&#10;        &lt;Box style={{ width: 6, height: 30, background: '#2E6F8E' }} /&gt;&#10;        &lt;Text style={{ fontSize: 30, fontWeight: 'bold', color: '#22303E' }}&gt;总结与后续计划&lt;/Text&gt;&#10;    &lt;/Box&gt;&#10;&#10;    &lt;Text style={{ fontSize: 16, color: '#5F7080', marginTop: 10, marginLeft: 18 }}&gt;&#10;        已完成&quot;数据 → 训练 → 评估 → 部署 → 运维&quot;完整闭环；下一步的重心从&quot;训得更好&quot;转向&quot;用得更真&quot;&#10;    &lt;/Text&gt;&#10;&#10;    &lt;Box style={{ flexDirection: 'row', gap: 20, marginTop: 18 }}&gt;&#10;        &lt;Box style={{ flex: 1 }}&gt;&#10;            &lt;Box style={{ flexDirection: 'row', gap: 10, alignItems: 'center', marginBottom: 12 }}&gt;&#10;                &lt;Box style={{ width: 4, height: 20, background: '#2E6F8E' }} /&gt;&#10;                &lt;Text style={{ fontSize: 20, fontWeight: 'bold', color: '#22303E' }}&gt;已达成&lt;/Text&gt;&#10;            &lt;/Box&gt;&#10;&#10;            &lt;Box style={{ flexDirection: 'row', gap: 12, background: '#F2F5F7', borderLeft: '4px solid #2E6F8E', padding: 12, marginBottom: 10 }}&gt;&#10;                &lt;Box style={{ width: 26, height: 26, background: '#2E6F8E', justifyContent: 'center', alignItems: 'center' }}&gt;&#10;                    &lt;Text style={{ fontSize: 14, fontWeight: 'bold', color: '#FFFFFF' }}&gt;1&lt;/Text&gt;&#10;                &lt;/Box&gt;&#10;                &lt;Box style={{ flex: 1 }}&gt;&#10;                    &lt;Text style={{ fontSize: 14, fontWeight: 'bold', color: '#22303E' }}&gt;数据闭环成立&lt;/Text&gt;&#10;                    &lt;Text style={{ fontSize: 12, color: '#5F7080', lineHeight: 1.5, marginTop: 3 }}&gt;NEU 6 类 1800 张 + DAGM 无缺陷 6000 张，域外误检 64.4% → 0%。&lt;/Text&gt;&#10;                &lt;/Box&gt;&#10;            &lt;/Box&gt;&#10;&#10;            &lt;Box style={{ flexDirection: 'row', gap: 12, background: '#F2F5F7', borderLeft: '4px solid #E8A23B', padding: 12, marginBottom: 10 }}&gt;&#10;                &lt;Box style={{ width: 26, height: 26, background: '#E8A23B', justifyContent: 'center', alignItems: 'center' }}&gt;&#10;                    &lt;Text style={{ fontSize: 14, fontWeight: 'bold', color: '#FFFFFF' }}&gt;2&lt;/Text&gt;&#10;                &lt;/Box&gt;&#10;                &lt;Box style={{ flex: 1 }}&gt;&#10;                    &lt;Text style={{ fontSize: 14, fontWeight: 'bold', color: '#22303E' }}&gt;架构破局：双模型级联&lt;/Text&gt;&#10;                    &lt;Text style={{ fontSize: 12, color: '#5F7080', lineHeight: 1.5, marginTop: 3 }}&gt;误检 0% 与 top-1 97.8% 兼得，mAP50 0.7393 不掉点，上位机协议零改动。&lt;/Text&gt;&#10;                &lt;/Box&gt;&#10;            &lt;/Box&gt;&#10;&#10;            &lt;Box style={{ flexDirection: 'row', gap: 12, background: '#F2F5F7', borderLeft: '4px solid #2E6F8E', padding: 12, marginBottom: 10 }}&gt;&#10;                &lt;Box style={{ width: 26, height: 26, background: '#2E6F8E', justifyContent: 'center', alignItems: 'center' }}&gt;&#10;                    &lt;Text style={{ fontSize: 14, fontWeight: 'bold', color: '#FFFFFF' }}&gt;3&lt;/Text&gt;&#10;                &lt;/Box&gt;&#10;                &lt;Box style={{ flex: 1 }}&gt;&#10;                    &lt;Text style={{ fontSize: 14, fontWeight: 'bold', color: '#22303E' }}&gt;评估口径可信&lt;/Text&gt;&#10;                    &lt;Text style={{ fontSize: 12, color: '#5F7080', lineHeight: 1.5, marginTop: 3 }}&gt;cal 178 调参 / holdout 182 汇报，切分可复现审计，结论不再自证。&lt;/Text&gt;&#10;                &lt;/Box&gt;&#10;            &lt;/Box&gt;&#10;&#10;            &lt;Box style={{ flexDirection: 'row', gap: 12, background: '#F2F5F7', borderLeft: '4px solid #2E6F8E', padding: 12 }}&gt;&#10;                &lt;Box style={{ width: 26, height: 26, background: '#2E6F8E', justifyContent: 'center', alignItems: 'center' }}&gt;&#10;                    &lt;Text style={{ fontSize: 14, fontWeight: 'bold', color: '#FFFFFF' }}&gt;4&lt;/Text&gt;&#10;                &lt;/Box&gt;&#10;                &lt;Box style={{ flex: 1 }}&gt;&#10;                    &lt;Text style={{ fontSize: 14, fontWeight: 'bold', color: '#22303E' }}&gt;工程侧完整&lt;/Text&gt;&#10;                    &lt;Text style={{ fontSize: 12, color: '#5F7080', lineHeight: 1.5, marginTop: 3 }}&gt;约 5 FPS 实时、掉电自启、step 按需推帧、四套长期监控机制常驻。&lt;/Text&gt;&#10;                &lt;/Box&gt;&#10;            &lt;/Box&gt;&#10;        &lt;/Box&gt;&#10;&#10;        &lt;Box style={{ flex: 1 }}&gt;&#10;            &lt;Box style={{ flexDirection: 'row', gap: 10, alignItems: 'center', marginBottom: 12 }}&gt;&#10;                &lt;Box style={{ width: 4, height: 20, background: '#E8A23B' }} /&gt;&#10;                &lt;Text style={{ fontSize: 20, fontWeight: 'bold', color: '#22303E' }}&gt;后续计划&lt;/Text&gt;&#10;            &lt;/Box&gt;&#10;&#10;            &lt;Box style={{ flexDirection: 'row', gap: 12, background: '#F2F5F7', borderLeft: '4px solid #E8A23B', padding: 12, marginBottom: 10 }}&gt;&#10;                &lt;Box style={{ width: 26, height: 26, background: '#E8A23B', justifyContent: 'center', alignItems: 'center' }}&gt;&#10;                    &lt;Text style={{ fontSize: 14, fontWeight: 'bold', color: '#FFFFFF' }}&gt;1&lt;/Text&gt;&#10;                &lt;/Box&gt;&#10;                &lt;Box style={{ flex: 1 }}&gt;&#10;                    &lt;Text style={{ fontSize: 14, fontWeight: 'bold', color: '#22303E' }}&gt;真实产线实拍验证&lt;/Text&gt;&#10;                    &lt;Text style={{ fontSize: 12, color: '#5F7080', lineHeight: 1.5, marginTop: 3 }}&gt;现有结论全部来自公开数据集；需拿现场图验证域外误检是否仍为 0%。&lt;/Text&gt;&#10;                &lt;/Box&gt;&#10;            &lt;/Box&gt;&#10;&#10;            &lt;Box style={{ flexDirection: 'row', gap: 12, background: '#F2F5F7', borderLeft: '4px solid #E8A23B', padding: 12, marginBottom: 10 }}&gt;&#10;                &lt;Box style={{ width: 26, height: 26, background: '#E8A23B', justifyContent: 'center', alignItems: 'center' }}&gt;&#10;                    &lt;Text style={{ fontSize: 14, fontWeight: 'bold', color: '#FFFFFF' }}&gt;2&lt;/Text&gt;&#10;                &lt;/Box&gt;&#10;                &lt;Box style={{ flex: 1 }}&gt;&#10;                    &lt;Text style={{ fontSize: 14, fontWeight: 'bold', color: '#22303E' }}&gt;扩展类数据补齐与重训&lt;/Text&gt;&#10;                    &lt;Text style={{ fontSize: 12, color: '#5F7080', lineHeight: 1.5, marginTop: 3 }}&gt;16 类体系已全链路就绪，待补齐 10 个扩展类的标注数据后重训并转 RKNN 上板。&lt;/Text&gt;&#10;                &lt;/Box&gt;&#10;            &lt;/Box&gt;&#10;&#10;            &lt;Box style={{ flexDirection: 'row', gap: 12, background: '#F2F5F7', borderLeft: '4px solid #93A5B3', padding: 12, marginBottom: 10 }}&gt;&#10;                &lt;Box style={{ width: 26, height: 26, background: '#93A5B3', justifyContent: 'center', alignItems: 'center' }}&gt;&#10;                    &lt;Text style={{ fontSize: 14, fontWeight: 'bold', color: '#FFFFFF' }}&gt;3&lt;/Text&gt;&#10;                &lt;/Box&gt;&#10;                &lt;Box style={{ flex: 1 }}&gt;&#10;                    &lt;Text style={{ fontSize: 14, fontWeight: 'bold', color: '#22303E' }}&gt;弱类攻坚：换数据源而非调参&lt;/Text&gt;&#10;                    &lt;Text style={{ fontSize: 12, color: '#5F7080', lineHeight: 1.5, marginTop: 3 }}&gt;crazing 已判为特征问题（阈值与微调均证无效），需补充更高质量样本。&lt;/Text&gt;&#10;                &lt;/Box&gt;&#10;            &lt;/Box&gt;&#10;&#10;            &lt;Box style={{ flexDirection: 'row', gap: 12, background: '#F2F5F7', borderLeft: '4px solid #22303E', padding: 12 }}&gt;&#10;                &lt;Box style={{ width: 26, height: 26, background: '#22303E', justifyContent: 'center', alignItems: 'center' }}&gt;&#10;                    &lt;Text style={{ fontSize: 14, fontWeight: 'bold', color: '#FFFFFF' }}&gt;4&lt;/Text&gt;&#10;                &lt;/Box&gt;&#10;                &lt;Box style={{ flex: 1 }}&gt;&#10;                    &lt;Text style={{ fontSize: 14, fontWeight: 'bold', color: '#22303E' }}&gt;论文与答辩物料&lt;/Text&gt;&#10;                    &lt;Text style={{ fontSize: 12, color: '#5F7080', lineHeight: 1.5, marginTop: 3 }}&gt;补写负样本消融、双模型级联与类别扩展章节；准备答辩口径与可复跑脚本清单。&lt;/Text&gt;&#10;                &lt;/Box&gt;&#10;            &lt;/Box&gt;&#10;        &lt;/Box&gt;&#10;    &lt;/Box&gt;&#10;&#10;    &lt;Box style={{ background: '#22303E', padding: 14, marginTop: 14, flexDirection: 'row', alignItems: 'center', gap: 16 }}&gt;&#10;        &lt;Text style={{ fontSize: 13, fontWeight: 'bold', color: '#E8A23B', width: 120 }}&gt;一句话总结&lt;/Text&gt;&#10;        &lt;Text style={{ fontSize: 14, color: '#FFFFFF', flex: 1, lineHeight: 1.5 }}&gt;&#10;            在热轧带钢缺陷检测上，RK3588 边缘端做到 holdout mAP50 0.7393、域外误检 0%、板端 p50 196ms，类别体系已扩至 16 类 ——&#10;            关键不是把模型训得更大，而是&lt;span style={{ fontWeight: 'bold', color: '#E8A23B' }}&gt;用负样本闭环发现问题、用双模型级联绕开 tradeoff&lt;/span&gt;。&#10;        &lt;/Text&gt;&#10;    &lt;/Box&gt;&#10;&#10;    &lt;Box style={{ flexDirection: 'row', justifyContent: 'space-between', alignItems: 'center', borderTop: '1px solid #D6E0E9', paddingTop: 10, marginTop: 12 }}&gt;&#10;        &lt;Text style={{ fontSize: 13, color: '#93A5B3' }}&gt;基于 RK3588 的轻量化工业缺陷检测系统 · 模型训练与边缘部署分析&lt;/Text&gt;&#10;        &lt;Text style={{ fontSize: 13, color: '#93A5B3' }}&gt;第 9 页 · 共 10 页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504825" y="390525"/>
            <a:ext cx="57150" cy="2857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76275" y="361950"/>
            <a:ext cx="2000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2303E"/>
                </a:solidFill>
                <a:latin typeface="微软雅黑"/>
                <a:ea typeface="微软雅黑"/>
              </a:rPr>
              <a:t>总结与后续计划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76275" y="800100"/>
            <a:ext cx="1101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已完成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数据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→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训练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→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评估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→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部署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 → 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运维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完整闭环；下一步的重心从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训得更好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转向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5F7080"/>
                </a:solidFill>
                <a:latin typeface="微软雅黑"/>
                <a:ea typeface="微软雅黑"/>
              </a:rPr>
              <a:t>用得更真</a:t>
            </a:r>
            <a:r>
              <a:rPr lang="en-US" sz="1200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504825" y="1181100"/>
            <a:ext cx="38100" cy="19050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38175" y="116205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303E"/>
                </a:solidFill>
                <a:latin typeface="微软雅黑"/>
                <a:ea typeface="微软雅黑"/>
              </a:rPr>
              <a:t>已达成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542925" y="1504950"/>
            <a:ext cx="5495925" cy="6286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479" name=""/>
          <p:cNvSpPr/>
          <p:nvPr/>
        </p:nvSpPr>
        <p:spPr>
          <a:xfrm rot="0" flipH="0" flipV="0">
            <a:off x="504825" y="1504950"/>
            <a:ext cx="5534025" cy="628650"/>
          </a:xfrm>
          <a:custGeom>
            <a:pathLst>
              <a:path w="581" h="66">
                <a:moveTo>
                  <a:pt x="0" y="0"/>
                </a:moveTo>
                <a:lnTo>
                  <a:pt x="4" y="0"/>
                </a:lnTo>
                <a:lnTo>
                  <a:pt x="4" y="66"/>
                </a:lnTo>
                <a:lnTo>
                  <a:pt x="0" y="66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480" name=""/>
          <p:cNvSpPr/>
          <p:nvPr/>
        </p:nvSpPr>
        <p:spPr>
          <a:xfrm rot="0" flipH="0" flipV="0">
            <a:off x="657225" y="1619250"/>
            <a:ext cx="247650" cy="2476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742950" y="16668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1019175" y="1619250"/>
            <a:ext cx="486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数据闭环成立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019175" y="1809750"/>
            <a:ext cx="48672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NEU 6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类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1800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张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+ DAGM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无缺陷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6000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张，域外误检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64.4% → 0%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542925" y="2228850"/>
            <a:ext cx="5495925" cy="6286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485" name=""/>
          <p:cNvSpPr/>
          <p:nvPr/>
        </p:nvSpPr>
        <p:spPr>
          <a:xfrm rot="0" flipH="0" flipV="0">
            <a:off x="504825" y="2228850"/>
            <a:ext cx="5534025" cy="628650"/>
          </a:xfrm>
          <a:custGeom>
            <a:pathLst>
              <a:path w="581" h="66">
                <a:moveTo>
                  <a:pt x="0" y="0"/>
                </a:moveTo>
                <a:lnTo>
                  <a:pt x="4" y="0"/>
                </a:lnTo>
                <a:lnTo>
                  <a:pt x="4" y="66"/>
                </a:lnTo>
                <a:lnTo>
                  <a:pt x="0" y="66"/>
                </a:lnTo>
                <a:close/>
              </a:path>
            </a:pathLst>
          </a:custGeom>
          <a:solidFill>
            <a:srgbClr val="E8A23B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657225" y="2343150"/>
            <a:ext cx="247650" cy="24765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42950" y="23907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1019175" y="2343150"/>
            <a:ext cx="486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架构破局：双模型级联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019175" y="2533650"/>
            <a:ext cx="48672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误检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0%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与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top-1 97.8%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兼得，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mAP50 0.7393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不掉点，上位机协议零改动。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542925" y="2952750"/>
            <a:ext cx="5495925" cy="6286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491" name=""/>
          <p:cNvSpPr/>
          <p:nvPr/>
        </p:nvSpPr>
        <p:spPr>
          <a:xfrm rot="0" flipH="0" flipV="0">
            <a:off x="504825" y="2952750"/>
            <a:ext cx="5534025" cy="628650"/>
          </a:xfrm>
          <a:custGeom>
            <a:pathLst>
              <a:path w="581" h="66">
                <a:moveTo>
                  <a:pt x="0" y="0"/>
                </a:moveTo>
                <a:lnTo>
                  <a:pt x="4" y="0"/>
                </a:lnTo>
                <a:lnTo>
                  <a:pt x="4" y="66"/>
                </a:lnTo>
                <a:lnTo>
                  <a:pt x="0" y="66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492" name=""/>
          <p:cNvSpPr/>
          <p:nvPr/>
        </p:nvSpPr>
        <p:spPr>
          <a:xfrm rot="0" flipH="0" flipV="0">
            <a:off x="657225" y="3067050"/>
            <a:ext cx="247650" cy="2476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742950" y="31146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1019175" y="3067050"/>
            <a:ext cx="486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评估口径可信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1019175" y="3257550"/>
            <a:ext cx="48672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cal 178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调参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/ holdout 182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汇报，切分可复现审计，结论不再自证。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542925" y="3676650"/>
            <a:ext cx="5495925" cy="6286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497" name=""/>
          <p:cNvSpPr/>
          <p:nvPr/>
        </p:nvSpPr>
        <p:spPr>
          <a:xfrm rot="0" flipH="0" flipV="0">
            <a:off x="504825" y="3676650"/>
            <a:ext cx="5534025" cy="628650"/>
          </a:xfrm>
          <a:custGeom>
            <a:pathLst>
              <a:path w="581" h="66">
                <a:moveTo>
                  <a:pt x="0" y="0"/>
                </a:moveTo>
                <a:lnTo>
                  <a:pt x="4" y="0"/>
                </a:lnTo>
                <a:lnTo>
                  <a:pt x="4" y="66"/>
                </a:lnTo>
                <a:lnTo>
                  <a:pt x="0" y="66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498" name=""/>
          <p:cNvSpPr/>
          <p:nvPr/>
        </p:nvSpPr>
        <p:spPr>
          <a:xfrm rot="0" flipH="0" flipV="0">
            <a:off x="657225" y="3790950"/>
            <a:ext cx="247650" cy="2476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742950" y="38385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1019175" y="3790950"/>
            <a:ext cx="486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工程侧完整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019175" y="3981450"/>
            <a:ext cx="48672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约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5 FPS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实时、掉电自启、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step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按需推帧、四套长期监控机制常驻。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6191250" y="1181100"/>
            <a:ext cx="38100" cy="19050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324600" y="11620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303E"/>
                </a:solidFill>
                <a:latin typeface="微软雅黑"/>
                <a:ea typeface="微软雅黑"/>
              </a:rPr>
              <a:t>后续计划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6229350" y="1504950"/>
            <a:ext cx="5495925" cy="6286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6191250" y="1504950"/>
            <a:ext cx="5534025" cy="628650"/>
          </a:xfrm>
          <a:custGeom>
            <a:pathLst>
              <a:path w="581" h="66">
                <a:moveTo>
                  <a:pt x="0" y="0"/>
                </a:moveTo>
                <a:lnTo>
                  <a:pt x="4" y="0"/>
                </a:lnTo>
                <a:lnTo>
                  <a:pt x="4" y="66"/>
                </a:lnTo>
                <a:lnTo>
                  <a:pt x="0" y="66"/>
                </a:lnTo>
                <a:close/>
              </a:path>
            </a:pathLst>
          </a:custGeom>
          <a:solidFill>
            <a:srgbClr val="E8A23B"/>
          </a:solidFill>
          <a:ln/>
        </p:spPr>
        <p:txBody>
          <a:bodyPr/>
          <a:p/>
        </p:txBody>
      </p:sp>
      <p:sp>
        <p:nvSpPr>
          <p:cNvPr id="506" name=""/>
          <p:cNvSpPr/>
          <p:nvPr/>
        </p:nvSpPr>
        <p:spPr>
          <a:xfrm rot="0" flipH="0" flipV="0">
            <a:off x="6343650" y="1619250"/>
            <a:ext cx="247650" cy="24765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6429375" y="16668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705600" y="1619250"/>
            <a:ext cx="486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真实产线实拍验证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6705600" y="1809750"/>
            <a:ext cx="48672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现有结论全部来自公开数据集；需拿现场图验证域外误检是否仍为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0%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6229350" y="2228850"/>
            <a:ext cx="5495925" cy="6286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511" name=""/>
          <p:cNvSpPr/>
          <p:nvPr/>
        </p:nvSpPr>
        <p:spPr>
          <a:xfrm rot="0" flipH="0" flipV="0">
            <a:off x="6191250" y="2228850"/>
            <a:ext cx="5534025" cy="628650"/>
          </a:xfrm>
          <a:custGeom>
            <a:pathLst>
              <a:path w="581" h="66">
                <a:moveTo>
                  <a:pt x="0" y="0"/>
                </a:moveTo>
                <a:lnTo>
                  <a:pt x="4" y="0"/>
                </a:lnTo>
                <a:lnTo>
                  <a:pt x="4" y="66"/>
                </a:lnTo>
                <a:lnTo>
                  <a:pt x="0" y="66"/>
                </a:lnTo>
                <a:close/>
              </a:path>
            </a:pathLst>
          </a:custGeom>
          <a:solidFill>
            <a:srgbClr val="E8A23B"/>
          </a:solidFill>
          <a:ln/>
        </p:spPr>
        <p:txBody>
          <a:bodyPr/>
          <a:p/>
        </p:txBody>
      </p:sp>
      <p:sp>
        <p:nvSpPr>
          <p:cNvPr id="512" name=""/>
          <p:cNvSpPr/>
          <p:nvPr/>
        </p:nvSpPr>
        <p:spPr>
          <a:xfrm rot="0" flipH="0" flipV="0">
            <a:off x="6343650" y="2343150"/>
            <a:ext cx="247650" cy="24765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429375" y="23907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705600" y="2343150"/>
            <a:ext cx="486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扩展类数据补齐与重训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705600" y="2533650"/>
            <a:ext cx="48672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16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类体系已全链路就绪，待补齐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10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个扩展类的标注数据后重训并转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RKNN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上板。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6229350" y="2952750"/>
            <a:ext cx="5495925" cy="6286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517" name=""/>
          <p:cNvSpPr/>
          <p:nvPr/>
        </p:nvSpPr>
        <p:spPr>
          <a:xfrm rot="0" flipH="0" flipV="0">
            <a:off x="6191250" y="2952750"/>
            <a:ext cx="5534025" cy="628650"/>
          </a:xfrm>
          <a:custGeom>
            <a:pathLst>
              <a:path w="581" h="66">
                <a:moveTo>
                  <a:pt x="0" y="0"/>
                </a:moveTo>
                <a:lnTo>
                  <a:pt x="4" y="0"/>
                </a:lnTo>
                <a:lnTo>
                  <a:pt x="4" y="66"/>
                </a:lnTo>
                <a:lnTo>
                  <a:pt x="0" y="66"/>
                </a:lnTo>
                <a:close/>
              </a:path>
            </a:pathLst>
          </a:custGeom>
          <a:solidFill>
            <a:srgbClr val="93A5B3"/>
          </a:solidFill>
          <a:ln/>
        </p:spPr>
        <p:txBody>
          <a:bodyPr/>
          <a:p/>
        </p:txBody>
      </p:sp>
      <p:sp>
        <p:nvSpPr>
          <p:cNvPr id="518" name=""/>
          <p:cNvSpPr/>
          <p:nvPr/>
        </p:nvSpPr>
        <p:spPr>
          <a:xfrm rot="0" flipH="0" flipV="0">
            <a:off x="6343650" y="3067050"/>
            <a:ext cx="247650" cy="247650"/>
          </a:xfrm>
          <a:prstGeom prst="rect">
            <a:avLst/>
          </a:prstGeom>
          <a:solidFill>
            <a:srgbClr val="93A5B3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6429375" y="31146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6705600" y="3067050"/>
            <a:ext cx="486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弱类攻坚：换数据源而非调参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6705600" y="3257550"/>
            <a:ext cx="48672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crazing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已判为特征问题（阈值与微调均证无效），需补充更高质量样本。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229350" y="3676650"/>
            <a:ext cx="5495925" cy="62865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523" name=""/>
          <p:cNvSpPr/>
          <p:nvPr/>
        </p:nvSpPr>
        <p:spPr>
          <a:xfrm rot="0" flipH="0" flipV="0">
            <a:off x="6191250" y="3676650"/>
            <a:ext cx="5534025" cy="628650"/>
          </a:xfrm>
          <a:custGeom>
            <a:pathLst>
              <a:path w="581" h="66">
                <a:moveTo>
                  <a:pt x="0" y="0"/>
                </a:moveTo>
                <a:lnTo>
                  <a:pt x="4" y="0"/>
                </a:lnTo>
                <a:lnTo>
                  <a:pt x="4" y="66"/>
                </a:lnTo>
                <a:lnTo>
                  <a:pt x="0" y="66"/>
                </a:lnTo>
                <a:close/>
              </a:path>
            </a:pathLst>
          </a:custGeom>
          <a:solidFill>
            <a:srgbClr val="22303E"/>
          </a:solidFill>
          <a:ln/>
        </p:spPr>
        <p:txBody>
          <a:bodyPr/>
          <a:p/>
        </p:txBody>
      </p:sp>
      <p:sp>
        <p:nvSpPr>
          <p:cNvPr id="524" name=""/>
          <p:cNvSpPr/>
          <p:nvPr/>
        </p:nvSpPr>
        <p:spPr>
          <a:xfrm rot="0" flipH="0" flipV="0">
            <a:off x="6343650" y="3790950"/>
            <a:ext cx="247650" cy="24765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6429375" y="38385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6705600" y="3790950"/>
            <a:ext cx="486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303E"/>
                </a:solidFill>
                <a:latin typeface="微软雅黑"/>
                <a:ea typeface="微软雅黑"/>
              </a:rPr>
              <a:t>论文与答辩物料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6705600" y="3981450"/>
            <a:ext cx="48672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补写负样本消融、双模型级联与类别扩展章节；准备答辩口径与可复跑脚本清单。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504825" y="4438650"/>
            <a:ext cx="11182350" cy="752475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638175" y="474345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8A23B"/>
                </a:solidFill>
                <a:latin typeface="微软雅黑"/>
                <a:ea typeface="微软雅黑"/>
              </a:rPr>
              <a:t>一句话总结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933575" y="4572000"/>
            <a:ext cx="9620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在热轧带钢缺陷检测上，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RK3588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边缘端做到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holdout mAP50 0.7393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、域外误检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0%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、板端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p50 196ms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，类别体系已扩至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16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类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——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关键不是把模型训得更大，而是</a:t>
            </a:r>
            <a:r>
              <a:rPr lang="zh-CN" sz="1050" b="1">
                <a:solidFill>
                  <a:srgbClr val="E8A23B"/>
                </a:solidFill>
                <a:latin typeface="微软雅黑"/>
                <a:ea typeface="微软雅黑"/>
              </a:rPr>
              <a:t>用负样本闭环发现问题、用双模型级联绕开</a:t>
            </a:r>
            <a:r>
              <a:rPr lang="en-US" sz="1050" b="1">
                <a:solidFill>
                  <a:srgbClr val="E8A23B"/>
                </a:solidFill>
                <a:latin typeface="微软雅黑"/>
                <a:ea typeface="微软雅黑"/>
              </a:rPr>
              <a:t> tradeoff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504825" y="5305425"/>
            <a:ext cx="11182350" cy="266700"/>
          </a:xfrm>
          <a:custGeom>
            <a:pathLst>
              <a:path w="1174" h="28">
                <a:moveTo>
                  <a:pt x="0" y="0"/>
                </a:moveTo>
                <a:lnTo>
                  <a:pt x="1174" y="0"/>
                </a:lnTo>
                <a:lnTo>
                  <a:pt x="1174" y="1"/>
                </a:lnTo>
                <a:lnTo>
                  <a:pt x="0" y="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504825" y="5410200"/>
            <a:ext cx="3714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基于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RK3588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的轻量化工业缺陷检测系统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模型训练与边缘部署分析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0706100" y="5410200"/>
            <a:ext cx="981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第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9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共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10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7" name="" descr="&lt;Slide&#10;    style={{&#10;        width: '1280px',&#10;        height: '720px',&#10;        background: '#FFFFFF',&#10;        fontFamily: '微软雅黑',&#10;        paddingLeft: 53,&#10;        paddingRight: 53,&#10;        paddingTop: 34,&#10;        paddingBottom: 26,&#10;    }}&#10;&gt;&#10;    &lt;Box style={{ flexDirection: 'row', alignItems: 'center', gap: 12 }}&gt;&#10;        &lt;Box style={{ width: 6, height: 30, background: '#2E6F8E' }} /&gt;&#10;        &lt;Text style={{ fontSize: 30, fontWeight: 'bold', color: '#22303E' }}&gt;类别体系扩展与上位机联调&lt;/Text&gt;&#10;    &lt;/Box&gt;&#10;&#10;    &lt;Text style={{ fontSize: 15, color: '#5F7080', marginTop: 8, marginLeft: 18 }}&gt;&#10;        交付边界前推一格：类别从 6 类扩到 16 类并打通全链路，上位机随类别数动态适配&#10;    &lt;/Text&gt;&#10;&#10;    &lt;Box style={{ flexDirection: 'row', gap: 16, marginTop: 12 }}&gt;&#10;        &lt;Box style={{ flex: 1 }}&gt;&#10;            &lt;Box style={{ flexDirection: 'row', gap: 10, alignItems: 'center', marginBottom: 8 }}&gt;&#10;                &lt;Box style={{ width: 4, height: 18, background: '#2E6F8E' }} /&gt;&#10;                &lt;Text style={{ fontSize: 18, fontWeight: 'bold', color: '#22303E' }}&gt;类别体系：6 类 → 16 类&lt;/Text&gt;&#10;            &lt;/Box&gt;&#10;&#10;            &lt;Box style={{ background: '#F2F5F7', borderLeft: '4px solid #2E6F8E', padding: 10, marginBottom: 8 }}&gt;&#10;                &lt;Text style={{ fontSize: 13, fontWeight: 'bold', color: '#2E6F8E', marginBottom: 4 }}&gt;已实测部署（6 类）&lt;/Text&gt;&#10;                &lt;Text style={{ fontSize: 12, color: '#5F7080', lineHeight: 1.5 }}&gt;crazing 龟裂 · inclusion 夹杂物 · patches 斑块 · pitted_surface 麻面 · rolled-in_scale 轧入氧化皮 · scratches 划痕&lt;/Text&gt;&#10;            &lt;/Box&gt;&#10;&#10;            &lt;Box style={{ background: '#F2F5F7', borderLeft: '4px solid #E8A23B', padding: 10, marginBottom: 8 }}&gt;&#10;                &lt;Text style={{ fontSize: 13, fontWeight: 'bold', color: '#E8A23B', marginBottom: 4 }}&gt;新增扩展类（10 类 · 待重训）&lt;/Text&gt;&#10;                &lt;Text style={{ fontSize: 12, color: '#5F7080', lineHeight: 1.5 }}&gt;工业常见：edge_crack 边裂 · scab 结疤 · pitting 点蚀 · roll_mark 辊印 · wavy_edge 边浪 · oxide_scale 氧化铁皮压入&lt;br /&gt;表面处理：stain 污渍 · oil_spot 油污 · water_spot 水渍 · rust 锈蚀&lt;/Text&gt;&#10;            &lt;/Box&gt;&#10;&#10;            &lt;Box style={{ background: '#FFFFFF', border: '1px solid #D6E0E9', padding: 10 }}&gt;&#10;                &lt;Text style={{ fontSize: 12, color: '#5F7080', lineHeight: 1.5 }}&gt;&#10;                    &lt;span style={{ fontWeight: 'bold', color: '#22303E' }}&gt;口径说明：&lt;/span&gt;16 类体系已在&lt;b&gt;协议层、板端标签表、上位机显示&lt;/b&gt;全链路打通并可复跑验证；&lt;b&gt;模型权重仍为已实测的 6 类&lt;/b&gt;，扩展类需补齐标注数据后重训才产生检出能力。&#10;                &lt;/Text&gt;&#10;            &lt;/Box&gt;&#10;        &lt;/Box&gt;&#10;&#10;        &lt;Box style={{ flex: 1 }}&gt;&#10;            &lt;Box style={{ flexDirection: 'row', gap: 10, alignItems: 'center', marginBottom: 8 }}&gt;&#10;                &lt;Box style={{ width: 4, height: 18, background: '#E8A23B' }} /&gt;&#10;                &lt;Text style={{ fontSize: 18, fontWeight: 'bold', color: '#22303E' }}&gt;全链路同步改造（7 处）&lt;/Text&gt;&#10;            &lt;/Box&gt;&#10;&#10;            &lt;Box style={{ flexDirection: 'row', gap: 10, background: '#F2F5F7', borderLeft: '4px solid #2E6F8E', padding: 9, marginBottom: 7 }}&gt;&#10;                &lt;Text style={{ fontSize: 12, fontWeight: 'bold', color: '#2E6F8E', width: 88 }}&gt;类别字典&lt;/Text&gt;&#10;                &lt;Text style={{ fontSize: 12, color: '#5F7080', flex: 1, lineHeight: 1.45 }}&gt;中文名表 + 分类配色表扩到 20 条，前 6 类配色保持不动（历史图表与论文已引用）&lt;/Text&gt;&#10;            &lt;/Box&gt;&#10;&#10;            &lt;Box style={{ flexDirection: 'row', gap: 10, background: '#F2F5F7', borderLeft: '4px solid #2E6F8E', padding: 9, marginBottom: 7 }}&gt;&#10;                &lt;Text style={{ fontSize: 12, fontWeight: 'bold', color: '#2E6F8E', width: 88 }}&gt;板端标签&lt;/Text&gt;&#10;                &lt;Text style={{ fontSize: 12, color: '#5F7080', flex: 1, lineHeight: 1.45 }}&gt;级联服务与单模型服务同步扩展 NAMES / 备选类别表，协议与上位机保持零改动兼容&lt;/Text&gt;&#10;            &lt;/Box&gt;&#10;&#10;            &lt;Box style={{ flexDirection: 'row', gap: 10, background: '#F2F5F7', borderLeft: '4px solid #2E6F8E', padding: 9, marginBottom: 7 }}&gt;&#10;                &lt;Text style={{ fontSize: 12, fontWeight: 'bold', color: '#2E6F8E', width: 88 }}&gt;可视化适配&lt;/Text&gt;&#10;                &lt;Text style={{ fontSize: 12, color: '#5F7080', flex: 1, lineHeight: 1.45 }}&gt;分布图从&quot;固定 6 行&quot;改为按面板高度动态定行数，柱色改为按类别名取色，与画布缺陷框配色一致&lt;/Text&gt;&#10;            &lt;/Box&gt;&#10;&#10;            &lt;Box style={{ flexDirection: 'row', gap: 10, background: '#F2F5F7', borderLeft: '4px solid #93A5B3', padding: 9 }}&gt;&#10;                &lt;Text style={{ fontSize: 12, fontWeight: 'bold', color: '#5F7080', width: 88 }}&gt;动态跟随&lt;/Text&gt;&#10;                &lt;Text style={{ fontSize: 12, color: '#5F7080', flex: 1, lineHeight: 1.45 }}&gt;界面类别从模型 names 动态读取、历史页下拉从数据库取，无硬编码，换模型即自动适配&lt;/Text&gt;&#10;            &lt;/Box&gt;&#10;        &lt;/Box&gt;&#10;    &lt;/Box&gt;&#10;&#10;    &lt;Box style={{ flexDirection: 'row', gap: 16, marginTop: 12 }}&gt;&#10;        &lt;Box style={{ flex: 1, background: '#22303E', padding: 12 }}&gt;&#10;            &lt;Text style={{ fontSize: 14, fontWeight: 'bold', color: '#E8A23B', marginBottom: 6 }}&gt;上位机联调：三类缺陷修复&lt;/Text&gt;&#10;            &lt;Text style={{ fontSize: 12, color: '#FFFFFF', lineHeight: 1.55 }}&gt;&#10;                ① &lt;b&gt;统计口径不一致&lt;/b&gt;：开始检测时统计归零但记录表未清，导致&quot;底表有 NG、右侧显示 1&quot;的误判 → 两者同步归零&lt;br /&gt;&#10;                ② &lt;b&gt;缺陷框同色&lt;/b&gt;：边缘结果配色被硬编码为单一红色，丢失分类配色 → 改为按类别取色&lt;br /&gt;&#10;                ③ &lt;b&gt;结果不统一&lt;/b&gt;：板端回传英文类名直接上屏 → 显示层映射中文，入库口径仍保留英文原名（不污染历史数据）&#10;            &lt;/Text&gt;&#10;        &lt;/Box&gt;&#10;&#10;        &lt;Box style={{ width: 340, background: '#F2F5F7', borderTop: '4px solid #2E6F8E', padding: 12 }}&gt;&#10;            &lt;Text style={{ fontSize: 14, fontWeight: 'bold', color: '#2E6F8E', marginBottom: 6 }}&gt;验证与回归&lt;/Text&gt;&#10;            &lt;Text style={{ fontSize: 12, color: '#5F7080', lineHeight: 1.6 }}&gt;&#10;                · 16 类映射自检：无缺中文名 / 无缺颜色 / 无重复配色&lt;br /&gt;&#10;                · 联调回归：功能用例 &lt;b&gt;22 / 28&lt;/b&gt;，较改造前基线净增 1 项&lt;br /&gt;&#10;                · 停止复位专项：&lt;b&gt;全部通过&lt;/b&gt;，无回归&lt;br /&gt;&#10;                · 全部改造点可复跑脚本验证，非口头结论&#10;            &lt;/Text&gt;&#10;        &lt;/Box&gt;&#10;    &lt;/Box&gt;&#10;&#10;    &lt;Box style={{ flexDirection: 'row', justifyContent: 'space-between', alignItems: 'center', borderTop: '1px solid #D6E0E9', paddingTop: 8, marginTop: 10 }}&gt;&#10;        &lt;Text style={{ fontSize: 13, color: '#93A5B3' }}&gt;基于 RK3588 的轻量化工业缺陷检测系统 · 模型训练与边缘部署分析&lt;/Text&gt;&#10;        &lt;Text style={{ fontSize: 13, color: '#93A5B3' }}&gt;第 10 页 · 共 10 页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504825" y="352425"/>
            <a:ext cx="57150" cy="2857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76275" y="323850"/>
            <a:ext cx="3429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2303E"/>
                </a:solidFill>
                <a:latin typeface="微软雅黑"/>
                <a:ea typeface="微软雅黑"/>
              </a:rPr>
              <a:t>类别体系扩展与上位机联调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76275" y="742950"/>
            <a:ext cx="1101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F7080"/>
                </a:solidFill>
                <a:latin typeface="微软雅黑"/>
                <a:ea typeface="微软雅黑"/>
              </a:rPr>
              <a:t>交付边界前推一格：类别从</a:t>
            </a:r>
            <a:r>
              <a:rPr lang="en-US" sz="1125">
                <a:solidFill>
                  <a:srgbClr val="5F7080"/>
                </a:solidFill>
                <a:latin typeface="微软雅黑"/>
                <a:ea typeface="微软雅黑"/>
              </a:rPr>
              <a:t> 6 </a:t>
            </a:r>
            <a:r>
              <a:rPr lang="zh-CN" sz="1125">
                <a:solidFill>
                  <a:srgbClr val="5F7080"/>
                </a:solidFill>
                <a:latin typeface="微软雅黑"/>
                <a:ea typeface="微软雅黑"/>
              </a:rPr>
              <a:t>类扩到</a:t>
            </a:r>
            <a:r>
              <a:rPr lang="en-US" sz="1125">
                <a:solidFill>
                  <a:srgbClr val="5F7080"/>
                </a:solidFill>
                <a:latin typeface="微软雅黑"/>
                <a:ea typeface="微软雅黑"/>
              </a:rPr>
              <a:t> 16 </a:t>
            </a:r>
            <a:r>
              <a:rPr lang="zh-CN" sz="1125">
                <a:solidFill>
                  <a:srgbClr val="5F7080"/>
                </a:solidFill>
                <a:latin typeface="微软雅黑"/>
                <a:ea typeface="微软雅黑"/>
              </a:rPr>
              <a:t>类并打通全链路，上位机随类别数动态适配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504825" y="1047750"/>
            <a:ext cx="38100" cy="171450"/>
          </a:xfrm>
          <a:prstGeom prst="rect">
            <a:avLst/>
          </a:prstGeom>
          <a:solidFill>
            <a:srgbClr val="2E6F8E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38175" y="1028700"/>
            <a:ext cx="190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2303E"/>
                </a:solidFill>
                <a:latin typeface="微软雅黑"/>
                <a:ea typeface="微软雅黑"/>
              </a:rPr>
              <a:t>类别体系：</a:t>
            </a:r>
            <a:r>
              <a:rPr lang="en-US" sz="1350" b="1">
                <a:solidFill>
                  <a:srgbClr val="22303E"/>
                </a:solidFill>
                <a:latin typeface="微软雅黑"/>
                <a:ea typeface="微软雅黑"/>
              </a:rPr>
              <a:t>6 </a:t>
            </a:r>
            <a:r>
              <a:rPr lang="zh-CN" sz="1350" b="1">
                <a:solidFill>
                  <a:srgbClr val="22303E"/>
                </a:solidFill>
                <a:latin typeface="微软雅黑"/>
                <a:ea typeface="微软雅黑"/>
              </a:rPr>
              <a:t>类</a:t>
            </a:r>
            <a:r>
              <a:rPr lang="en-US" sz="1350" b="1">
                <a:solidFill>
                  <a:srgbClr val="22303E"/>
                </a:solidFill>
                <a:latin typeface="微软雅黑"/>
                <a:ea typeface="微软雅黑"/>
              </a:rPr>
              <a:t> → 16 </a:t>
            </a:r>
            <a:r>
              <a:rPr lang="zh-CN" sz="1350" b="1">
                <a:solidFill>
                  <a:srgbClr val="22303E"/>
                </a:solidFill>
                <a:latin typeface="微软雅黑"/>
                <a:ea typeface="微软雅黑"/>
              </a:rPr>
              <a:t>类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542925" y="1314450"/>
            <a:ext cx="5514975" cy="8001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504825" y="1314450"/>
            <a:ext cx="5553075" cy="800100"/>
          </a:xfrm>
          <a:custGeom>
            <a:pathLst>
              <a:path w="583" h="84">
                <a:moveTo>
                  <a:pt x="0" y="0"/>
                </a:moveTo>
                <a:lnTo>
                  <a:pt x="4" y="0"/>
                </a:lnTo>
                <a:lnTo>
                  <a:pt x="4" y="84"/>
                </a:lnTo>
                <a:lnTo>
                  <a:pt x="0" y="84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38175" y="1409700"/>
            <a:ext cx="5286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E6F8E"/>
                </a:solidFill>
                <a:latin typeface="微软雅黑"/>
                <a:ea typeface="微软雅黑"/>
              </a:rPr>
              <a:t>已实测部署（</a:t>
            </a:r>
            <a:r>
              <a:rPr lang="en-US" sz="975" b="1">
                <a:solidFill>
                  <a:srgbClr val="2E6F8E"/>
                </a:solidFill>
                <a:latin typeface="微软雅黑"/>
                <a:ea typeface="微软雅黑"/>
              </a:rPr>
              <a:t>6 </a:t>
            </a:r>
            <a:r>
              <a:rPr lang="zh-CN" sz="975" b="1">
                <a:solidFill>
                  <a:srgbClr val="2E6F8E"/>
                </a:solidFill>
                <a:latin typeface="微软雅黑"/>
                <a:ea typeface="微软雅黑"/>
              </a:rPr>
              <a:t>类）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38175" y="1600200"/>
            <a:ext cx="52863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crazing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龟裂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· inclusion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夹杂物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· patches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斑块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· pitted_surface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麻面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· rolled-in_scale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轧入氧化皮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· scratches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划痕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542925" y="2190750"/>
            <a:ext cx="5514975" cy="1000125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504825" y="2190750"/>
            <a:ext cx="5553075" cy="1000125"/>
          </a:xfrm>
          <a:custGeom>
            <a:pathLst>
              <a:path w="583" h="105">
                <a:moveTo>
                  <a:pt x="0" y="0"/>
                </a:moveTo>
                <a:lnTo>
                  <a:pt x="4" y="0"/>
                </a:lnTo>
                <a:lnTo>
                  <a:pt x="4" y="105"/>
                </a:lnTo>
                <a:lnTo>
                  <a:pt x="0" y="105"/>
                </a:lnTo>
                <a:close/>
              </a:path>
            </a:pathLst>
          </a:custGeom>
          <a:solidFill>
            <a:srgbClr val="E8A23B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38175" y="2286000"/>
            <a:ext cx="5286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8A23B"/>
                </a:solidFill>
                <a:latin typeface="微软雅黑"/>
                <a:ea typeface="微软雅黑"/>
              </a:rPr>
              <a:t>新增扩展类（</a:t>
            </a:r>
            <a:r>
              <a:rPr lang="en-US" sz="975" b="1">
                <a:solidFill>
                  <a:srgbClr val="E8A23B"/>
                </a:solidFill>
                <a:latin typeface="微软雅黑"/>
                <a:ea typeface="微软雅黑"/>
              </a:rPr>
              <a:t>10 </a:t>
            </a:r>
            <a:r>
              <a:rPr lang="zh-CN" sz="975" b="1">
                <a:solidFill>
                  <a:srgbClr val="E8A23B"/>
                </a:solidFill>
                <a:latin typeface="微软雅黑"/>
                <a:ea typeface="微软雅黑"/>
              </a:rPr>
              <a:t>类</a:t>
            </a:r>
            <a:r>
              <a:rPr lang="en-US" sz="975" b="1">
                <a:solidFill>
                  <a:srgbClr val="E8A23B"/>
                </a:solidFill>
                <a:latin typeface="微软雅黑"/>
                <a:ea typeface="微软雅黑"/>
              </a:rPr>
              <a:t> · </a:t>
            </a:r>
            <a:r>
              <a:rPr lang="zh-CN" sz="975" b="1">
                <a:solidFill>
                  <a:srgbClr val="E8A23B"/>
                </a:solidFill>
                <a:latin typeface="微软雅黑"/>
                <a:ea typeface="微软雅黑"/>
              </a:rPr>
              <a:t>待重训）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38175" y="2476500"/>
            <a:ext cx="52863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工业常见：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edge_crack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边裂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· scab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结疤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· pitting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点蚀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· roll_mark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辊印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· wavy_edge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边浪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· oxide_scale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氧化铁皮压入</a:t>
            </a:r>
            <a:endParaRPr/>
          </a:p>
          <a:p>
            <a:pPr>
              <a:lnSpc>
                <a:spcPct val="150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表面处理：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stain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污渍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· oil_spot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油污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· water_spot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水渍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· rust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锈蚀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504825" y="3267075"/>
            <a:ext cx="5514975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9"/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0075" y="3362325"/>
            <a:ext cx="53244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22303E"/>
                </a:solidFill>
                <a:latin typeface="微软雅黑"/>
                <a:ea typeface="微软雅黑"/>
              </a:rPr>
              <a:t>口径说明：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16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类体系已在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协议层、板端标签表、上位机显示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全链路打通并可复跑验证；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模型权重仍为已实测的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6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类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，扩展类需补齐标注数据后重训才产生检出能力。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172200" y="1047750"/>
            <a:ext cx="38100" cy="171450"/>
          </a:xfrm>
          <a:prstGeom prst="rect">
            <a:avLst/>
          </a:prstGeom>
          <a:solidFill>
            <a:srgbClr val="E8A23B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305550" y="1028700"/>
            <a:ext cx="1876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2303E"/>
                </a:solidFill>
                <a:latin typeface="微软雅黑"/>
                <a:ea typeface="微软雅黑"/>
              </a:rPr>
              <a:t>全链路同步改造（</a:t>
            </a:r>
            <a:r>
              <a:rPr lang="en-US" sz="1350" b="1">
                <a:solidFill>
                  <a:srgbClr val="22303E"/>
                </a:solidFill>
                <a:latin typeface="微软雅黑"/>
                <a:ea typeface="微软雅黑"/>
              </a:rPr>
              <a:t>7 </a:t>
            </a:r>
            <a:r>
              <a:rPr lang="zh-CN" sz="1350" b="1">
                <a:solidFill>
                  <a:srgbClr val="22303E"/>
                </a:solidFill>
                <a:latin typeface="微软雅黑"/>
                <a:ea typeface="微软雅黑"/>
              </a:rPr>
              <a:t>处）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210300" y="1314450"/>
            <a:ext cx="5514975" cy="371475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6172200" y="1314450"/>
            <a:ext cx="5553075" cy="371475"/>
          </a:xfrm>
          <a:custGeom>
            <a:pathLst>
              <a:path w="583" h="39">
                <a:moveTo>
                  <a:pt x="0" y="0"/>
                </a:moveTo>
                <a:lnTo>
                  <a:pt x="4" y="0"/>
                </a:lnTo>
                <a:lnTo>
                  <a:pt x="4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296025" y="1400175"/>
            <a:ext cx="838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E6F8E"/>
                </a:solidFill>
                <a:latin typeface="微软雅黑"/>
                <a:ea typeface="微软雅黑"/>
              </a:rPr>
              <a:t>类别字典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229475" y="140017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中文名表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+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分类配色表扩到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20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条，前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6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类配色保持不动（历史图表与论文已引用）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210300" y="1752600"/>
            <a:ext cx="5514975" cy="371475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172200" y="1752600"/>
            <a:ext cx="5553075" cy="371475"/>
          </a:xfrm>
          <a:custGeom>
            <a:pathLst>
              <a:path w="583" h="39">
                <a:moveTo>
                  <a:pt x="0" y="0"/>
                </a:moveTo>
                <a:lnTo>
                  <a:pt x="4" y="0"/>
                </a:lnTo>
                <a:lnTo>
                  <a:pt x="4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296025" y="1838325"/>
            <a:ext cx="838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E6F8E"/>
                </a:solidFill>
                <a:latin typeface="微软雅黑"/>
                <a:ea typeface="微软雅黑"/>
              </a:rPr>
              <a:t>板端标签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229475" y="183832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级联服务与单模型服务同步扩展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NAMES /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备选类别表，协议与上位机保持零改动兼容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210300" y="2190750"/>
            <a:ext cx="5514975" cy="5715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6172200" y="2190750"/>
            <a:ext cx="5553075" cy="571500"/>
          </a:xfrm>
          <a:custGeom>
            <a:pathLst>
              <a:path w="583" h="60">
                <a:moveTo>
                  <a:pt x="0" y="0"/>
                </a:moveTo>
                <a:lnTo>
                  <a:pt x="4" y="0"/>
                </a:lnTo>
                <a:lnTo>
                  <a:pt x="4" y="60"/>
                </a:lnTo>
                <a:lnTo>
                  <a:pt x="0" y="60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296025" y="2276475"/>
            <a:ext cx="838200" cy="400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E6F8E"/>
                </a:solidFill>
                <a:latin typeface="微软雅黑"/>
                <a:ea typeface="微软雅黑"/>
              </a:rPr>
              <a:t>可视化适配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229475" y="2276475"/>
            <a:ext cx="43719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分布图从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固定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6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行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"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改为按面板高度动态定行数，柱色改为按类别名取色，与画布缺陷框配色一致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210300" y="2828925"/>
            <a:ext cx="5514975" cy="5715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6172200" y="2828925"/>
            <a:ext cx="5553075" cy="571500"/>
          </a:xfrm>
          <a:custGeom>
            <a:pathLst>
              <a:path w="583" h="60">
                <a:moveTo>
                  <a:pt x="0" y="0"/>
                </a:moveTo>
                <a:lnTo>
                  <a:pt x="4" y="0"/>
                </a:lnTo>
                <a:lnTo>
                  <a:pt x="4" y="60"/>
                </a:lnTo>
                <a:lnTo>
                  <a:pt x="0" y="60"/>
                </a:lnTo>
                <a:close/>
              </a:path>
            </a:pathLst>
          </a:custGeom>
          <a:solidFill>
            <a:srgbClr val="93A5B3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296025" y="2914650"/>
            <a:ext cx="838200" cy="400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F7080"/>
                </a:solidFill>
                <a:latin typeface="微软雅黑"/>
                <a:ea typeface="微软雅黑"/>
              </a:rPr>
              <a:t>动态跟随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229475" y="2914650"/>
            <a:ext cx="43719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界面类别从模型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names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动态读取、历史页下拉从数据库取，无硬编码，换模型即自动适配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04825" y="3990975"/>
            <a:ext cx="7791450" cy="137160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19125" y="4105275"/>
            <a:ext cx="7562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8A23B"/>
                </a:solidFill>
                <a:latin typeface="微软雅黑"/>
                <a:ea typeface="微软雅黑"/>
              </a:rPr>
              <a:t>上位机联调：三类缺陷修复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19125" y="4324350"/>
            <a:ext cx="7562850" cy="638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FFFFFF"/>
                </a:solidFill>
                <a:latin typeface="微软雅黑"/>
                <a:ea typeface="微软雅黑"/>
              </a:rPr>
              <a:t>① </a:t>
            </a:r>
            <a:r>
              <a:rPr lang="zh-CN" sz="900">
                <a:solidFill>
                  <a:srgbClr val="FFFFFF"/>
                </a:solidFill>
                <a:latin typeface="微软雅黑"/>
                <a:ea typeface="微软雅黑"/>
              </a:rPr>
              <a:t>统计口径不一致</a:t>
            </a:r>
            <a:r>
              <a:rPr lang="zh-CN" sz="900">
                <a:solidFill>
                  <a:srgbClr val="FFFFFF"/>
                </a:solidFill>
                <a:latin typeface="微软雅黑"/>
                <a:ea typeface="微软雅黑"/>
              </a:rPr>
              <a:t>：开始检测时统计归零但记录表未清，导致</a:t>
            </a:r>
            <a:r>
              <a:rPr lang="en-US" sz="900">
                <a:solidFill>
                  <a:srgbClr val="FFFFFF"/>
                </a:solidFill>
                <a:latin typeface="微软雅黑"/>
                <a:ea typeface="微软雅黑"/>
              </a:rPr>
              <a:t>"</a:t>
            </a:r>
            <a:r>
              <a:rPr lang="zh-CN" sz="900">
                <a:solidFill>
                  <a:srgbClr val="FFFFFF"/>
                </a:solidFill>
                <a:latin typeface="微软雅黑"/>
                <a:ea typeface="微软雅黑"/>
              </a:rPr>
              <a:t>底表有</a:t>
            </a:r>
            <a:r>
              <a:rPr lang="en-US" sz="900">
                <a:solidFill>
                  <a:srgbClr val="FFFFFF"/>
                </a:solidFill>
                <a:latin typeface="微软雅黑"/>
                <a:ea typeface="微软雅黑"/>
              </a:rPr>
              <a:t> NG</a:t>
            </a:r>
            <a:r>
              <a:rPr lang="zh-CN" sz="900">
                <a:solidFill>
                  <a:srgbClr val="FFFFFF"/>
                </a:solidFill>
                <a:latin typeface="微软雅黑"/>
                <a:ea typeface="微软雅黑"/>
              </a:rPr>
              <a:t>、右侧显示</a:t>
            </a:r>
            <a:r>
              <a:rPr lang="en-US" sz="900">
                <a:solidFill>
                  <a:srgbClr val="FFFFFF"/>
                </a:solidFill>
                <a:latin typeface="微软雅黑"/>
                <a:ea typeface="微软雅黑"/>
              </a:rPr>
              <a:t> 1"</a:t>
            </a:r>
            <a:r>
              <a:rPr lang="zh-CN" sz="900">
                <a:solidFill>
                  <a:srgbClr val="FFFFFF"/>
                </a:solidFill>
                <a:latin typeface="微软雅黑"/>
                <a:ea typeface="微软雅黑"/>
              </a:rPr>
              <a:t>的误判</a:t>
            </a:r>
            <a:r>
              <a:rPr lang="en-US" sz="900">
                <a:solidFill>
                  <a:srgbClr val="FFFFFF"/>
                </a:solidFill>
                <a:latin typeface="微软雅黑"/>
                <a:ea typeface="微软雅黑"/>
              </a:rPr>
              <a:t> → </a:t>
            </a:r>
            <a:r>
              <a:rPr lang="zh-CN" sz="900">
                <a:solidFill>
                  <a:srgbClr val="FFFFFF"/>
                </a:solidFill>
                <a:latin typeface="微软雅黑"/>
                <a:ea typeface="微软雅黑"/>
              </a:rPr>
              <a:t>两者同步归零</a:t>
            </a:r>
            <a:endParaRPr/>
          </a:p>
          <a:p>
            <a:pPr>
              <a:lnSpc>
                <a:spcPct val="155000"/>
              </a:lnSpc>
            </a:pPr>
            <a:r>
              <a:rPr lang="en-US" sz="900">
                <a:solidFill>
                  <a:srgbClr val="FFFFFF"/>
                </a:solidFill>
                <a:latin typeface="微软雅黑"/>
                <a:ea typeface="微软雅黑"/>
              </a:rPr>
              <a:t>② </a:t>
            </a:r>
            <a:r>
              <a:rPr lang="zh-CN" sz="900">
                <a:solidFill>
                  <a:srgbClr val="FFFFFF"/>
                </a:solidFill>
                <a:latin typeface="微软雅黑"/>
                <a:ea typeface="微软雅黑"/>
              </a:rPr>
              <a:t>缺陷框同色</a:t>
            </a:r>
            <a:r>
              <a:rPr lang="zh-CN" sz="900">
                <a:solidFill>
                  <a:srgbClr val="FFFFFF"/>
                </a:solidFill>
                <a:latin typeface="微软雅黑"/>
                <a:ea typeface="微软雅黑"/>
              </a:rPr>
              <a:t>：边缘结果配色被硬编码为单一红色，丢失分类配色</a:t>
            </a:r>
            <a:r>
              <a:rPr lang="en-US" sz="900">
                <a:solidFill>
                  <a:srgbClr val="FFFFFF"/>
                </a:solidFill>
                <a:latin typeface="微软雅黑"/>
                <a:ea typeface="微软雅黑"/>
              </a:rPr>
              <a:t> → </a:t>
            </a:r>
            <a:r>
              <a:rPr lang="zh-CN" sz="900">
                <a:solidFill>
                  <a:srgbClr val="FFFFFF"/>
                </a:solidFill>
                <a:latin typeface="微软雅黑"/>
                <a:ea typeface="微软雅黑"/>
              </a:rPr>
              <a:t>改为按类别取色</a:t>
            </a:r>
            <a:endParaRPr/>
          </a:p>
          <a:p>
            <a:pPr>
              <a:lnSpc>
                <a:spcPct val="155000"/>
              </a:lnSpc>
            </a:pPr>
            <a:r>
              <a:rPr lang="en-US" sz="900">
                <a:solidFill>
                  <a:srgbClr val="FFFFFF"/>
                </a:solidFill>
                <a:latin typeface="微软雅黑"/>
                <a:ea typeface="微软雅黑"/>
              </a:rPr>
              <a:t>③ </a:t>
            </a:r>
            <a:r>
              <a:rPr lang="zh-CN" sz="900">
                <a:solidFill>
                  <a:srgbClr val="FFFFFF"/>
                </a:solidFill>
                <a:latin typeface="微软雅黑"/>
                <a:ea typeface="微软雅黑"/>
              </a:rPr>
              <a:t>结果不统一</a:t>
            </a:r>
            <a:r>
              <a:rPr lang="zh-CN" sz="900">
                <a:solidFill>
                  <a:srgbClr val="FFFFFF"/>
                </a:solidFill>
                <a:latin typeface="微软雅黑"/>
                <a:ea typeface="微软雅黑"/>
              </a:rPr>
              <a:t>：板端回传英文类名直接上屏</a:t>
            </a:r>
            <a:r>
              <a:rPr lang="en-US" sz="900">
                <a:solidFill>
                  <a:srgbClr val="FFFFFF"/>
                </a:solidFill>
                <a:latin typeface="微软雅黑"/>
                <a:ea typeface="微软雅黑"/>
              </a:rPr>
              <a:t> → </a:t>
            </a:r>
            <a:r>
              <a:rPr lang="zh-CN" sz="900">
                <a:solidFill>
                  <a:srgbClr val="FFFFFF"/>
                </a:solidFill>
                <a:latin typeface="微软雅黑"/>
                <a:ea typeface="微软雅黑"/>
              </a:rPr>
              <a:t>显示层映射中文，入库口径仍保留英文原名（不污染历史数据）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8448675" y="4029075"/>
            <a:ext cx="3238500" cy="1371600"/>
          </a:xfrm>
          <a:prstGeom prst="rect">
            <a:avLst/>
          </a:prstGeom>
          <a:solidFill>
            <a:srgbClr val="F2F5F7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8448675" y="3990975"/>
            <a:ext cx="3238500" cy="1409700"/>
          </a:xfrm>
          <a:custGeom>
            <a:pathLst>
              <a:path w="340" h="148">
                <a:moveTo>
                  <a:pt x="0" y="0"/>
                </a:moveTo>
                <a:lnTo>
                  <a:pt x="340" y="0"/>
                </a:lnTo>
                <a:lnTo>
                  <a:pt x="340" y="4"/>
                </a:lnTo>
                <a:lnTo>
                  <a:pt x="0" y="4"/>
                </a:lnTo>
                <a:close/>
              </a:path>
            </a:pathLst>
          </a:custGeom>
          <a:solidFill>
            <a:srgbClr val="2E6F8E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562975" y="4143375"/>
            <a:ext cx="300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E6F8E"/>
                </a:solidFill>
                <a:latin typeface="微软雅黑"/>
                <a:ea typeface="微软雅黑"/>
              </a:rPr>
              <a:t>验证与回归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562975" y="4362450"/>
            <a:ext cx="3009900" cy="8858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· 16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类映射自检：无缺中文名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/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无缺颜色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/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无重复配色</a:t>
            </a:r>
            <a:endParaRPr/>
          </a:p>
          <a:p>
            <a:pPr>
              <a:lnSpc>
                <a:spcPct val="16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·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联调回归：功能用例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22 / 28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，较改造前基线净增</a:t>
            </a: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 1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项</a:t>
            </a:r>
            <a:endParaRPr/>
          </a:p>
          <a:p>
            <a:pPr>
              <a:lnSpc>
                <a:spcPct val="16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·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停止复位专项：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全部通过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，无回归</a:t>
            </a:r>
            <a:endParaRPr/>
          </a:p>
          <a:p>
            <a:pPr>
              <a:lnSpc>
                <a:spcPct val="160000"/>
              </a:lnSpc>
            </a:pPr>
            <a:r>
              <a:rPr lang="en-US" sz="900">
                <a:solidFill>
                  <a:srgbClr val="5F7080"/>
                </a:solidFill>
                <a:latin typeface="微软雅黑"/>
                <a:ea typeface="微软雅黑"/>
              </a:rPr>
              <a:t>· </a:t>
            </a:r>
            <a:r>
              <a:rPr lang="zh-CN" sz="900">
                <a:solidFill>
                  <a:srgbClr val="5F7080"/>
                </a:solidFill>
                <a:latin typeface="微软雅黑"/>
                <a:ea typeface="微软雅黑"/>
              </a:rPr>
              <a:t>全部改造点可复跑脚本验证，非口头结论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504825" y="5457825"/>
            <a:ext cx="11182350" cy="247650"/>
          </a:xfrm>
          <a:custGeom>
            <a:pathLst>
              <a:path w="1174" h="26">
                <a:moveTo>
                  <a:pt x="0" y="0"/>
                </a:moveTo>
                <a:lnTo>
                  <a:pt x="1174" y="0"/>
                </a:lnTo>
                <a:lnTo>
                  <a:pt x="1174" y="1"/>
                </a:lnTo>
                <a:lnTo>
                  <a:pt x="0" y="1"/>
                </a:lnTo>
                <a:close/>
              </a:path>
            </a:pathLst>
          </a:custGeom>
          <a:solidFill>
            <a:srgbClr val="D6E0E9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04825" y="5543550"/>
            <a:ext cx="3714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基于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RK3588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的轻量化工业缺陷检测系统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模型训练与边缘部署分析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639425" y="554355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第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10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共</a:t>
            </a:r>
            <a:r>
              <a:rPr lang="en-US" sz="975">
                <a:solidFill>
                  <a:srgbClr val="93A5B3"/>
                </a:solidFill>
                <a:latin typeface="微软雅黑"/>
                <a:ea typeface="微软雅黑"/>
              </a:rPr>
              <a:t> 10 </a:t>
            </a:r>
            <a:r>
              <a:rPr lang="zh-CN" sz="975">
                <a:solidFill>
                  <a:srgbClr val="93A5B3"/>
                </a:solidFill>
                <a:latin typeface="微软雅黑"/>
                <a:ea typeface="微软雅黑"/>
              </a:rPr>
              <a:t>页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2026-09-23T10:14:37Z</dcterms:created>
  <dcterms:modified xsi:type="dcterms:W3CDTF">2026-09-23T10:14:37Z</dcterms:modified>
</cp:coreProperties>
</file>