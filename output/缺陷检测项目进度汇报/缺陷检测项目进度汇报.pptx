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8" Type="http://schemas.openxmlformats.org/officeDocument/2006/relationships/viewProps" Target="viewProps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6" Type="http://schemas.openxmlformats.org/officeDocument/2006/relationships/slide" Target="slides/slide6.xml" /><Relationship Id="rId17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5.svg" /><Relationship Id="rId1" Type="http://schemas.openxmlformats.org/officeDocument/2006/relationships/image" Target="media/image14.svg" /><Relationship Id="rId4" Type="http://schemas.openxmlformats.org/officeDocument/2006/relationships/image" Target="media/image17.svg" /><Relationship Id="rId3" Type="http://schemas.openxmlformats.org/officeDocument/2006/relationships/image" Target="media/image16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20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4" Type="http://schemas.openxmlformats.org/officeDocument/2006/relationships/image" Target="media/image5.svg" /><Relationship Id="rId2" Type="http://schemas.openxmlformats.org/officeDocument/2006/relationships/image" Target="media/image3.svg" /><Relationship Id="rId3" Type="http://schemas.openxmlformats.org/officeDocument/2006/relationships/image" Target="media/image4.svg" /><Relationship Id="rId6" Type="http://schemas.openxmlformats.org/officeDocument/2006/relationships/image" Target="media/image7.svg" /><Relationship Id="rId5" Type="http://schemas.openxmlformats.org/officeDocument/2006/relationships/image" Target="media/image6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11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完成度</c:v>
                </c:pt>
              </c:strCache>
            </c:strRef>
          </c:tx>
          <c:spPr>
            <a:gradFill>
              <a:gsLst>
                <a:gs pos="0">
                  <a:srgbClr val="0B3D91"/>
                </a:gs>
                <a:gs pos="100000">
                  <a:srgbClr val="00B4D8"/>
                </a:gs>
              </a:gsLst>
              <a:lin ang="0" scaled="1"/>
            </a:gradFill>
          </c:spPr>
          <c:dLbls>
            <c:txPr>
              <a:bodyPr/>
              <a:p>
                <a:pPr>
                  <a:defRPr sz="750">
                    <a:solidFill>
                      <a:srgbClr val="0B1C3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数据准备（25689 图）</c:v>
                </c:pt>
                <c:pt idx="1">
                  <c:v>模型训练（39 类）</c:v>
                </c:pt>
                <c:pt idx="2">
                  <c:v>边缘部署（RK3588）</c:v>
                </c:pt>
                <c:pt idx="3">
                  <c:v>上位机集成（6 页）</c:v>
                </c:pt>
                <c:pt idx="4">
                  <c:v>论文撰写（v2）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60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AA9B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'relative', background: '#061428', overflow: 'hidden' }}&gt;&#10;&#10;    {/* 全幅底图 */}&#10;    &lt;Image src=&quot;assets/hero_factory_line.png&quot; style={{ position: 'absolute', top: 0, left: 0, width: 1280, height: 720, objectFit: 'cover' }} /&gt;&#10;    &lt;Box style={{ position: 'absolute', top: 0, left: 0, width: 1280, height: 720, background: 'linear-gradient(100deg, rgba(4,14,32,0.95) 0%, rgba(4,14,32,0.84) 44%, rgba(4,14,32,0.32) 78%, rgba(4,14,32,0.10) 100%)' }} /&gt;&#10;    &lt;Box style={{ position: 'absolute', bottom: 0, left: 0, width: 1280, height: 8, background: 'linear-gradient(90deg, #FF7A18 0%, #00B4D8 45%, rgba(0,180,216,0) 100%)' }} /&gt;&#10;&#10;    {/* 骑线文字块 */}&#10;    &lt;Box style={{ position: 'relative', zIndex: 2, width: 790, height: 720, paddingTop: 92, paddingLeft: 84, flexDirection: 'column' }}&gt;&#10;&#10;        &lt;Box style={{ flexDirection: 'row', alignItems: 'center', gap: 14 }}&gt;&#10;            &lt;Box style={{ width: 34, height: 4, background: '#FF7A18' }} /&gt;&#10;            &lt;Text style={{ fontSize: 18, color: '#7FD4E8', letterSpacing: 4, fontWeight: 600 }}&gt;项目进度汇报 · 2026 年 10 月&lt;/Text&gt;&#10;        &lt;/Box&gt;&#10;&#10;        &lt;Text style={{ marginTop: 28, fontSize: 70, lineHeight: 1.12, fontWeight: 'bold', color: '#FFFFFF', letterSpacing: 1 }}&gt;&#10;            工业表面缺陷检测系统&#10;        &lt;/Text&gt;&#10;&#10;        &lt;Text style={{ marginTop: 20, fontSize: 27, lineHeight: 1.5, color: '#C7D6E6' }}&gt;&#10;            开发进度与应用场景汇报&#10;        &lt;/Text&gt;&#10;&#10;        &lt;Text style={{ marginTop: 30, fontSize: 19, color: '#8FA6BC', letterSpacing: 0.5 }}&gt;&#10;            数据构建 · 模型训练 · &lt;span style={{ color: '#00B4D8', fontWeight: 'bold' }}&gt;RK3588 边缘部署&lt;/span&gt; · 上位机闭环 · 论文撰写&#10;        &lt;/Text&gt;&#10;&#10;        {/* 三指标 */}&#10;        &lt;Box style={{ flexDirection: 'row', alignItems: 'flex-end', gap: 40, marginTop: 54 }}&gt;&#10;            &lt;Box style={{ flexDirection: 'column' }}&gt;&#10;                &lt;Text style={{ fontSize: 62, lineHeight: 0.95, fontWeight: 'bold', color: '#FF7A18' }}&gt;39&lt;/Text&gt;&#10;                &lt;Text style={{ fontSize: 17, color: '#BDD0E2', marginTop: 6 }}&gt;类缺陷已建模&lt;/Text&gt;&#10;            &lt;/Box&gt;&#10;            &lt;Box style={{ width: 1, height: 58, background: 'rgba(255,255,255,0.22)' }} /&gt;&#10;            &lt;Box style={{ flexDirection: 'column' }}&gt;&#10;                &lt;Text style={{ fontSize: 62, lineHeight: 0.95, fontWeight: 'bold', color: '#00B4D8' }}&gt;0.724&lt;/Text&gt;&#10;                &lt;Text style={{ fontSize: 17, color: '#BDD0E2', marginTop: 6 }}&gt;mAP50（实测）&lt;/Text&gt;&#10;            &lt;/Box&gt;&#10;            &lt;Box style={{ width: 1, height: 58, background: 'rgba(255,255,255,0.22)' }} /&gt;&#10;            &lt;Box style={{ flexDirection: 'column' }}&gt;&#10;                &lt;Text style={{ fontSize: 62, lineHeight: 0.95, fontWeight: 'bold', color: '#FFFFFF' }}&gt;128&lt;/Text&gt;&#10;                &lt;Text style={{ fontSize: 17, color: '#BDD0E2', marginTop: 6 }}&gt;ms 单帧推理&lt;/Text&gt;&#10;            &lt;/Box&gt;&#10;        &lt;/Box&gt;&#10;    &lt;/Box&gt;&#10;&#10;    {/* 落款 */}&#10;    &lt;Box style={{ position: 'absolute', right: 84, bottom: 46, zIndex: 2, flexDirection: 'column', alignItems: 'flex-end' }}&gt;&#10;        &lt;Box style={{ width: 56, height: 3, background: '#00B4D8', marginBottom: 12 }} /&gt;&#10;        &lt;Text style={{ fontSize: 17, color: '#B9C9DA', letterSpacing: 1 }}&gt;缺陷检测项目组&lt;/Text&gt;&#10;        &lt;Text style={{ fontSize: 15, color: '#6E8299', marginTop: 6, letterSpacing: 1 }}&gt;2026-10-0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E20">
                  <a:alpha val="95000"/>
                </a:srgbClr>
              </a:gs>
              <a:gs pos="44000">
                <a:srgbClr val="040E20">
                  <a:alpha val="84000"/>
                </a:srgbClr>
              </a:gs>
              <a:gs pos="78000">
                <a:srgbClr val="040E20">
                  <a:alpha val="32000"/>
                </a:srgbClr>
              </a:gs>
              <a:gs pos="100000">
                <a:srgbClr val="040E20">
                  <a:alpha val="10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FF7A18"/>
              </a:gs>
              <a:gs pos="45000">
                <a:srgbClr val="00B4D8"/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800100" y="962025"/>
            <a:ext cx="323850" cy="3810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257300" y="876300"/>
            <a:ext cx="3105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>项目进度汇报</a:t>
            </a:r>
            <a:r>
              <a:rPr lang="en-US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>年</a:t>
            </a:r>
            <a:r>
              <a:rPr lang="en-US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 b="1" spc="300">
                <a:solidFill>
                  <a:srgbClr val="7FD4E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6724650" cy="1800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2000"/>
              </a:lnSpc>
            </a:pPr>
            <a:r>
              <a:rPr lang="zh-CN" sz="5250" b="1" spc="75">
                <a:solidFill>
                  <a:srgbClr val="FFFFFF"/>
                </a:solidFill>
                <a:latin typeface="Microsoft YaHei"/>
                <a:ea typeface="Microsoft YaHei"/>
              </a:rPr>
              <a:t>工业表面缺陷检测系统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3343275"/>
            <a:ext cx="6724650" cy="4667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025">
                <a:solidFill>
                  <a:srgbClr val="C7D6E6"/>
                </a:solidFill>
                <a:latin typeface="Microsoft YaHei"/>
                <a:ea typeface="Microsoft YaHei"/>
              </a:rPr>
              <a:t>开发进度与应用场景汇报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4095750"/>
            <a:ext cx="6724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38">
                <a:solidFill>
                  <a:srgbClr val="8FA6BC"/>
                </a:solidFill>
                <a:latin typeface="Microsoft YaHei"/>
                <a:ea typeface="Microsoft YaHei"/>
              </a:rPr>
              <a:t>数据构建</a:t>
            </a:r>
            <a:r>
              <a:rPr lang="en-US" sz="1425" spc="38">
                <a:solidFill>
                  <a:srgbClr val="8FA6B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spc="38">
                <a:solidFill>
                  <a:srgbClr val="8FA6BC"/>
                </a:solidFill>
                <a:latin typeface="Microsoft YaHei"/>
                <a:ea typeface="Microsoft YaHei"/>
              </a:rPr>
              <a:t>模型训练</a:t>
            </a:r>
            <a:r>
              <a:rPr lang="en-US" sz="1425" spc="38">
                <a:solidFill>
                  <a:srgbClr val="8FA6BC"/>
                </a:solidFill>
                <a:latin typeface="Microsoft YaHei"/>
                <a:ea typeface="Microsoft YaHei"/>
              </a:rPr>
              <a:t xml:space="preserve"> · </a:t>
            </a:r>
            <a:r>
              <a:rPr lang="en-US" sz="1425" b="1" spc="38">
                <a:solidFill>
                  <a:srgbClr val="00B4D8"/>
                </a:solidFill>
                <a:latin typeface="Microsoft YaHei"/>
                <a:ea typeface="Microsoft YaHei"/>
              </a:rPr>
              <a:t xml:space="preserve">RK3588 </a:t>
            </a:r>
            <a:r>
              <a:rPr lang="zh-CN" sz="1425" b="1" spc="38">
                <a:solidFill>
                  <a:srgbClr val="00B4D8"/>
                </a:solidFill>
                <a:latin typeface="Microsoft YaHei"/>
                <a:ea typeface="Microsoft YaHei"/>
              </a:rPr>
              <a:t>边缘部署</a:t>
            </a:r>
            <a:r>
              <a:rPr lang="en-US" sz="1425" spc="38">
                <a:solidFill>
                  <a:srgbClr val="8FA6B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spc="38">
                <a:solidFill>
                  <a:srgbClr val="8FA6BC"/>
                </a:solidFill>
                <a:latin typeface="Microsoft YaHei"/>
                <a:ea typeface="Microsoft YaHei"/>
              </a:rPr>
              <a:t>上位机闭环</a:t>
            </a:r>
            <a:r>
              <a:rPr lang="en-US" sz="1425" spc="38">
                <a:solidFill>
                  <a:srgbClr val="8FA6B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spc="38">
                <a:solidFill>
                  <a:srgbClr val="8FA6BC"/>
                </a:solidFill>
                <a:latin typeface="Microsoft YaHei"/>
                <a:ea typeface="Microsoft YaHei"/>
              </a:rPr>
              <a:t>论文撰写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00100" y="4829175"/>
            <a:ext cx="971550" cy="676275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4650" b="1">
                <a:solidFill>
                  <a:srgbClr val="FF7A18"/>
                </a:solidFill>
                <a:latin typeface="Microsoft YaHei"/>
                <a:ea typeface="Microsoft YaHei"/>
              </a:rPr>
              <a:t>39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00100" y="55626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DD0E2"/>
                </a:solidFill>
                <a:latin typeface="Microsoft YaHei"/>
                <a:ea typeface="Microsoft YaHei"/>
              </a:rPr>
              <a:t>类缺陷已建模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152650" y="5210175"/>
            <a:ext cx="9525" cy="552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543175" y="4829175"/>
            <a:ext cx="1628775" cy="676275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4650" b="1">
                <a:solidFill>
                  <a:srgbClr val="00B4D8"/>
                </a:solidFill>
                <a:latin typeface="Microsoft YaHei"/>
                <a:ea typeface="Microsoft YaHei"/>
              </a:rPr>
              <a:t>0.724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43175" y="5562600"/>
            <a:ext cx="1628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DD0E2"/>
                </a:solidFill>
                <a:latin typeface="Microsoft YaHei"/>
                <a:ea typeface="Microsoft YaHei"/>
              </a:rPr>
              <a:t>mAP50</a:t>
            </a:r>
            <a:r>
              <a:rPr lang="zh-CN" sz="1275">
                <a:solidFill>
                  <a:srgbClr val="BDD0E2"/>
                </a:solidFill>
                <a:latin typeface="Microsoft YaHei"/>
                <a:ea typeface="Microsoft YaHei"/>
              </a:rPr>
              <a:t>（实测）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552950" y="5210175"/>
            <a:ext cx="9525" cy="552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943475" y="4829175"/>
            <a:ext cx="1095375" cy="676275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4650" b="1">
                <a:solidFill>
                  <a:srgbClr val="FFFFFF"/>
                </a:solidFill>
                <a:latin typeface="Microsoft YaHei"/>
                <a:ea typeface="Microsoft YaHei"/>
              </a:rPr>
              <a:t>128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943475" y="5562600"/>
            <a:ext cx="1095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DD0E2"/>
                </a:solidFill>
                <a:latin typeface="Microsoft YaHei"/>
                <a:ea typeface="Microsoft YaHei"/>
              </a:rPr>
              <a:t xml:space="preserve">ms </a:t>
            </a:r>
            <a:r>
              <a:rPr lang="zh-CN" sz="1275">
                <a:solidFill>
                  <a:srgbClr val="BDD0E2"/>
                </a:solidFill>
                <a:latin typeface="Microsoft YaHei"/>
                <a:ea typeface="Microsoft YaHei"/>
              </a:rPr>
              <a:t>单帧推理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0858500" y="5848350"/>
            <a:ext cx="533400" cy="28575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191750" y="5991225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B9C9DA"/>
                </a:solidFill>
                <a:latin typeface="Microsoft YaHei"/>
                <a:ea typeface="Microsoft YaHei"/>
              </a:rPr>
              <a:t>缺陷检测项目组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496550" y="6248400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6E8299"/>
                </a:solidFill>
                <a:latin typeface="Microsoft YaHei"/>
                <a:ea typeface="Microsoft YaHei"/>
              </a:rPr>
              <a:t>2026-10-09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width: 1280, height: 720, position: 'relative', background: '#FFFFFF', overflow: 'hidden' }}&gt;&#10;&#10;    &lt;Box style={{ position: 'absolute', top: 0, left: 0, width: 1280, height: 720, flexDirection: 'row' }}&gt;&#10;&#10;        {/* 左侧标题栏 */}&#10;        &lt;Box style={{ width: 380, height: 720, background: 'linear-gradient(160deg, #0B3D91 0%, #0A3070 100%)', position: 'relative' }}&gt;&#10;            &lt;Box style={{ position: 'absolute', top: 118, left: 60, width: 52, height: 5, background: '#FF7A18' }} /&gt;&#10;            &lt;Text style={{ position: 'absolute', top: 150, left: 60, fontSize: 62, fontWeight: 'bold', color: '#FFFFFF', letterSpacing: 2 }}&gt;目录&lt;/Text&gt;&#10;            &lt;Text style={{ position: 'absolute', top: 246, left: 60, fontSize: 20, color: '#9DBBEA', letterSpacing: 6 }}&gt;CONTENTS&lt;/Text&gt;&#10;            &lt;Text style={{ position: 'absolute', top: 302, left: 60, width: 264, fontSize: 17, lineHeight: 1.9, color: '#B9CDEC' }}&gt;&#10;                三章讲清这个项目：&#10;                &lt;br /&gt;&#10;                做到哪、拿到什么、能用在哪。&#10;            &lt;/Text&gt;&#10;            &lt;Box style={{ position: 'absolute', bottom: 70, left: 60, flexDirection: 'row', gap: 8 }}&gt;&#10;                &lt;Box style={{ width: 40, height: 3, background: '#00B4D8' }} /&gt;&#10;                &lt;Box style={{ width: 40, height: 3, background: 'rgba(255,255,255,0.35)' }} /&gt;&#10;                &lt;Box style={{ width: 40, height: 3, background: 'rgba(255,255,255,0.2)' }} /&gt;&#10;            &lt;/Box&gt;&#10;        &lt;/Box&gt;&#10;&#10;        {/* 右侧三章条目 */}&#10;        &lt;Box style={{ width: 900, height: 720, paddingLeft: 72, paddingRight: 84, paddingTop: 110, paddingBottom: 96, flexDirection: 'column', justifyContent: 'space-between', position: 'relative' }}&gt;&#10;&#10;            &lt;Box style={{ flexDirection: 'row', alignItems: 'flex-start', gap: 28 }}&gt;&#10;                &lt;Text style={{ fontSize: 54, fontWeight: 'bold', color: '#DCE8F7', lineHeight: 1, width: 96 }}&gt;01&lt;/Text&gt;&#10;                &lt;Box style={{ flexDirection: 'column', flex: 1, paddingTop: 6 }}&gt;&#10;                    &lt;Text style={{ fontSize: 29, fontWeight: 'bold', color: '#0B1C33' }}&gt;开发进度：五个阶段&lt;/Text&gt;&#10;                    &lt;Text style={{ fontSize: 17, color: '#5C6E82', lineHeight: 1.65, marginTop: 11 }}&gt;&#10;                        数据 → 模型 → 边缘部署 → 上位机 → 论文，逐阶段交代完成度、关键里程碑与今天的真实状态。&#10;                    &lt;/Text&gt;&#10;                &lt;/Box&gt;&#10;            &lt;/Box&gt;&#10;&#10;            &lt;Box style={{ height: 1, background: '#E3EAF2', marginLeft: 124 }} /&gt;&#10;&#10;            &lt;Box style={{ flexDirection: 'row', alignItems: 'flex-start', gap: 28 }}&gt;&#10;                &lt;Text style={{ fontSize: 54, fontWeight: 'bold', color: '#DCE8F7', lineHeight: 1, width: 96 }}&gt;02&lt;/Text&gt;&#10;                &lt;Box style={{ flexDirection: 'column', flex: 1, paddingTop: 6 }}&gt;&#10;                    &lt;Text style={{ fontSize: 29, fontWeight: 'bold', color: '#0B1C33' }}&gt;成果指标：实测数据&lt;/Text&gt;&#10;                    &lt;Text style={{ fontSize: 17, color: '#5C6E82', lineHeight: 1.65, marginTop: 11 }}&gt;&#10;                        四项硬指标（mAP50 / 推理时延 / 断流自愈 / 上位机闭环），全部来自实测记录，可追溯。&#10;                    &lt;/Text&gt;&#10;                &lt;/Box&gt;&#10;            &lt;/Box&gt;&#10;&#10;            &lt;Box style={{ height: 1, background: '#E3EAF2', marginLeft: 124 }} /&gt;&#10;&#10;            &lt;Box style={{ flexDirection: 'row', alignItems: 'flex-start', gap: 28 }}&gt;&#10;                &lt;Text style={{ fontSize: 54, fontWeight: 'bold', color: '#DCE8F7', lineHeight: 1, width: 96 }}&gt;03&lt;/Text&gt;&#10;                &lt;Box style={{ flexDirection: 'column', flex: 1, paddingTop: 6 }}&gt;&#10;                    &lt;Text style={{ fontSize: 29, fontWeight: 'bold', color: '#0B1C33' }}&gt;应用场景：六大领域&lt;/Text&gt;&#10;                    &lt;Text style={{ fontSize: 17, color: '#5C6E82', lineHeight: 1.65, marginTop: 11 }}&gt;&#10;                        从钢铁到 3C、纺织、新能源、食品、玻璃 —— 场景地图、落地路径与迁移成本。&#10;                    &lt;/Text&gt;&#10;                &lt;/Box&gt;&#10;            &lt;/Box&gt;&#10;&#10;            {/* 页脚 */}&#10;            &lt;Box style={{ flexDirection: 'row', justifyContent: 'space-between', marginTop: 4 }}&gt;&#10;                &lt;Text style={{ fontSize: 14, color: '#9AA9B8' }}&gt;工业表面缺陷检测系统 · 开发进度汇报&lt;/Text&gt;&#10;                &lt;Text style={{ fontSize: 14, color: '#9AA9B8' }}&gt;02 / 14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A3070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571500" y="1123950"/>
            <a:ext cx="495300" cy="47625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219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 spc="15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2343150"/>
            <a:ext cx="1485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9DBBEA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1500" y="2876550"/>
            <a:ext cx="2514600" cy="7429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C"/>
                </a:solidFill>
                <a:latin typeface="Microsoft YaHei"/>
                <a:ea typeface="Microsoft YaHei"/>
              </a:rPr>
              <a:t>三章讲清这个项目：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C"/>
                </a:solidFill>
                <a:latin typeface="Microsoft YaHei"/>
                <a:ea typeface="Microsoft YaHei"/>
              </a:rPr>
              <a:t>做到哪、拿到什么、能用在哪。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71500" y="6162675"/>
            <a:ext cx="381000" cy="28575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1028700" y="6162675"/>
            <a:ext cx="381000" cy="2857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1485900" y="6162675"/>
            <a:ext cx="381000" cy="2857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305300" y="1047750"/>
            <a:ext cx="9144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DCE8F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486400" y="1104900"/>
            <a:ext cx="5905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0B1C33"/>
                </a:solidFill>
                <a:latin typeface="Microsoft YaHei"/>
                <a:ea typeface="Microsoft YaHei"/>
              </a:rPr>
              <a:t>开发进度：五个阶段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486400" y="1543050"/>
            <a:ext cx="5905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数据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模型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边缘部署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上位机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论文，逐阶段交代完成度、关键里程碑与今天的真实状态。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486400" y="2505075"/>
            <a:ext cx="59055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305300" y="2828925"/>
            <a:ext cx="9144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DCE8F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486400" y="2886075"/>
            <a:ext cx="5905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0B1C33"/>
                </a:solidFill>
                <a:latin typeface="Microsoft YaHei"/>
                <a:ea typeface="Microsoft YaHei"/>
              </a:rPr>
              <a:t>成果指标：实测数据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486400" y="3324225"/>
            <a:ext cx="5905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四项硬指标（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mAP50 /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推理时延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断流自愈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上位机闭环），全部来自实测记录，可追溯。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486400" y="4286250"/>
            <a:ext cx="59055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305300" y="4610100"/>
            <a:ext cx="9144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DCE8F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486400" y="4667250"/>
            <a:ext cx="5905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0B1C33"/>
                </a:solidFill>
                <a:latin typeface="Microsoft YaHei"/>
                <a:ea typeface="Microsoft YaHei"/>
              </a:rPr>
              <a:t>应用场景：六大领域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486400" y="5105400"/>
            <a:ext cx="59055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从钢铁到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3C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、纺织、新能源、食品、玻璃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场景地图、落地路径与迁移成本。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305300" y="57816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934700" y="5781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0" name="" descr="&lt;Slide style={{ width: 1280, height: 720, position: 'relative', background: '#071A36', overflow: 'hidden' }}&gt;&#10;&#10;    &lt;svg width={1280} height={720} viewBox='0 0 1280 720' style={{ position: 'absolute', top: 0, left: 0 }}&gt;&#10;        &lt;defs&gt;&#10;            &lt;linearGradient id='q3bg' x1='0' y1='0' x2='1' y2='1'&gt;&#10;                &lt;stop offset='0%' stopColor='#0B3D91' /&gt;&#10;                &lt;stop offset='55%' stopColor='#0A2C68' /&gt;&#10;                &lt;stop offset='100%' stopColor='#061428' /&gt;&#10;            &lt;/linearGradient&gt;&#10;            &lt;radialGradient id='q3glow' cx='0.84' cy='0.30' r='0.55'&gt;&#10;                &lt;stop offset='0%' stopColor='#00B4D8' stopOpacity='0.42' /&gt;&#10;                &lt;stop offset='100%' stopColor='#00B4D8' stopOpacity='0' /&gt;&#10;            &lt;/radialGradient&gt;&#10;        &lt;/defs&gt;&#10;        &lt;rect x='0' y='0' width='1280' height='720' fill='url(#q3bg)' /&gt;&#10;        &lt;rect x='0' y='0' width='1280' height='720' fill='url(#q3glow)' /&gt;&#10;        &lt;g stroke='#4E8BD6' strokeOpacity='0.13' strokeWidth='1'&gt;&#10;            &lt;line x1='0' y1='180' x2='1280' y2='180' /&gt;&#10;            &lt;line x1='0' y1='360' x2='1280' y2='360' /&gt;&#10;            &lt;line x1='0' y1='540' x2='1280' y2='540' /&gt;&#10;            &lt;line x1='320' y1='0' x2='320' y2='720' /&gt;&#10;            &lt;line x1='640' y1='0' x2='640' y2='720' /&gt;&#10;            &lt;line x1='960' y1='0' x2='960' y2='720' /&gt;&#10;        &lt;/g&gt;&#10;        &lt;text x='1000' y='600' fontSize='520' fontWeight='bold' fill='#FFFFFF' fillOpacity='0.05' textAnchor='middle' fontFamily='Inter, sans-serif'&gt;01&lt;/text&gt;&#10;        &lt;rect x='0' y='712' width='1280' height='8' fill='#FF7A18' /&gt;&#10;        &lt;rect x='0' y='712' width='420' height='8' fill='#00B4D8' /&gt;&#10;    &lt;/svg&gt;&#10;&#10;    &lt;Box style={{ position: 'absolute', top: 0, left: 0, width: 1280, height: 720, paddingLeft: 96, paddingTop: 236, flexDirection: 'column' }}&gt;&#10;        &lt;Box style={{ flexDirection: 'row', alignItems: 'center', gap: 18 }}&gt;&#10;            &lt;Text style={{ fontSize: 26, fontWeight: 'bold', color: '#00B4D8', letterSpacing: 3 }}&gt;CHAPTER 01&lt;/Text&gt;&#10;            &lt;Box style={{ width: 90, height: 2, background: 'rgba(255,255,255,0.25)' }} /&gt;&#10;        &lt;/Box&gt;&#10;        &lt;Text style={{ marginTop: 26, fontSize: 66, fontWeight: 'bold', color: '#FFFFFF', lineHeight: 1.15, letterSpacing: 2 }}&gt;&#10;            开发进度：五个阶段&#10;        &lt;/Text&gt;&#10;        &lt;Box style={{ flexDirection: 'row', alignItems: 'center', gap: 16, marginTop: 34 }}&gt;&#10;            &lt;Box style={{ width: 6, height: 34, background: '#FF7A18' }} /&gt;&#10;            &lt;Text style={{ fontSize: 25, color: '#BFD6EC', letterSpacing: 1 }}&gt;&#10;                数据、模型、部署、上位机、论文 —— 一条主线走到底。&#10;            &lt;/Text&gt;&#10;        &lt;/Box&gt;&#10;    &lt;/Box&gt;&#10;&#10;    &lt;Box style={{ position: 'absolute', left: 96, bottom: 30, width: 1088, flexDirection: 'row', justifyContent: 'space-between' }}&gt;&#10;        &lt;Text style={{ fontSize: 14, color: '#6E8BB0' }}&gt;工业表面缺陷检测系统 · 开发进度汇报&lt;/Text&gt;&#10;        &lt;Text style={{ fontSize: 14, color: '#6E8BB0' }}&gt;03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A36"/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14400" y="2247900"/>
            <a:ext cx="1857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225">
                <a:solidFill>
                  <a:srgbClr val="00B4D8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2943225" y="2390775"/>
            <a:ext cx="85725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14400" y="2800350"/>
            <a:ext cx="11277600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950" b="1" spc="150">
                <a:solidFill>
                  <a:srgbClr val="FFFFFF"/>
                </a:solidFill>
                <a:latin typeface="Microsoft YaHei"/>
                <a:ea typeface="Microsoft YaHei"/>
              </a:rPr>
              <a:t>开发进度：五个阶段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914400" y="4000500"/>
            <a:ext cx="57150" cy="32385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23950" y="4019550"/>
            <a:ext cx="6391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spc="75">
                <a:solidFill>
                  <a:srgbClr val="BFD6EC"/>
                </a:solidFill>
                <a:latin typeface="Microsoft YaHei"/>
                <a:ea typeface="Microsoft YaHei"/>
              </a:rPr>
              <a:t>数据、模型、部署、上位机、论文</a:t>
            </a:r>
            <a:r>
              <a:rPr lang="en-US" sz="1875" spc="75">
                <a:solidFill>
                  <a:srgbClr val="BFD6E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875" spc="75">
                <a:solidFill>
                  <a:srgbClr val="BFD6EC"/>
                </a:solidFill>
                <a:latin typeface="Microsoft YaHei"/>
                <a:ea typeface="Microsoft YaHei"/>
              </a:rPr>
              <a:t>一条主线走到底。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14400" y="64103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82040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90" name="" descr="&lt;Slide style={{ width: 1280, height: 720, position: 'relative', background: '#FFFFFF', overflow: 'hidden' }}&gt;&#10;&#10;    {/* A 区 */}&#10;    &lt;Box style={{ position: 'absolute', top: 0, left: 0, width: 1280, height: 120, paddingLeft: 84, paddingTop: 40, flexDirection: 'row', alignItems: 'center', gap: 16 }}&gt;&#10;        &lt;Box style={{ width: 5, height: 36, background: '#0B3D91' }} /&gt;&#10;        &lt;Text style={{ fontSize: 36, fontWeight: 'bold', color: '#0B1C33' }}&gt;五个阶段，完成度一览&lt;/Text&gt;&#10;        &lt;Text style={{ fontSize: 16, color: '#8B9AAB', marginLeft: 12, marginTop: 8 }}&gt;自评口径 · 截至 2026-10-09&lt;/Text&gt;&#10;    &lt;/Box&gt;&#10;&#10;    {/* B 区 */}&#10;    &lt;Box style={{ position: 'absolute', top: 130, left: 84, width: 1112, height: 508, flexDirection: 'row', gap: 36 }}&gt;&#10;&#10;        {/* 左：横向条形图 */}&#10;        &lt;Box style={{ width: 632, height: 508, flexDirection: 'column' }}&gt;&#10;            &lt;Box style={{ width: '100%', height: 452 }}&gt;&#10;                &lt;Chart&#10;                    style={{ width: '100%', height: 452 }}&#10;                    chartType='barChart'&#10;                    barDirection='bar'&#10;                    grouping='clustered'&#10;                    showLegend={false}&#10;                    showDataLabels={true}&#10;                    axisColor='#9AA9B8'&#10;                    dataLabelColor='#0B1C33'&#10;                    colors={['linear-gradient(90deg, #0B3D91 0%, #00B4D8 100%)']}&#10;                    background='#FFFFFF'&#10;                    data={[&#10;                        ['阶段', '完成度'],&#10;                        ['数据准备（25689 图）', 100],&#10;                        ['模型训练（39 类）', 100],&#10;                        ['边缘部署（RK3588）', 100],&#10;                        ['上位机集成（6 页）', 100],&#10;                        ['论文撰写（v2）', 60],&#10;                    ]}&#10;                /&gt;&#10;            &lt;/Box&gt;&#10;        &lt;/Box&gt;&#10;&#10;        {/* 右：洞察 */}&#10;        &lt;Box style={{ width: 444, height: 508, flexDirection: 'column', justifyContent: 'space-between' }}&gt;&#10;&#10;            &lt;Box style={{ background: '#F4F7FB', border: '1px solid #E1E9F2', borderRadius: 12, padding: 22, flexDirection: 'column' }}&gt;&#10;                &lt;Text style={{ fontSize: 15, fontWeight: 'bold', color: '#0B3D91', letterSpacing: 2 }}&gt;数据准备 · 100%&lt;/Text&gt;&#10;                &lt;Text style={{ fontSize: 16, color: '#5C6E82', lineHeight: 1.6, marginTop: 10 }}&gt;&#10;                    钢材表面缺陷数据集 25689 张已完成清洗、标注与三方索引一致性校验，train/val 划分就绪。&#10;                &lt;/Text&gt;&#10;            &lt;/Box&gt;&#10;&#10;            &lt;Box style={{ background: '#F4F7FB', border: '1px solid #E1E9F2', borderRadius: 12, padding: 22, flexDirection: 'column' }}&gt;&#10;                &lt;Text style={{ fontSize: 15, fontWeight: 'bold', color: '#0B3D91', letterSpacing: 2 }}&gt;模型 / 部署 / 上位机 · 100%&lt;/Text&gt;&#10;                &lt;Text style={{ fontSize: 16, color: '#5C6E82', lineHeight: 1.6, marginTop: 10 }}&gt;&#10;                    39 类模型已训练并转 RKNN 上板，上位机六页闭环 + 断流自愈全部实测通过 —— 技术主线贯通。&#10;                &lt;/Text&gt;&#10;            &lt;/Box&gt;&#10;&#10;            &lt;Box style={{ background: 'linear-gradient(120deg, #0B3D91 0%, #0A5BB5 100%)', borderRadius: 12, padding: 22, flexDirection: 'column' }}&gt;&#10;                &lt;Text style={{ fontSize: 15, fontWeight: 'bold', color: '#7FD4E8', letterSpacing: 2 }}&gt;论文撰写 · 60%&lt;/Text&gt;&#10;                &lt;Text style={{ fontSize: 16, color: '#E4EDF8', lineHeight: 1.6, marginTop: 10 }}&gt;&#10;                    v2 初稿已生成，待补负样本消融实验与本次应用场景章节。→ 剩余工作集中在「论文收口 + 场景验证」。&#10;                &lt;/Text&gt;&#10;            &lt;/Box&gt;&#10;&#10;        &lt;/Box&gt;&#10;    &lt;/Box&gt;&#10;&#10;    {/* C 区 */}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04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800100" y="5905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00125" y="5524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五个阶段，完成度一览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695825" y="704850"/>
            <a:ext cx="1933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AAB"/>
                </a:solidFill>
                <a:latin typeface="Microsoft YaHei"/>
                <a:ea typeface="Microsoft YaHei"/>
              </a:rPr>
              <a:t>自评口径</a:t>
            </a:r>
            <a:r>
              <a:rPr lang="en-US" sz="1200">
                <a:solidFill>
                  <a:srgbClr val="8B9AA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AAB"/>
                </a:solidFill>
                <a:latin typeface="Microsoft YaHei"/>
                <a:ea typeface="Microsoft YaHei"/>
              </a:rPr>
              <a:t>截至</a:t>
            </a:r>
            <a:r>
              <a:rPr lang="en-US" sz="1200">
                <a:solidFill>
                  <a:srgbClr val="8B9AAB"/>
                </a:solidFill>
                <a:latin typeface="Microsoft YaHei"/>
                <a:ea typeface="Microsoft YaHei"/>
              </a:rPr>
              <a:t xml:space="preserve"> 2026-10-09</a:t>
            </a:r>
            <a:endParaRPr/>
          </a:p>
        </p:txBody>
      </p:sp>
      <p:graphicFrame>
        <p:nvGraphicFramePr>
          <p:cNvPr id="195" name="195"/>
          <p:cNvGraphicFramePr/>
          <p:nvPr/>
        </p:nvGraphicFramePr>
        <p:xfrm rot="0" flipH="0" flipV="0">
          <a:off x="800100" y="1238250"/>
          <a:ext cx="6019800" cy="43053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96" name=""/>
          <p:cNvSpPr/>
          <p:nvPr/>
        </p:nvSpPr>
        <p:spPr>
          <a:xfrm rot="0" flipH="0" flipV="0">
            <a:off x="7162800" y="1238250"/>
            <a:ext cx="4229100" cy="1276350"/>
          </a:xfrm>
          <a:prstGeom prst="roundRect">
            <a:avLst>
              <a:gd name="adj" fmla="val 89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372350" y="14478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>数据准备</a:t>
            </a:r>
            <a:r>
              <a:rPr lang="en-US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 xml:space="preserve"> · 100%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372350" y="1714500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钢材表面缺陷数据集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25689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张已完成清洗、标注与三方索引一致性校验，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train/val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划分就绪。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7162800" y="3019425"/>
            <a:ext cx="4229100" cy="1276350"/>
          </a:xfrm>
          <a:prstGeom prst="roundRect">
            <a:avLst>
              <a:gd name="adj" fmla="val 89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372350" y="322897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>模型</a:t>
            </a:r>
            <a:r>
              <a:rPr lang="en-US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>部署</a:t>
            </a:r>
            <a:r>
              <a:rPr lang="en-US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>上位机</a:t>
            </a:r>
            <a:r>
              <a:rPr lang="en-US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 xml:space="preserve"> · 100%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372350" y="3495675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类模型已训练并转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RKNN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上板，上位机六页闭环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断流自愈全部实测通过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技术主线贯通。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162800" y="4800600"/>
            <a:ext cx="4229100" cy="1276350"/>
          </a:xfrm>
          <a:prstGeom prst="roundRect">
            <a:avLst>
              <a:gd name="adj" fmla="val 8955"/>
            </a:avLst>
          </a:prstGeom>
          <a:gradFill>
            <a:gsLst>
              <a:gs pos="0">
                <a:srgbClr val="0B3D91"/>
              </a:gs>
              <a:gs pos="100000">
                <a:srgbClr val="0A5BB5"/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372350" y="50101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7FD4E8"/>
                </a:solidFill>
                <a:latin typeface="Microsoft YaHei"/>
                <a:ea typeface="Microsoft YaHei"/>
              </a:rPr>
              <a:t>论文撰写</a:t>
            </a:r>
            <a:r>
              <a:rPr lang="en-US" sz="1125" b="1" spc="150">
                <a:solidFill>
                  <a:srgbClr val="7FD4E8"/>
                </a:solidFill>
                <a:latin typeface="Microsoft YaHei"/>
                <a:ea typeface="Microsoft YaHei"/>
              </a:rPr>
              <a:t xml:space="preserve"> · 60%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372350" y="5276850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E4EDF8"/>
                </a:solidFill>
                <a:latin typeface="Microsoft YaHei"/>
                <a:ea typeface="Microsoft YaHei"/>
              </a:rPr>
              <a:t xml:space="preserve">v2 </a:t>
            </a:r>
            <a:r>
              <a:rPr lang="zh-CN" sz="1200">
                <a:solidFill>
                  <a:srgbClr val="E4EDF8"/>
                </a:solidFill>
                <a:latin typeface="Microsoft YaHei"/>
                <a:ea typeface="Microsoft YaHei"/>
              </a:rPr>
              <a:t>初稿已生成，待补负样本消融实验与本次应用场景章节。→</a:t>
            </a:r>
            <a:r>
              <a:rPr lang="en-US" sz="1200">
                <a:solidFill>
                  <a:srgbClr val="E4ED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E4EDF8"/>
                </a:solidFill>
                <a:latin typeface="Microsoft YaHei"/>
                <a:ea typeface="Microsoft YaHei"/>
              </a:rPr>
              <a:t>剩余工作集中在「论文收口</a:t>
            </a:r>
            <a:r>
              <a:rPr lang="en-US" sz="1200">
                <a:solidFill>
                  <a:srgbClr val="E4ED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E4EDF8"/>
                </a:solidFill>
                <a:latin typeface="Microsoft YaHei"/>
                <a:ea typeface="Microsoft YaHei"/>
              </a:rPr>
              <a:t>场景验证」。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07" name="" descr="&lt;Slide style={{ width: 1280, height: 720, position: 'relative', background: '#FFFFFF', overflow: 'hidden' }}&gt;&#10;&#10;    &lt;Box style={{ position: 'absolute', top: 0, left: 0, width: 1280, height: 720, flexDirection: 'row' }}&gt;&#10;&#10;        {/* 左：标题栏 */}&#10;        &lt;Box style={{ width: 360, height: 720, background: '#F4F7FB', position: 'relative', paddingLeft: 84, paddingTop: 236, flexDirection: 'column' }}&gt;&#10;            &lt;Box style={{ width: 5, height: 36, background: '#0B3D91', marginBottom: 20 }} /&gt;&#10;            &lt;Text style={{ fontSize: 38, fontWeight: 'bold', color: '#0B1C33', lineHeight: 1.25 }}&gt;&#10;                关键里程碑&lt;br /&gt;时间线&#10;            &lt;/Text&gt;&#10;            &lt;Text style={{ fontSize: 16.5, color: '#5C6E82', lineHeight: 1.7, marginTop: 22, width: 200 }}&gt;&#10;                从路线图锁定到 39 类单模型上板，八个关键节点。&#10;            &lt;/Text&gt;&#10;            &lt;Box style={{ marginTop: 30, width: 210, height: 3, background: 'linear-gradient(90deg,#0B3D91,#00B4D8)' }} /&gt;&#10;        &lt;/Box&gt;&#10;&#10;        {/* 右：时间轴 */}&#10;        &lt;Box style={{ width: 920, height: 720, position: 'relative', paddingLeft: 56, paddingRight: 84, paddingTop: 96, paddingBottom: 60, flexDirection: 'column', justifyContent: 'space-between' }}&gt;&#10;&#10;            &lt;Box style={{ flexDirection: 'row', alignItems: 'center', gap: 20 }}&gt;&#10;                &lt;Box style={{ width: 14, height: 14, borderRadius: 7, background: '#00B4D8', border: '3px solid #B3E4F2' }} /&gt;&#10;                &lt;Text style={{ fontSize: 17, fontWeight: 'bold', color: '#0B3D91', width: 128 }}&gt;08-21&lt;/Text&gt;&#10;                &lt;Text style={{ fontSize: 18, color: '#0B1C33', flex: 1 }}&gt;&#10;                    路线图锁定 &lt;span style={{ fontWeight: 'bold' }}&gt;RK3588&lt;/span&gt; —— 边缘平台与六阶段计划确定&#10;                &lt;/Text&gt;&#10;            &lt;/Box&gt;&#10;&#10;            &lt;Box style={{ flexDirection: 'row', alignItems: 'center', gap: 20 }}&gt;&#10;                &lt;Box style={{ width: 14, height: 14, borderRadius: 7, background: '#00B4D8', border: '3px solid #B3E4F2' }} /&gt;&#10;                &lt;Text style={{ fontSize: 17, fontWeight: 'bold', color: '#0B3D91', width: 128 }}&gt;09-14 ~ 09-17&lt;/Text&gt;&#10;                &lt;Text style={{ fontSize: 18, color: '#0B1C33', flex: 1 }}&gt;&#10;                    数据与基线：NEU-DET + 增强集，_640 基线全 val mAP50 &lt;span style={{ fontWeight: 'bold' }}&gt;0.783&lt;/span&gt;&#10;                &lt;/Text&gt;&#10;            &lt;/Box&gt;&#10;&#10;            &lt;Box style={{ flexDirection: 'row', alignItems: 'center', gap: 20 }}&gt;&#10;                &lt;Box style={{ width: 14, height: 14, borderRadius: 7, background: '#00B4D8', border: '3px solid #B3E4F2' }} /&gt;&#10;                &lt;Text style={{ fontSize: 17, fontWeight: 'bold', color: '#0B3D91', width: 128 }}&gt;09-18&lt;/Text&gt;&#10;                &lt;Text style={{ fontSize: 18, color: '#0B1C33', flex: 1 }}&gt;&#10;                    负样本闭环：DAGM 无缺陷入训，域外误检 &lt;span style={{ fontWeight: 'bold', color: '#0B3D91' }}&gt;64.4% → 0%&lt;/span&gt;&#10;                &lt;/Text&gt;&#10;            &lt;/Box&gt;&#10;&#10;            &lt;Box style={{ flexDirection: 'row', alignItems: 'center', gap: 20 }}&gt;&#10;                &lt;Box style={{ width: 14, height: 14, borderRadius: 7, background: '#00B4D8', border: '3px solid #B3E4F2' }} /&gt;&#10;                &lt;Text style={{ fontSize: 17, fontWeight: 'bold', color: '#0B3D91', width: 128 }}&gt;09-19&lt;/Text&gt;&#10;                &lt;Text style={{ fontSize: 18, color: '#0B1C33', flex: 1 }}&gt;&#10;                    双模型级联上板：误检 0% 与 top1 97.8% 兼得&#10;                &lt;/Text&gt;&#10;            &lt;/Box&gt;&#10;&#10;            &lt;Box style={{ flexDirection: 'row', alignItems: 'center', gap: 20 }}&gt;&#10;                &lt;Box style={{ width: 14, height: 14, borderRadius: 7, background: '#00B4D8', border: '3px solid #B3E4F2' }} /&gt;&#10;                &lt;Text style={{ fontSize: 17, fontWeight: 'bold', color: '#0B3D91', width: 128 }}&gt;09-20&lt;/Text&gt;&#10;                &lt;Text style={{ fontSize: 18, color: '#0B1C33', flex: 1 }}&gt;&#10;                    评估口径冻结：val 切 &lt;span style={{ fontWeight: 'bold' }}&gt;cal 178 / holdout 182&lt;/span&gt;，结论只在隔离集汇报&#10;                &lt;/Text&gt;&#10;            &lt;/Box&gt;&#10;&#10;            &lt;Box style={{ flexDirection: 'row', alignItems: 'center', gap: 20 }}&gt;&#10;                &lt;Box style={{ width: 18, height: 18, borderRadius: 9, background: '#FF7A18', border: '3px solid #FFD3B0' }} /&gt;&#10;                &lt;Text style={{ fontSize: 17, fontWeight: 'bold', color: '#FF7A18', width: 128 }}&gt;10-08 ~ 10-09&lt;/Text&gt;&#10;                &lt;Text style={{ fontSize: 18, color: '#0B1C33', flex: 1, fontWeight: 'bold' }}&gt;&#10;                    扩展 39 类单模型 + 断流自愈 + 重 IO 后台化 —— 当前状态&#10;                &lt;/Text&gt;&#10;            &lt;/Box&gt;&#10;&#10;        &lt;/Box&gt;&#10;    &lt;/Box&gt;&#10;&#10;    {/* 页脚 */}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05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00100" y="224790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00100" y="2781300"/>
            <a:ext cx="2628900" cy="10858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850" b="1">
                <a:solidFill>
                  <a:srgbClr val="0B1C33"/>
                </a:solidFill>
                <a:latin typeface="Microsoft YaHei"/>
                <a:ea typeface="Microsoft YaHei"/>
              </a:rPr>
              <a:t>关键里程碑</a:t>
            </a:r>
            <a:endParaRPr/>
          </a:p>
          <a:p>
            <a:pPr>
              <a:lnSpc>
                <a:spcPct val="125000"/>
              </a:lnSpc>
            </a:pPr>
            <a:r>
              <a:rPr lang="zh-CN" sz="2850" b="1">
                <a:solidFill>
                  <a:srgbClr val="0B1C33"/>
                </a:solidFill>
                <a:latin typeface="Microsoft YaHei"/>
                <a:ea typeface="Microsoft YaHei"/>
              </a:rPr>
              <a:t>时间线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00100" y="4076700"/>
            <a:ext cx="1905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从路线图锁定到</a:t>
            </a:r>
            <a:r>
              <a:rPr lang="en-US" sz="1238">
                <a:solidFill>
                  <a:srgbClr val="5C6E82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238">
                <a:solidFill>
                  <a:srgbClr val="5C6E82"/>
                </a:solidFill>
                <a:latin typeface="Microsoft YaHei"/>
                <a:ea typeface="Microsoft YaHei"/>
              </a:rPr>
              <a:t>类单模型上板，八个关键节点。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800100" y="5010150"/>
            <a:ext cx="2000250" cy="28575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3962400" y="9525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38100">
            <a:solidFill>
              <a:srgbClr val="B3E4F2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286250" y="92392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Microsoft YaHei"/>
                <a:ea typeface="Microsoft YaHei"/>
              </a:rPr>
              <a:t>08-21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695950" y="914400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路线图锁定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>RK3588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边缘平台与六阶段计划确定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3962400" y="1981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38100">
            <a:solidFill>
              <a:srgbClr val="B3E4F2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286250" y="195262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Microsoft YaHei"/>
                <a:ea typeface="Microsoft YaHei"/>
              </a:rPr>
              <a:t>09-14 ~ 09-17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695950" y="1943100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数据与基线：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NEU-DET + 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增强集，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_640 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基线全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 val mAP50 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>0.783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962400" y="30194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38100">
            <a:solidFill>
              <a:srgbClr val="B3E4F2"/>
            </a:solidFill>
            <a:prstDash val="solid"/>
          </a:ln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286250" y="2990850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Microsoft YaHei"/>
                <a:ea typeface="Microsoft YaHei"/>
              </a:rPr>
              <a:t>09-18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695950" y="2981325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负样本闭环：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DAGM 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无缺陷入训，域外误检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0B3D91"/>
                </a:solidFill>
                <a:latin typeface="Microsoft YaHei"/>
                <a:ea typeface="Microsoft YaHei"/>
              </a:rPr>
              <a:t>64.4% → 0%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3962400" y="40481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38100">
            <a:solidFill>
              <a:srgbClr val="B3E4F2"/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286250" y="4019550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Microsoft YaHei"/>
                <a:ea typeface="Microsoft YaHei"/>
              </a:rPr>
              <a:t>09-19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695950" y="4010025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双模型级联上板：误检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 0% 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 top1 97.8% 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兼得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3962400" y="50863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38100">
            <a:solidFill>
              <a:srgbClr val="B3E4F2"/>
            </a:solidFill>
            <a:prstDash val="solid"/>
          </a:ln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286250" y="505777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3D91"/>
                </a:solidFill>
                <a:latin typeface="Microsoft YaHei"/>
                <a:ea typeface="Microsoft YaHei"/>
              </a:rPr>
              <a:t>09-20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695950" y="5048250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评估口径冻结：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val 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切</a:t>
            </a:r>
            <a:r>
              <a:rPr lang="en-US" sz="1350">
                <a:solidFill>
                  <a:srgbClr val="0B1C3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>cal 178 / holdout 182</a:t>
            </a:r>
            <a:r>
              <a:rPr lang="zh-CN" sz="1350">
                <a:solidFill>
                  <a:srgbClr val="0B1C33"/>
                </a:solidFill>
                <a:latin typeface="Microsoft YaHei"/>
                <a:ea typeface="Microsoft YaHei"/>
              </a:rPr>
              <a:t>，结论只在隔离集汇报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3962400" y="60960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 w="38100">
            <a:solidFill>
              <a:srgbClr val="FFD3B0"/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324350" y="6086475"/>
            <a:ext cx="121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7A18"/>
                </a:solidFill>
                <a:latin typeface="Microsoft YaHei"/>
                <a:ea typeface="Microsoft YaHei"/>
              </a:rPr>
              <a:t>10-08 ~ 10-09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34050" y="6076950"/>
            <a:ext cx="5657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C33"/>
                </a:solidFill>
                <a:latin typeface="Microsoft YaHei"/>
                <a:ea typeface="Microsoft YaHei"/>
              </a:rPr>
              <a:t>扩展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350" b="1">
                <a:solidFill>
                  <a:srgbClr val="0B1C33"/>
                </a:solidFill>
                <a:latin typeface="Microsoft YaHei"/>
                <a:ea typeface="Microsoft YaHei"/>
              </a:rPr>
              <a:t>类单模型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0B1C33"/>
                </a:solidFill>
                <a:latin typeface="Microsoft YaHei"/>
                <a:ea typeface="Microsoft YaHei"/>
              </a:rPr>
              <a:t>断流自愈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0B1C33"/>
                </a:solidFill>
                <a:latin typeface="Microsoft YaHei"/>
                <a:ea typeface="Microsoft YaHei"/>
              </a:rPr>
              <a:t>重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IO </a:t>
            </a:r>
            <a:r>
              <a:rPr lang="zh-CN" sz="1350" b="1">
                <a:solidFill>
                  <a:srgbClr val="0B1C33"/>
                </a:solidFill>
                <a:latin typeface="Microsoft YaHei"/>
                <a:ea typeface="Microsoft YaHei"/>
              </a:rPr>
              <a:t>后台化</a:t>
            </a:r>
            <a:r>
              <a:rPr lang="en-US" sz="13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 b="1">
                <a:solidFill>
                  <a:srgbClr val="0B1C33"/>
                </a:solidFill>
                <a:latin typeface="Microsoft YaHei"/>
                <a:ea typeface="Microsoft YaHei"/>
              </a:rPr>
              <a:t>当前状态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4" name="" descr="&lt;Slide style={{ width: 1280, height: 720, position: 'relative', background: '#FFFFFF', overflow: 'hidden' }}&gt;&#10;&#10;    &lt;Box style={{ position: 'absolute', top: 0, left: 0, width: 1280, height: 720, flexDirection: 'row' }}&gt;&#10;&#10;        {/* 左：巨型数字区（深色块） */}&#10;        &lt;Box style={{ width: 420, height: 720, background: 'linear-gradient(150deg, #0B3D91 0%, #06224E 100%)', position: 'relative', flexDirection: 'column', paddingLeft: 84, paddingTop: 190 }}&gt;&#10;            &lt;Text style={{ fontSize: 18, fontWeight: 'bold', color: '#7FD4E8', letterSpacing: 3 }}&gt;当前状态&lt;/Text&gt;&#10;            &lt;Text style={{ fontSize: 150, lineHeight: 0.85, fontWeight: 'bold', color: '#FF7A18', marginTop: 22 }}&gt;39&lt;/Text&gt;&#10;            &lt;Text style={{ fontSize: 26, fontWeight: 'bold', color: '#FFFFFF', marginTop: 10 }}&gt;类缺陷 · 单模型&lt;/Text&gt;&#10;            &lt;Text style={{ fontSize: 17, color: '#A9C2E0', marginTop: 12, lineHeight: 1.6, width: 240 }}&gt;&#10;                板端服务已切换 39 类单模型，step 按需推帧。&#10;            &lt;/Text&gt;&#10;            &lt;Box style={{ flexDirection: 'row', alignItems: 'center', gap: 10, marginTop: 28 }}&gt;&#10;                &lt;Box style={{ width: 10, height: 10, borderRadius: 5, background: '#3BE08E' }} /&gt;&#10;                &lt;Text style={{ fontSize: 16, color: '#CFE2F5' }}&gt;板端在线运行中&lt;/Text&gt;&#10;            &lt;/Box&gt;&#10;        &lt;/Box&gt;&#10;&#10;        {/* 右：四条状态 */}&#10;        &lt;Box style={{ width: 860, height: 720, paddingLeft: 56, paddingRight: 84, paddingTop: 130, paddingBottom: 64, flexDirection: 'column', justifyContent: 'space-between' }}&gt;&#10;&#10;            &lt;Box style={{ flexDirection: 'row', gap: 18, alignItems: 'flex-start' }}&gt;&#10;                &lt;Box style={{ width: 44, height: 44, borderRadius: 12, background: '#DDE9F9', justifyContent: 'center', alignItems: 'center' }}&gt;&#10;                    &lt;FAIcon name='check-circle' style={{ fill: '#0B3D91', width: 24, height: 24 }} /&gt;&#10;                &lt;/Box&gt;&#10;                &lt;Box style={{ flexDirection: 'column', flex: 1 }}&gt;&#10;                    &lt;Text style={{ fontSize: 21, fontWeight: 'bold', color: '#0B1C33' }}&gt;双路检测均支持 39 类&lt;/Text&gt;&#10;                    &lt;Text style={{ fontSize: 16, color: '#5C6E82', lineHeight: 1.6, marginTop: 6 }}&gt;&#10;                        上位机本地 CPU 推理与 RK3588 边缘推理均已切换到 39 类权重，类别名与配色全量对齐。&#10;                    &lt;/Text&gt;&#10;                &lt;/Box&gt;&#10;            &lt;/Box&gt;&#10;&#10;            &lt;Box style={{ height: 1, background: '#E6ECF3' }} /&gt;&#10;&#10;            &lt;Box style={{ flexDirection: 'row', gap: 18, alignItems: 'flex-start' }}&gt;&#10;                &lt;Box style={{ width: 44, height: 44, borderRadius: 12, background: '#DCF3F9', justifyContent: 'center', alignItems: 'center' }}&gt;&#10;                    &lt;FAIcon name='bolt' style={{ fill: '#00A0C4', width: 24, height: 24 }} /&gt;&#10;                &lt;/Box&gt;&#10;                &lt;Box style={{ flexDirection: 'column', flex: 1 }}&gt;&#10;                    &lt;Text style={{ fontSize: 21, fontWeight: 'bold', color: '#0B1C33' }}&gt;断流自愈实测 3.0s 自动重连&lt;/Text&gt;&#10;                    &lt;Text style={{ fontSize: 16, color: '#5C6E82', lineHeight: 1.6, marginTop: 6 }}&gt;&#10;                        掐断网线后 3.0 秒自动重连并续跑计数；配套 6s 软踢 / 20s 硬恢复 / 指数退避三级防护。&#10;                    &lt;/Text&gt;&#10;                &lt;/Box&gt;&#10;            &lt;/Box&gt;&#10;&#10;            &lt;Box style={{ height: 1, background: '#E6ECF3' }} /&gt;&#10;&#10;            &lt;Box style={{ flexDirection: 'row', gap: 18, alignItems: 'flex-start' }}&gt;&#10;                &lt;Box style={{ width: 44, height: 44, borderRadius: 12, background: '#FCE6D2', justifyContent: 'center', alignItems: 'center' }}&gt;&#10;                    &lt;FAIcon name='tachometer-alt' style={{ fill: '#FF7A18', width: 24, height: 24 }} /&gt;&#10;                &lt;/Box&gt;&#10;                &lt;Box style={{ flexDirection: 'column', flex: 1 }}&gt;&#10;                    &lt;Text style={{ fontSize: 21, fontWeight: 'bold', color: '#0B1C33' }}&gt;重 IO 后台化：主线程 0.373s → 0.009s&lt;/Text&gt;&#10;                    &lt;Text style={{ fontSize: 16, color: '#5C6E82', lineHeight: 1.6, marginTop: 6 }}&gt;&#10;                        存图与入库移入线程池，界面不再因大图写盘卡顿，实测主线程耗时降至约 1/40。&#10;                    &lt;/Text&gt;&#10;                &lt;/Box&gt;&#10;            &lt;/Box&gt;&#10;&#10;            &lt;Box style={{ height: 1, background: '#E6ECF3' }} /&gt;&#10;&#10;            &lt;Box style={{ flexDirection: 'row', gap: 18, alignItems: 'flex-start' }}&gt;&#10;                &lt;Box style={{ width: 44, height: 44, borderRadius: 12, background: '#DDE9F9', justifyContent: 'center', alignItems: 'center' }}&gt;&#10;                    &lt;FAIcon name='box-open' style={{ fill: '#0B3D91', width: 24, height: 24 }} /&gt;&#10;                &lt;/Box&gt;&#10;                &lt;Box style={{ flexDirection: 'column', flex: 1 }}&gt;&#10;                    &lt;Text style={{ fontSize: 21, fontWeight: 'bold', color: '#0B1C33' }}&gt;板端样本库已换 39 类&lt;/Text&gt;&#10;                    &lt;Text style={{ fontSize: 16, color: '#5C6E82', lineHeight: 1.6, marginTop: 6 }}&gt;&#10;                        样本目录由 NEU 6 类 24 张换为 39 类 42 张，连板轮播可覆盖全部类别。&#10;                    &lt;/Text&gt;&#10;                &lt;/Box&gt;&#10;            &lt;/Box&gt;&#10;&#10;        &lt;/Box&gt;&#10;    &lt;/Box&gt;&#10;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06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4533900" y="12382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DE9F9"/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629150" y="1333500"/>
            <a:ext cx="228600" cy="22860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124450" y="1238250"/>
            <a:ext cx="6267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双路检测均支持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124450" y="1543050"/>
            <a:ext cx="62674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上位机本地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CPU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推理与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RK3588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边缘推理均已切换到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类权重，类别名与配色全量对齐。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533900" y="2266950"/>
            <a:ext cx="6858000" cy="9525"/>
          </a:xfrm>
          <a:prstGeom prst="rect">
            <a:avLst/>
          </a:prstGeom>
          <a:solidFill>
            <a:srgbClr val="E6ECF3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4533900" y="2705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CF3F9"/>
          </a:solidFill>
          <a:ln/>
        </p:spPr>
        <p:txBody>
          <a:bodyPr/>
          <a:p/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29150" y="2800350"/>
            <a:ext cx="228600" cy="228600"/>
          </a:xfrm>
          <a:prstGeom prst="rect">
            <a:avLst/>
          </a:prstGeom>
          <a:ln/>
        </p:spPr>
      </p:pic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124450" y="2705100"/>
            <a:ext cx="6267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断流自愈实测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3.0s </a:t>
            </a: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自动重连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124450" y="3009900"/>
            <a:ext cx="62674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掐断网线后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3.0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秒自动重连并续跑计数；配套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6s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软踢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/ 20s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硬恢复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指数退避三级防护。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533900" y="3743325"/>
            <a:ext cx="6858000" cy="9525"/>
          </a:xfrm>
          <a:prstGeom prst="rect">
            <a:avLst/>
          </a:prstGeom>
          <a:solidFill>
            <a:srgbClr val="E6ECF3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4533900" y="41814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CE6D2"/>
          </a:solidFill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629150" y="4276725"/>
            <a:ext cx="228600" cy="22860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124450" y="4181475"/>
            <a:ext cx="6267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重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IO </a:t>
            </a: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后台化：主线程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0.373s → 0.009s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124450" y="4486275"/>
            <a:ext cx="62674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存图与入库移入线程池，界面不再因大图写盘卡顿，实测主线程耗时降至约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1/40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4533900" y="5210175"/>
            <a:ext cx="6858000" cy="9525"/>
          </a:xfrm>
          <a:prstGeom prst="rect">
            <a:avLst/>
          </a:prstGeom>
          <a:solidFill>
            <a:srgbClr val="E6ECF3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4533900" y="564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DE9F9"/>
          </a:solidFill>
          <a:ln/>
        </p:spPr>
        <p:txBody>
          <a:bodyPr/>
          <a:p/>
        </p:txBody>
      </p:sp>
      <p:pic>
        <p:nvPicPr>
          <p:cNvPr id="2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629150" y="5743575"/>
            <a:ext cx="228600" cy="228600"/>
          </a:xfrm>
          <a:prstGeom prst="rect">
            <a:avLst/>
          </a:prstGeom>
          <a:ln/>
        </p:spPr>
      </p:pic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124450" y="5648325"/>
            <a:ext cx="6267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板端样本库已换</a:t>
            </a: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124450" y="5953125"/>
            <a:ext cx="62674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样本目录由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NEU 6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类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张换为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类</a:t>
            </a:r>
            <a:r>
              <a:rPr lang="en-US" sz="1200">
                <a:solidFill>
                  <a:srgbClr val="5C6E82"/>
                </a:solidFill>
                <a:latin typeface="Microsoft YaHei"/>
                <a:ea typeface="Microsoft YaHei"/>
              </a:rPr>
              <a:t xml:space="preserve"> 42 </a:t>
            </a:r>
            <a:r>
              <a:rPr lang="zh-CN" sz="1200">
                <a:solidFill>
                  <a:srgbClr val="5C6E82"/>
                </a:solidFill>
                <a:latin typeface="Microsoft YaHei"/>
                <a:ea typeface="Microsoft YaHei"/>
              </a:rPr>
              <a:t>张，连板轮播可覆盖全部类别。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0" y="0"/>
            <a:ext cx="4000500" cy="6858000"/>
          </a:xfrm>
          <a:prstGeom prst="rect">
            <a:avLst/>
          </a:prstGeom>
          <a:gradFill>
            <a:gsLst>
              <a:gs pos="0">
                <a:srgbClr val="0B3D91"/>
              </a:gs>
              <a:gs pos="100000">
                <a:srgbClr val="06224E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0100" y="18097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225">
                <a:solidFill>
                  <a:srgbClr val="7FD4E8"/>
                </a:solidFill>
                <a:latin typeface="Microsoft YaHei"/>
                <a:ea typeface="Microsoft YaHei"/>
              </a:rPr>
              <a:t>当前状态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3200400" cy="1457325"/>
          </a:xfrm>
          <a:prstGeom prst="rect"/>
        </p:spPr>
        <p:txBody>
          <a:bodyPr wrap="none" lIns="0" tIns="0" rIns="0" bIns="0"/>
          <a:p>
            <a:pPr>
              <a:lnSpc>
                <a:spcPct val="85000"/>
              </a:lnSpc>
            </a:pPr>
            <a:r>
              <a:rPr lang="en-US" sz="11250" b="1">
                <a:solidFill>
                  <a:srgbClr val="FF7A18"/>
                </a:solidFill>
                <a:latin typeface="Microsoft YaHei"/>
                <a:ea typeface="Microsoft YaHei"/>
              </a:rPr>
              <a:t>39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00100" y="3781425"/>
            <a:ext cx="3200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类缺陷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单模型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00100" y="4200525"/>
            <a:ext cx="228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A9C2E0"/>
                </a:solidFill>
                <a:latin typeface="Microsoft YaHei"/>
                <a:ea typeface="Microsoft YaHei"/>
              </a:rPr>
              <a:t>板端服务已切换</a:t>
            </a:r>
            <a:r>
              <a:rPr lang="en-US" sz="1275">
                <a:solidFill>
                  <a:srgbClr val="A9C2E0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275">
                <a:solidFill>
                  <a:srgbClr val="A9C2E0"/>
                </a:solidFill>
                <a:latin typeface="Microsoft YaHei"/>
                <a:ea typeface="Microsoft YaHei"/>
              </a:rPr>
              <a:t>类单模型，</a:t>
            </a:r>
            <a:r>
              <a:rPr lang="en-US" sz="1275">
                <a:solidFill>
                  <a:srgbClr val="A9C2E0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275">
                <a:solidFill>
                  <a:srgbClr val="A9C2E0"/>
                </a:solidFill>
                <a:latin typeface="Microsoft YaHei"/>
                <a:ea typeface="Microsoft YaHei"/>
              </a:rPr>
              <a:t>按需推帧。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800100" y="5143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E08E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90600" y="50958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FE2F5"/>
                </a:solidFill>
                <a:latin typeface="Microsoft YaHei"/>
                <a:ea typeface="Microsoft YaHei"/>
              </a:rPr>
              <a:t>板端在线运行中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4" name="" descr="&lt;Slide style={{ width: 1280, height: 720, position: 'relative', background: '#061428', overflow: 'hidden' }}&gt;&#10;&#10;    &lt;svg width={1280} height={720} viewBox='0 0 1280 720' style={{ position: 'absolute', top: 0, left: 0 }}&gt;&#10;        &lt;defs&gt;&#10;            &lt;linearGradient id='q7bg' x1='0' y1='0' x2='1' y2='1'&gt;&#10;                &lt;stop offset='0%' stopColor='#0B3D91' /&gt;&#10;                &lt;stop offset='60%' stopColor='#08265A' /&gt;&#10;                &lt;stop offset='100%' stopColor='#061428' /&gt;&#10;            &lt;/linearGradient&gt;&#10;            &lt;radialGradient id='q7g1' cx='0.2' cy='0.5' r='0.5'&gt;&#10;                &lt;stop offset='0%' stopColor='#00B4D8' stopOpacity='0.30' /&gt;&#10;                &lt;stop offset='100%' stopColor='#00B4D8' stopOpacity='0' /&gt;&#10;            &lt;/radialGradient&gt;&#10;            &lt;radialGradient id='q7g2' cx='0.85' cy='0.55' r='0.5'&gt;&#10;                &lt;stop offset='0%' stopColor='#FF7A18' stopOpacity='0.22' /&gt;&#10;                &lt;stop offset='100%' stopColor='#FF7A18' stopOpacity='0' /&gt;&#10;            &lt;/radialGradient&gt;&#10;        &lt;/defs&gt;&#10;        &lt;rect x='0' y='0' width='1280' height='720' fill='url(#q7bg)' /&gt;&#10;        &lt;rect x='0' y='0' width='1280' height='720' fill='url(#q7g1)' /&gt;&#10;        &lt;rect x='0' y='0' width='1280' height='720' fill='url(#q7g2)' /&gt;&#10;        &lt;g stroke='#4E8BD6' strokeOpacity='0.10' strokeWidth='1'&gt;&#10;            &lt;line x1='0' y1='240' x2='1280' y2='240' /&gt;&#10;            &lt;line x1='0' y1='480' x2='1280' y2='480' /&gt;&#10;            &lt;line x1='420' y1='0' x2='420' y2='720' /&gt;&#10;            &lt;line x1='840' y1='0' x2='840' y2='720' /&gt;&#10;        &lt;/g&gt;&#10;        &lt;rect x='0' y='712' width='1280' height='8' fill='#00B4D8' /&gt;&#10;        &lt;rect x='860' y='712' width='420' height='8' fill='#FF7A18' /&gt;&#10;    &lt;/svg&gt;&#10;&#10;    &lt;Box style={{ position: 'absolute', top: 0, left: 0, width: 1280, height: 720, flexDirection: 'column', paddingLeft: 84, paddingRight: 84, paddingTop: 78, paddingBottom: 60 }}&gt;&#10;&#10;        {/* 章标 */}&#10;        &lt;Box style={{ flexDirection: 'row', alignItems: 'center', gap: 18 }}&gt;&#10;            &lt;Text style={{ fontSize: 24, fontWeight: 'bold', color: '#00B4D8', letterSpacing: 3 }}&gt;CHAPTER 02&lt;/Text&gt;&#10;            &lt;Text style={{ fontSize: 34, fontWeight: 'bold', color: '#FFFFFF' }}&gt;成果指标：实测数据&lt;/Text&gt;&#10;        &lt;/Box&gt;&#10;        &lt;Text style={{ fontSize: 17, color: '#9DBBEA', marginTop: 12 }}&gt;四项硬指标，全部来自实测记录，可追溯&lt;/Text&gt;&#10;&#10;        {/* 四指标 */}&#10;        &lt;Box style={{ flexDirection: 'row', gap: 20, marginTop: 42, flex: 1 }}&gt;&#10;&#10;            &lt;Box style={{ flex: 1, background: 'rgba(255,255,255,0.06)', border: '1px solid rgba(255,255,255,0.12)', borderRadius: 14, padding: 24, flexDirection: 'column', justifyContent: 'space-between' }}&gt;&#10;                &lt;Text style={{ fontSize: 15, fontWeight: 'bold', color: '#7FD4E8', letterSpacing: 2 }}&gt;精度&lt;/Text&gt;&#10;                &lt;Text style={{ fontSize: 76, lineHeight: 0.92, fontWeight: 'bold', color: '#00B4D8' }}&gt;0.724&lt;/Text&gt;&#10;                &lt;Box style={{ flexDirection: 'column' }}&gt;&#10;                    &lt;Text style={{ fontSize: 19, fontWeight: 'bold', color: '#FFFFFF' }}&gt;mAP50&lt;/Text&gt;&#10;                    &lt;Text style={{ fontSize: 14.5, color: '#A9C2E0', lineHeight: 1.5, marginTop: 5 }}&gt;39 类 · conf=0.2 统一口径&lt;/Text&gt;&#10;                &lt;/Box&gt;&#10;            &lt;/Box&gt;&#10;&#10;            &lt;Box style={{ flex: 1, background: 'rgba(255,255,255,0.06)', border: '1px solid rgba(255,255,255,0.12)', borderRadius: 14, padding: 24, flexDirection: 'column', justifyContent: 'space-between' }}&gt;&#10;                &lt;Text style={{ fontSize: 15, fontWeight: 'bold', color: '#7FD4E8', letterSpacing: 2 }}&gt;速度&lt;/Text&gt;&#10;                &lt;Text style={{ fontSize: 76, lineHeight: 0.92, fontWeight: 'bold', color: '#FFFFFF' }}&gt;128&lt;span style={{ fontSize: 30 }}&gt;ms&lt;/span&gt;&lt;/Text&gt;&#10;                &lt;Box style={{ flexDirection: 'column' }}&gt;&#10;                    &lt;Text style={{ fontSize: 19, fontWeight: 'bold', color: '#FFFFFF' }}&gt;单帧推理&lt;/Text&gt;&#10;                    &lt;Text style={{ fontSize: 14.5, color: '#A9C2E0', lineHeight: 1.5, marginTop: 5 }}&gt;区间 128–157ms，整机 ≥5 FPS&lt;/Text&gt;&#10;                &lt;/Box&gt;&#10;            &lt;/Box&gt;&#10;&#10;            &lt;Box style={{ flex: 1, background: 'rgba(255,255,255,0.06)', border: '1px solid rgba(255,255,255,0.12)', borderRadius: 14, padding: 24, flexDirection: 'column', justifyContent: 'space-between' }}&gt;&#10;                &lt;Text style={{ fontSize: 15, fontWeight: 'bold', color: '#FFB37A', letterSpacing: 2 }}&gt;韧性&lt;/Text&gt;&#10;                &lt;Text style={{ fontSize: 76, lineHeight: 0.92, fontWeight: 'bold', color: '#FF7A18' }}&gt;3.0&lt;span style={{ fontSize: 30 }}&gt;s&lt;/span&gt;&lt;/Text&gt;&#10;                &lt;Box style={{ flexDirection: 'column' }}&gt;&#10;                    &lt;Text style={{ fontSize: 19, fontWeight: 'bold', color: '#FFFFFF' }}&gt;断流自愈&lt;/Text&gt;&#10;                    &lt;Text style={{ fontSize: 14.5, color: '#A9C2E0', lineHeight: 1.5, marginTop: 5 }}&gt;实测掐线 3.0s 自动重连续跑&lt;/Text&gt;&#10;                &lt;/Box&gt;&#10;            &lt;/Box&gt;&#10;&#10;            &lt;Box style={{ flex: 1, background: 'rgba(255,255,255,0.06)', border: '1px solid rgba(255,255,255,0.12)', borderRadius: 14, padding: 24, flexDirection: 'column', justifyContent: 'space-between' }}&gt;&#10;                &lt;Text style={{ fontSize: 15, fontWeight: 'bold', color: '#7FD4E8', letterSpacing: 2 }}&gt;闭环&lt;/Text&gt;&#10;                &lt;Text style={{ fontSize: 76, lineHeight: 0.92, fontWeight: 'bold', color: '#00B4D8' }}&gt;6&lt;span style={{ fontSize: 30 }}&gt;页&lt;/span&gt;&lt;/Text&gt;&#10;                &lt;Box style={{ flexDirection: 'column' }}&gt;&#10;                    &lt;Text style={{ fontSize: 19, fontWeight: 'bold', color: '#FFFFFF' }}&gt;上位机终端&lt;/Text&gt;&#10;                    &lt;Text style={{ fontSize: 14.5, color: '#A9C2E0', lineHeight: 1.5, marginTop: 5 }}&gt;可视化 / 报警 / 追溯 / 统计全闭环&lt;/Text&gt;&#10;                &lt;/Box&gt;&#10;            &lt;/Box&gt;&#10;&#10;        &lt;/Box&gt;&#10;&#10;        {/* 底部洞察 */}&#10;        &lt;Box style={{ flexDirection: 'row', alignItems: 'center', gap: 16, marginTop: 26 }}&gt;&#10;            &lt;Box style={{ width: 6, height: 32, background: '#FF7A18' }} /&gt;&#10;            &lt;Text style={{ fontSize: 20, color: '#DCE8F7' }}&gt;&#10;                判断：&lt;span style={{ color: '#FFFFFF', fontWeight: 'bold' }}&gt;指标已达到可上产线的水平&lt;/span&gt; —— 满足高速产线 ≥ 5 pcs/s 节拍，且具备无人值守的自愈能力。&#10;            &lt;/Text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00100" y="800100"/>
            <a:ext cx="1733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 spc="225">
                <a:solidFill>
                  <a:srgbClr val="00B4D8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705100" y="74295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成果指标：实测数据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00100" y="1247775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DBBEA"/>
                </a:solidFill>
                <a:latin typeface="Microsoft YaHei"/>
                <a:ea typeface="Microsoft YaHei"/>
              </a:rPr>
              <a:t>四项硬指标，全部来自实测记录，可追溯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00100" y="1847850"/>
            <a:ext cx="2505075" cy="3886200"/>
          </a:xfrm>
          <a:prstGeom prst="roundRect">
            <a:avLst>
              <a:gd name="adj" fmla="val 532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028700" y="2076450"/>
            <a:ext cx="2047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7FD4E8"/>
                </a:solidFill>
                <a:latin typeface="Microsoft YaHei"/>
                <a:ea typeface="Microsoft YaHei"/>
              </a:rPr>
              <a:t>精度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28700" y="3219450"/>
            <a:ext cx="2047875" cy="80010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5700" b="1">
                <a:solidFill>
                  <a:srgbClr val="00B4D8"/>
                </a:solidFill>
                <a:latin typeface="Microsoft YaHei"/>
                <a:ea typeface="Microsoft YaHei"/>
              </a:rPr>
              <a:t>0.724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28700" y="4981575"/>
            <a:ext cx="2047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mAP50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028700" y="5248275"/>
            <a:ext cx="2047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类</a:t>
            </a: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 · conf=0.2 </a:t>
            </a: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统一口径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3495675" y="1847850"/>
            <a:ext cx="2505075" cy="3886200"/>
          </a:xfrm>
          <a:prstGeom prst="roundRect">
            <a:avLst>
              <a:gd name="adj" fmla="val 532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724275" y="2076450"/>
            <a:ext cx="2047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7FD4E8"/>
                </a:solidFill>
                <a:latin typeface="Microsoft YaHei"/>
                <a:ea typeface="Microsoft YaHei"/>
              </a:rPr>
              <a:t>速度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724275" y="3219450"/>
            <a:ext cx="2047875" cy="80010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128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ms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724275" y="4981575"/>
            <a:ext cx="2047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单帧推理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724275" y="5248275"/>
            <a:ext cx="2047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区间</a:t>
            </a: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 128–157ms</a:t>
            </a: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，整机</a:t>
            </a: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 ≥5 FPS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191250" y="1847850"/>
            <a:ext cx="2505075" cy="3886200"/>
          </a:xfrm>
          <a:prstGeom prst="roundRect">
            <a:avLst>
              <a:gd name="adj" fmla="val 532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419850" y="2076450"/>
            <a:ext cx="2047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FB37A"/>
                </a:solidFill>
                <a:latin typeface="Microsoft YaHei"/>
                <a:ea typeface="Microsoft YaHei"/>
              </a:rPr>
              <a:t>韧性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419850" y="3219450"/>
            <a:ext cx="2047875" cy="80010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5700" b="1">
                <a:solidFill>
                  <a:srgbClr val="FF7A18"/>
                </a:solidFill>
                <a:latin typeface="Microsoft YaHei"/>
                <a:ea typeface="Microsoft YaHei"/>
              </a:rPr>
              <a:t>3.0</a:t>
            </a:r>
            <a:r>
              <a:rPr lang="en-US" sz="2250" b="1">
                <a:solidFill>
                  <a:srgbClr val="FF7A18"/>
                </a:solidFill>
                <a:latin typeface="Microsoft YaHei"/>
                <a:ea typeface="Microsoft YaHei"/>
              </a:rPr>
              <a:t>s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419850" y="4981575"/>
            <a:ext cx="2047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断流自愈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419850" y="5248275"/>
            <a:ext cx="2047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实测掐线</a:t>
            </a: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 3.0s </a:t>
            </a: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自动重连续跑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886825" y="1847850"/>
            <a:ext cx="2505075" cy="3886200"/>
          </a:xfrm>
          <a:prstGeom prst="roundRect">
            <a:avLst>
              <a:gd name="adj" fmla="val 532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115425" y="2076450"/>
            <a:ext cx="2047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7FD4E8"/>
                </a:solidFill>
                <a:latin typeface="Microsoft YaHei"/>
                <a:ea typeface="Microsoft YaHei"/>
              </a:rPr>
              <a:t>闭环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115425" y="3095625"/>
            <a:ext cx="2047875" cy="80010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5700" b="1">
                <a:solidFill>
                  <a:srgbClr val="00B4D8"/>
                </a:solidFill>
                <a:latin typeface="Microsoft YaHei"/>
                <a:ea typeface="Microsoft YaHei"/>
              </a:rPr>
              <a:t>6</a:t>
            </a:r>
            <a:r>
              <a:rPr lang="zh-CN" sz="2250" b="1">
                <a:solidFill>
                  <a:srgbClr val="00B4D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115425" y="4733925"/>
            <a:ext cx="2047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上位机终端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115425" y="5000625"/>
            <a:ext cx="20478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可视化</a:t>
            </a: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报警</a:t>
            </a: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追溯</a:t>
            </a:r>
            <a:r>
              <a:rPr lang="en-US" sz="1088">
                <a:solidFill>
                  <a:srgbClr val="A9C2E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A9C2E0"/>
                </a:solidFill>
                <a:latin typeface="Microsoft YaHei"/>
                <a:ea typeface="Microsoft YaHei"/>
              </a:rPr>
              <a:t>统计全闭环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00100" y="5981700"/>
            <a:ext cx="57150" cy="30480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009650" y="6019800"/>
            <a:ext cx="853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DCE8F7"/>
                </a:solidFill>
                <a:latin typeface="Microsoft YaHei"/>
                <a:ea typeface="Microsoft YaHei"/>
              </a:rPr>
              <a:t>判断：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指标已达到可上产线的水平</a:t>
            </a:r>
            <a:r>
              <a:rPr lang="en-US" sz="1500">
                <a:solidFill>
                  <a:srgbClr val="DCE8F7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DCE8F7"/>
                </a:solidFill>
                <a:latin typeface="Microsoft YaHei"/>
                <a:ea typeface="Microsoft YaHei"/>
              </a:rPr>
              <a:t>满足高速产线</a:t>
            </a:r>
            <a:r>
              <a:rPr lang="en-US" sz="1500">
                <a:solidFill>
                  <a:srgbClr val="DCE8F7"/>
                </a:solidFill>
                <a:latin typeface="Microsoft YaHei"/>
                <a:ea typeface="Microsoft YaHei"/>
              </a:rPr>
              <a:t xml:space="preserve"> ≥ 5 pcs/s </a:t>
            </a:r>
            <a:r>
              <a:rPr lang="zh-CN" sz="1500">
                <a:solidFill>
                  <a:srgbClr val="DCE8F7"/>
                </a:solidFill>
                <a:latin typeface="Microsoft YaHei"/>
                <a:ea typeface="Microsoft YaHei"/>
              </a:rPr>
              <a:t>节拍，且具备无人值守的自愈能力。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2" name="" descr="&lt;Slide style={{ width: 1280, height: 720, position: 'relative', background: '#FFFFFF', overflow: 'hidden' }}&gt;&#10;&#10;    {/* A 区 */}&#10;    &lt;Box style={{ position: 'absolute', top: 0, left: 0, width: 1280, height: 120, paddingLeft: 84, paddingTop: 40, flexDirection: 'row', alignItems: 'center', gap: 16 }}&gt;&#10;        &lt;Box style={{ width: 5, height: 36, background: '#0B3D91' }} /&gt;&#10;        &lt;Text style={{ fontSize: 36, fontWeight: 'bold', color: '#0B1C33' }}&gt;技术主线已经贯通&lt;/Text&gt;&#10;    &lt;/Box&gt;&#10;&#10;    {/* B 区 60:40 */}&#10;    &lt;Box style={{ position: 'absolute', top: 132, left: 84, width: 1112, height: 506, flexDirection: 'row', gap: 28 }}&gt;&#10;&#10;        {/* 左 60%：链路图 */}&#10;        &lt;Box style={{ width: 646, height: 506, background: '#F4F7FB', border: '1px solid #E1E9F2', borderRadius: 14, padding: 30, flexDirection: 'column', position: 'relative' }}&gt;&#10;            &lt;Text style={{ fontSize: 15, fontWeight: 'bold', color: '#0B3D91', letterSpacing: 2 }}&gt;全链路闭环&lt;/Text&gt;&#10;            &lt;Text style={{ fontSize: 22, fontWeight: 'bold', color: '#0B1C33', marginTop: 8 }}&gt;数据 → 模型 → 边缘 → 上位机&lt;/Text&gt;&#10;&#10;            &lt;svg width={586} height={330} viewBox='0 0 586 330' style={{ marginTop: 22 }}&gt;&#10;                &lt;defs&gt;&#10;                    &lt;linearGradient id='q8n' x1='0' y1='0' x2='1' y2='0'&gt;&#10;                        &lt;stop offset='0%' stopColor='#0B3D91' /&gt;&#10;                        &lt;stop offset='100%' stopColor='#00B4D8' /&gt;&#10;                    &lt;/linearGradient&gt;&#10;                &lt;/defs&gt;&#10;                {/* 四个节点 */}&#10;                &lt;g&gt;&#10;                    &lt;rect x='8' y='30' width='124' height='70' rx='10' fill='url(#q8n)' /&gt;&#10;                    &lt;text x='70' y='62' fontSize='18' fontWeight='bold' fill='#FFFFFF' textAnchor='middle' fontFamily='Inter, sans-serif'&gt;数据&lt;/text&gt;&#10;                    &lt;text x='70' y='84' fontSize='12' fill='#CBE6F2' textAnchor='middle'&gt;25689 图&lt;/text&gt;&#10;&#10;                    &lt;rect x='154' y='30' width='124' height='70' rx='10' fill='url(#q8n)' /&gt;&#10;                    &lt;text x='216' y='62' fontSize='18' fontWeight='bold' fill='#FFFFFF' textAnchor='middle' fontFamily='Inter, sans-serif'&gt;模型&lt;/text&gt;&#10;                    &lt;text x='216' y='84' fontSize='12' fill='#CBE6F2' textAnchor='middle'&gt;39 类&lt;/text&gt;&#10;&#10;                    &lt;rect x='300' y='30' width='124' height='70' rx='10' fill='url(#q8n)' /&gt;&#10;                    &lt;text x='362' y='62' fontSize='18' fontWeight='bold' fill='#FFFFFF' textAnchor='middle' fontFamily='Inter, sans-serif'&gt;边缘&lt;/text&gt;&#10;                    &lt;text x='362' y='84' fontSize='12' fill='#CBE6F2' textAnchor='middle'&gt;RK3588&lt;/text&gt;&#10;&#10;                    &lt;rect x='446' y='30' width='124' height='70' rx='10' fill='url(#q8n)' /&gt;&#10;                    &lt;text x='508' y='62' fontSize='18' fontWeight='bold' fill='#FFFFFF' textAnchor='middle' fontFamily='Inter, sans-serif'&gt;上位机&lt;/text&gt;&#10;                    &lt;text x='508' y='84' fontSize='12' fill='#CBE6F2' textAnchor='middle'&gt;6 页闭环&lt;/text&gt;&#10;                &lt;/g&gt;&#10;                {/* 箭头 */}&#10;                &lt;g fill='#7FB2E8'&gt;&#10;                    &lt;polygon points='140,58 152,65 140,72' /&gt;&#10;                    &lt;polygon points='286,58 298,65 286,72' /&gt;&#10;                    &lt;polygon points='432,58 444,65 432,72' /&gt;&#10;                &lt;/g&gt;&#10;                {/* 回流箭头（数据闭环） */}&#10;                &lt;path d='M508,120 C508,220 70,220 70,120' fill='none' stroke='#FF7A18' strokeWidth='2.5' strokeDasharray='7 7' /&gt;&#10;                &lt;polygon points='70,124 63,112 77,112' fill='#FF7A18' /&gt;&#10;                &lt;text x='289' y='205' fontSize='13' fill='#C46A1E' textAnchor='middle'&gt;难例回流 · 数据闭环&lt;/text&gt;&#10;                {/* 底部状态条 */}&#10;                &lt;rect x='8' y='262' width='562' height='34' rx='8' fill='#E8EFF7' /&gt;&#10;                &lt;text x='289' y='284' fontSize='14' fill='#0B3D91' textAnchor='middle' fontWeight='bold'&gt;全链路已实测贯通 · 端到端可复跑&lt;/text&gt;&#10;            &lt;/svg&gt;&#10;        &lt;/Box&gt;&#10;&#10;        {/* 右 40%：结论 */}&#10;        &lt;Box style={{ width: 438, height: 506, flexDirection: 'column', justifyContent: 'space-between' }}&gt;&#10;            &lt;Box style={{ flexDirection: 'column' }}&gt;&#10;                &lt;Box style={{ width: 44, height: 4, background: '#FF7A18', marginBottom: 20 }} /&gt;&#10;                &lt;Text style={{ fontSize: 32, fontWeight: 'bold', color: '#0B1C33', lineHeight: 1.3 }}&gt;&#10;                    该讲的不是&lt;br /&gt;「能不能做」&#10;                &lt;/Text&gt;&#10;                &lt;Text style={{ fontSize: 32, fontWeight: 'bold', color: '#0B3D91', lineHeight: 1.3, marginTop: 8 }}&gt;&#10;                    而是「还能做多深」&#10;                &lt;/Text&gt;&#10;            &lt;/Box&gt;&#10;&#10;            &lt;Text style={{ fontSize: 17, color: '#5C6E82', lineHeight: 1.75 }}&gt;&#10;                技术主线全部打通、指标达标，说明这套系统已经具备从实验室走向真实产线的条件。&#10;                接下来要回答的，是它到底能落在哪些行业、扩展成本有多高 —— 这正是下一章的内容。&#10;            &lt;/Text&gt;&#10;&#10;            &lt;Box style={{ background: '#0B3D91', borderRadius: 10, padding: '16px 22px', flexDirection: 'row', alignItems: 'center', gap: 14 }}&gt;&#10;                &lt;FAIcon name='arrow-right' style={{ fill: '#00B4D8', width: 22, height: 22 }} /&gt;&#10;                &lt;Text style={{ fontSize: 17, color: '#FFFFFF', fontWeight: 'bold' }}&gt;下一章：应用场景 · 六大领域&lt;/Text&gt;&#10;            &lt;/Box&gt;&#10;        &lt;/Box&gt;&#10;    &lt;/Box&gt;&#10;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08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800100" y="5905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000125" y="55245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技术主线已经贯通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219950" y="1257300"/>
            <a:ext cx="419100" cy="3810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219950" y="1485900"/>
            <a:ext cx="4171950" cy="952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B1C33"/>
                </a:solidFill>
                <a:latin typeface="Microsoft YaHei"/>
                <a:ea typeface="Microsoft YaHei"/>
              </a:rPr>
              <a:t>该讲的不是</a:t>
            </a:r>
            <a:endParaRPr/>
          </a:p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B1C33"/>
                </a:solidFill>
                <a:latin typeface="Microsoft YaHei"/>
                <a:ea typeface="Microsoft YaHei"/>
              </a:rPr>
              <a:t>「能不能做」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219950" y="2514600"/>
            <a:ext cx="417195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B3D91"/>
                </a:solidFill>
                <a:latin typeface="Microsoft YaHei"/>
                <a:ea typeface="Microsoft YaHei"/>
              </a:rPr>
              <a:t>而是「还能做多深」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219950" y="3600450"/>
            <a:ext cx="417195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技术主线全部打通、指标达标，说明这套系统已经具备从实验室走向真实产线的条件。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接下来要回答的，是它到底能落在哪些行业、扩展成本有多高</a:t>
            </a:r>
            <a:r>
              <a:rPr lang="en-US" sz="1275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5C6E82"/>
                </a:solidFill>
                <a:latin typeface="Microsoft YaHei"/>
                <a:ea typeface="Microsoft YaHei"/>
              </a:rPr>
              <a:t>这正是下一章的内容。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7219950" y="5562600"/>
            <a:ext cx="4171950" cy="514350"/>
          </a:xfrm>
          <a:prstGeom prst="roundRect">
            <a:avLst>
              <a:gd name="adj" fmla="val 18519"/>
            </a:avLst>
          </a:prstGeom>
          <a:solidFill>
            <a:srgbClr val="0B3D91"/>
          </a:solidFill>
          <a:ln/>
        </p:spPr>
        <p:txBody>
          <a:bodyPr/>
          <a:p/>
        </p:txBody>
      </p:sp>
      <p:pic>
        <p:nvPicPr>
          <p:cNvPr id="3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0" y="5715000"/>
            <a:ext cx="209550" cy="209550"/>
          </a:xfrm>
          <a:prstGeom prst="rect">
            <a:avLst/>
          </a:prstGeom>
          <a:ln/>
        </p:spPr>
      </p:pic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772400" y="5724525"/>
            <a:ext cx="211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下一章：应用场景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六大领域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00100" y="1257300"/>
            <a:ext cx="6153150" cy="4819650"/>
          </a:xfrm>
          <a:prstGeom prst="roundRect">
            <a:avLst>
              <a:gd name="adj" fmla="val 276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85850" y="1543050"/>
            <a:ext cx="558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>全链路闭环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85850" y="1790700"/>
            <a:ext cx="5581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C33"/>
                </a:solidFill>
                <a:latin typeface="Microsoft YaHei"/>
                <a:ea typeface="Microsoft YaHei"/>
              </a:rPr>
              <a:t>数据</a:t>
            </a:r>
            <a:r>
              <a:rPr lang="en-US" sz="16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B1C33"/>
                </a:solidFill>
                <a:latin typeface="Microsoft YaHei"/>
                <a:ea typeface="Microsoft YaHei"/>
              </a:rPr>
              <a:t>模型</a:t>
            </a:r>
            <a:r>
              <a:rPr lang="en-US" sz="16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B1C33"/>
                </a:solidFill>
                <a:latin typeface="Microsoft YaHei"/>
                <a:ea typeface="Microsoft YaHei"/>
              </a:rPr>
              <a:t>边缘</a:t>
            </a:r>
            <a:r>
              <a:rPr lang="en-US" sz="165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B1C33"/>
                </a:solidFill>
                <a:latin typeface="Microsoft YaHei"/>
                <a:ea typeface="Microsoft YaHei"/>
              </a:rPr>
              <a:t>上位机</a:t>
            </a:r>
            <a:endParaRPr/>
          </a:p>
        </p:txBody>
      </p:sp>
      <p:pic>
        <p:nvPicPr>
          <p:cNvPr id="3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85850" y="2257425"/>
            <a:ext cx="5581650" cy="3143250"/>
          </a:xfrm>
          <a:prstGeom prst="rect">
            <a:avLst/>
          </a:prstGeom>
          <a:ln/>
        </p:spPr>
      </p:pic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9" name="" descr="&lt;Slide style={{ width: 1280, height: 720, position: 'relative', background: '#071A36', overflow: 'hidden' }}&gt;&#10;    &lt;Box style={{ position: 'absolute', top: 0, left: 0, width: 1280, height: 720, flexDirection: 'row' }}&gt;&#10;&#10;        {/* 左侧 58% SVG 抽象视觉 */}&#10;        &lt;Box style={{ width: 724, height: 720, position: 'relative', background: '#061428' }}&gt;&#10;            &lt;svg width={724} height={720} viewBox='0 0 724 720' style={{ position: 'absolute', top: 0, left: 0 }}&gt;&#10;                &lt;defs&gt;&#10;                    &lt;linearGradient id='q9a' x1='0' y1='0' x2='1' y2='1'&gt;&#10;                        &lt;stop offset='0%' stopColor='#0B3D91' /&gt;&#10;                        &lt;stop offset='100%' stopColor='#061428' /&gt;&#10;                    &lt;/linearGradient&gt;&#10;                    &lt;radialGradient id='q9g' cx='0.38' cy='0.40' r='0.62'&gt;&#10;                        &lt;stop offset='0%' stopColor='#00B4D8' stopOpacity='0.34' /&gt;&#10;                        &lt;stop offset='100%' stopColor='#00B4D8' stopOpacity='0' /&gt;&#10;                    &lt;/radialGradient&gt;&#10;                &lt;/defs&gt;&#10;                &lt;rect x='0' y='0' width='724' height='720' fill='url(#q9a)' /&gt;&#10;                &lt;rect x='0' y='0' width='724' height='720' fill='url(#q9g)' /&gt;&#10;                {/* 六边形网格（六领域意象） */}&#10;                &lt;g fill='none' stroke='#4E8BD6' strokeOpacity='0.28' strokeWidth='2'&gt;&#10;                    &lt;polygon points='250,180 320,180 355,240 320,300 250,300 215,240' /&gt;&#10;                    &lt;polygon points='320,180 390,180 425,240 390,300 320,300 355,240' /&gt;&#10;                    &lt;polygon points='250,300 320,300 355,360 320,420 250,420 215,360' /&gt;&#10;                    &lt;polygon points='320,300 390,300 425,360 390,420 320,420 355,360' /&gt;&#10;                    &lt;polygon points='250,420 320,420 355,480 320,540 250,540 215,480' /&gt;&#10;                    &lt;polygon points='320,420 390,420 425,480 390,540 320,540 355,480' /&gt;&#10;                &lt;/g&gt;&#10;                &lt;circle cx='320' cy='240' r='12' fill='#00B4D8' /&gt;&#10;                &lt;circle cx='355' cy='360' r='10' fill='#FF7A18' /&gt;&#10;                &lt;circle cx='285' cy='480' r='10' fill='#7FB2E8' /&gt;&#10;                &lt;g stroke='#7FB2E8' strokeOpacity='0.16' strokeWidth='2'&gt;&#10;                    &lt;line x1='0' y1='640' x2='724' y2='640' /&gt;&#10;                    &lt;line x1='0' y1='680' x2='724' y2='680' /&gt;&#10;                &lt;/g&gt;&#10;                &lt;rect x='0' y='712' width='724' height='8' fill='#00B4D8' /&gt;&#10;            &lt;/svg&gt;&#10;        &lt;/Box&gt;&#10;&#10;        {/* 右侧 42% 文字 */}&#10;        &lt;Box style={{ width: 556, height: 720, paddingLeft: 60, paddingRight: 84, paddingTop: 236, flexDirection: 'column' }}&gt;&#10;            &lt;Box style={{ flexDirection: 'row', alignItems: 'center', gap: 16 }}&gt;&#10;                &lt;Text style={{ fontSize: 26, fontWeight: 'bold', color: '#00B4D8', letterSpacing: 3 }}&gt;CHAPTER 03&lt;/Text&gt;&#10;                &lt;Box style={{ width: 70, height: 2, background: 'rgba(255,255,255,0.25)' }} /&gt;&#10;            &lt;/Box&gt;&#10;            &lt;Text style={{ marginTop: 26, fontSize: 60, fontWeight: 'bold', color: '#FFFFFF', lineHeight: 1.15, letterSpacing: 2 }}&gt;&#10;                应用场景：六大领域&#10;            &lt;/Text&gt;&#10;            &lt;Box style={{ flexDirection: 'row', alignItems: 'center', gap: 16, marginTop: 34 }}&gt;&#10;                &lt;Box style={{ width: 6, height: 34, background: '#FF7A18' }} /&gt;&#10;                &lt;Text style={{ fontSize: 23, color: '#BFD6EC' }}&gt;&#10;                    同一个视觉内核，&lt;br /&gt;换一套数据就是一条新产线。&#10;                &lt;/Text&gt;&#10;            &lt;/Box&gt;&#10;        &lt;/Box&gt;&#10;    &lt;/Box&gt;&#10;&#10;    &lt;Box style={{ position: 'absolute', left: 96, bottom: 30, width: 1088, flexDirection: 'row', justifyContent: 'space-between' }}&gt;&#10;        &lt;Text style={{ fontSize: 14, color: '#6E8BB0' }}&gt;工业表面缺陷检测系统 · 开发进度汇报&lt;/Text&gt;&#10;        &lt;Text style={{ fontSize: 14, color: '#6E8BB0' }}&gt;09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A36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467600" y="2247900"/>
            <a:ext cx="1857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225">
                <a:solidFill>
                  <a:srgbClr val="00B4D8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9477375" y="2390775"/>
            <a:ext cx="66675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467600" y="2800350"/>
            <a:ext cx="39243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4999"/>
              </a:lnSpc>
            </a:pPr>
            <a:r>
              <a:rPr lang="zh-CN" sz="4500" b="1" spc="150">
                <a:solidFill>
                  <a:srgbClr val="FFFFFF"/>
                </a:solidFill>
                <a:latin typeface="Microsoft YaHei"/>
                <a:ea typeface="Microsoft YaHei"/>
              </a:rPr>
              <a:t>应用场景：六大领域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467600" y="4810125"/>
            <a:ext cx="57150" cy="32385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677150" y="4705350"/>
            <a:ext cx="28479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BFD6EC"/>
                </a:solidFill>
                <a:latin typeface="Microsoft YaHei"/>
                <a:ea typeface="Microsoft YaHei"/>
              </a:rPr>
              <a:t>同一个视觉内核，</a:t>
            </a:r>
            <a:endParaRPr/>
          </a:p>
          <a:p>
            <a:pPr>
              <a:lnSpc>
                <a:spcPct val="100000"/>
              </a:lnSpc>
            </a:pPr>
            <a:r>
              <a:rPr lang="zh-CN" sz="1725">
                <a:solidFill>
                  <a:srgbClr val="BFD6EC"/>
                </a:solidFill>
                <a:latin typeface="Microsoft YaHei"/>
                <a:ea typeface="Microsoft YaHei"/>
              </a:rPr>
              <a:t>换一套数据就是一条新产线。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0" y="0"/>
            <a:ext cx="68961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6896100" cy="6858000"/>
          </a:xfrm>
          <a:prstGeom prst="rect">
            <a:avLst/>
          </a:prstGeom>
          <a:ln/>
        </p:spPr>
      </p:pic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14400" y="64103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E8BB0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082040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BB0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1280, height: 720, position: 'relative', background: '#FFFFFF', overflow: 'hidden' }}&gt;&#10;&#10;    {/* A 区 */}&#10;    &lt;Box style={{ position: 'absolute', top: 0, left: 0, width: 1280, height: 116, paddingLeft: 84, paddingTop: 36, flexDirection: 'row', alignItems: 'center', gap: 16 }}&gt;&#10;        &lt;Box style={{ width: 5, height: 36, background: '#FF7A18' }} /&gt;&#10;        &lt;Text style={{ fontSize: 36, fontWeight: 'bold', color: '#0B1C33' }}&gt;一张地图看清六个应用领域&lt;/Text&gt;&#10;    &lt;/Box&gt;&#10;&#10;    {/* B 区 */}&#10;    &lt;Box style={{ position: 'absolute', top: 122, left: 84, width: 1112, height: 518, flexDirection: 'column', gap: 18 }}&gt;&#10;&#10;        {/* 锚点条 */}&#10;        &lt;Box style={{ width: '100%', height: 96, background: 'linear-gradient(100deg, #0B3D91 0%, #0A3070 62%, #0E4C9E 100%)', borderRadius: 10, flexDirection: 'row', alignItems: 'center', paddingLeft: 34, paddingRight: 34, justifyContent: 'space-between' }}&gt;&#10;            &lt;Box style={{ flexDirection: 'row', alignItems: 'flex-end', gap: 16 }}&gt;&#10;                &lt;Text style={{ fontSize: 62, fontWeight: 'bold', color: '#FF7A18', lineHeight: 0.9 }}&gt;6&lt;/Text&gt;&#10;                &lt;Text style={{ fontSize: 22, fontWeight: 'bold', color: '#FFFFFF', paddingBottom: 6 }}&gt;大应用领域&lt;/Text&gt;&#10;            &lt;/Box&gt;&#10;            &lt;Box style={{ width: 1, height: 52, background: 'rgba(255,255,255,0.25)' }} /&gt;&#10;            &lt;Box style={{ flexDirection: 'row', alignItems: 'flex-end', gap: 16 }}&gt;&#10;                &lt;Text style={{ fontSize: 62, fontWeight: 'bold', color: '#00B4D8', lineHeight: 0.9 }}&gt;39&lt;/Text&gt;&#10;                &lt;Text style={{ fontSize: 22, fontWeight: 'bold', color: '#FFFFFF', paddingBottom: 6 }}&gt;类缺陷已建模&lt;/Text&gt;&#10;            &lt;/Box&gt;&#10;            &lt;Box style={{ width: 1, height: 52, background: 'rgba(255,255,255,0.25)' }} /&gt;&#10;            &lt;Box style={{ flexDirection: 'column', alignItems: 'flex-end' }}&gt;&#10;                &lt;Text style={{ fontSize: 18, color: '#BFD6EC', lineHeight: 1.5 }}&gt;共同点：&lt;span style={{ color: '#FFFFFF', fontWeight: 'bold' }}&gt;表面质量决定售价&lt;/span&gt;&lt;/Text&gt;&#10;                &lt;Text style={{ fontSize: 15, color: '#8FAED0', marginTop: 4 }}&gt;39 类为钢铁/金属实测成果，其余领域为迁移目标&lt;/Text&gt;&#10;            &lt;/Box&gt;&#10;        &lt;/Box&gt;&#10;&#10;        {/* 六宫格 */}&#10;        &lt;Box style={{ width: '100%', height: 404, flexDirection: 'row', gap: 16 }}&gt;&#10;&#10;            &lt;Box style={{ flex: 1, flexDirection: 'column', gap: 16 }}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industry' style={{ fill: '#0B3D91', width: 34, height: 34 }} /&gt;&#10;                        &lt;Text style={{ fontSize: 13, color: '#0B3D91', fontWeight: 'bold', background: '#DDE9F9', padding: '3px 9px', borderRadius: 10 }}&gt;核心实测&lt;/Text&gt;&#10;                    &lt;/Box&gt;&#10;                    &lt;Box style={{ flexDirection: 'column' }}&gt;&#10;                        &lt;Text style={{ fontSize: 21, fontWeight: 'bold', color: '#0B1C33' }}&gt;钢铁冶金&lt;/Text&gt;&#10;                        &lt;Text style={{ fontSize: 14.5, color: '#5C6E82', lineHeight: 1.5, marginTop: 5 }}&gt;热轧带钢、冷轧板、型材表面 —— 划痕/夹杂/氧化皮/折痕全形态覆盖。&lt;/Text&gt;&#10;                    &lt;/Box&gt;&#10;                &lt;/Box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microchip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3C 精密&lt;/Text&gt;&#10;                        &lt;Text style={{ fontSize: 14.5, color: '#5C6E82', lineHeight: 1.5, marginTop: 5 }}&gt;手机外壳、PCB 板、连接器 —— 微划痕与异物检测，节拍极高。&lt;/Text&gt;&#10;                    &lt;/Box&gt;&#10;                &lt;/Box&gt;&#10;            &lt;/Box&gt;&#10;&#10;            &lt;Box style={{ flex: 1, flexDirection: 'column', gap: 16 }}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scroll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纺织印染&lt;/Text&gt;&#10;                        &lt;Text style={{ fontSize: 14.5, color: '#5C6E82', lineHeight: 1.5, marginTop: 5 }}&gt;布匹连续卷材上的破洞、断经、色差、油污点，需高速连续检测。&lt;/Text&gt;&#10;                    &lt;/Box&gt;&#10;                &lt;/Box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battery-full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新能源电池&lt;/Text&gt;&#10;                        &lt;Text style={{ fontSize: 14.5, color: '#5C6E82', lineHeight: 1.5, marginTop: 5 }}&gt;极片涂布划痕、铝壳焊点、隔膜瑕疵 —— 安全等级最高的质检场景。&lt;/Text&gt;&#10;                    &lt;/Box&gt;&#10;                &lt;/Box&gt;&#10;            &lt;/Box&gt;&#10;&#10;            &lt;Box style={{ flex: 1, flexDirection: 'column', gap: 16 }}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utensils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食品包装&lt;/Text&gt;&#10;                        &lt;Text style={{ fontSize: 14.5, color: '#5C6E82', lineHeight: 1.5, marginTop: 5 }}&gt;封口完整性、印刷错漏、异物混入 —— 视觉 + 合规双重要求。&lt;/Text&gt;&#10;                    &lt;/Box&gt;&#10;                &lt;/Box&gt;&#10;                &lt;Box style={{ flex: 1, background: '#F4F7FB', borderRadius: 10, border: '1px solid #E1E9F2', padding: 18, flexDirection: 'column', justifyContent: 'space-between' }}&gt;&#10;                    &lt;Box style={{ flexDirection: 'row', justifyContent: 'space-between', alignItems: 'center' }}&gt;&#10;                        &lt;FAIcon name='square' style={{ fill: '#0B3D91', width: 34, height: 34 }} /&gt;&#10;                        &lt;Text style={{ fontSize: 13, color: '#00A0C4', fontWeight: 'bold', background: '#DCF3F9', padding: '3px 9px', borderRadius: 10 }}&gt;迁移&lt;/Text&gt;&#10;                    &lt;/Box&gt;&#10;                    &lt;Box style={{ flexDirection: 'column' }}&gt;&#10;                        &lt;Text style={{ fontSize: 21, fontWeight: 'bold', color: '#0B1C33' }}&gt;玻璃建材&lt;/Text&gt;&#10;                        &lt;Text style={{ fontSize: 14.5, color: '#5C6E82', lineHeight: 1.5, marginTop: 5 }}&gt;浮法玻璃气泡、结石、划伤，陶瓷砖面裂纹 —— 大面积高反光表面。&lt;/Text&gt;&#10;                    &lt;/Box&gt;&#10;                &lt;/Box&gt;&#10;            &lt;/Box&gt;&#10;&#10;        &lt;/Box&gt;&#10;    &lt;/Box&gt;&#10;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10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800100" y="552450"/>
            <a:ext cx="47625" cy="34290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00125" y="514350"/>
            <a:ext cx="4114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一张地图看清六个应用领域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00100" y="1162050"/>
            <a:ext cx="10591800" cy="914400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0B3D91"/>
              </a:gs>
              <a:gs pos="62000">
                <a:srgbClr val="0A3070"/>
              </a:gs>
              <a:gs pos="100000">
                <a:srgbClr val="0E4C9E"/>
              </a:gs>
            </a:gsLst>
            <a:lin ang="600000" scaled="1"/>
          </a:gra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23950" y="1304925"/>
            <a:ext cx="371475" cy="638175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4650" b="1">
                <a:solidFill>
                  <a:srgbClr val="FF7A18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647825" y="1628775"/>
            <a:ext cx="104775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大应用领域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467100" y="1371600"/>
            <a:ext cx="9525" cy="4953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248150" y="1304925"/>
            <a:ext cx="733425" cy="638175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4650" b="1">
                <a:solidFill>
                  <a:srgbClr val="00B4D8"/>
                </a:solidFill>
                <a:latin typeface="Microsoft YaHei"/>
                <a:ea typeface="Microsoft YaHei"/>
              </a:rPr>
              <a:t>39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133975" y="1628775"/>
            <a:ext cx="125730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类缺陷已建模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153275" y="1371600"/>
            <a:ext cx="9525" cy="4953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010650" y="1362075"/>
            <a:ext cx="20574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FD6EC"/>
                </a:solidFill>
                <a:latin typeface="Microsoft YaHei"/>
                <a:ea typeface="Microsoft YaHei"/>
              </a:rPr>
              <a:t>共同点：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表面质量决定售价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934325" y="17145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AED0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125">
                <a:solidFill>
                  <a:srgbClr val="8FAED0"/>
                </a:solidFill>
                <a:latin typeface="Microsoft YaHei"/>
                <a:ea typeface="Microsoft YaHei"/>
              </a:rPr>
              <a:t>类为钢铁</a:t>
            </a:r>
            <a:r>
              <a:rPr lang="en-US" sz="1125">
                <a:solidFill>
                  <a:srgbClr val="8FAED0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8FAED0"/>
                </a:solidFill>
                <a:latin typeface="Microsoft YaHei"/>
                <a:ea typeface="Microsoft YaHei"/>
              </a:rPr>
              <a:t>金属实测成果，其余领域为迁移目标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00100" y="224790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2419350"/>
            <a:ext cx="323850" cy="323850"/>
          </a:xfrm>
          <a:prstGeom prst="rect">
            <a:avLst/>
          </a:prstGeom>
          <a:ln/>
        </p:spPr>
      </p:pic>
      <p:sp>
        <p:nvSpPr>
          <p:cNvPr id="37" name=""/>
          <p:cNvSpPr/>
          <p:nvPr/>
        </p:nvSpPr>
        <p:spPr>
          <a:xfrm rot="0" flipH="0" flipV="0">
            <a:off x="3390900" y="2476500"/>
            <a:ext cx="666750" cy="209550"/>
          </a:xfrm>
          <a:prstGeom prst="roundRect">
            <a:avLst>
              <a:gd name="adj" fmla="val 45455"/>
            </a:avLst>
          </a:prstGeom>
          <a:solidFill>
            <a:srgbClr val="DDE9F9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390900" y="2476500"/>
            <a:ext cx="66675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B3D91"/>
                </a:solidFill>
                <a:highlight>
                  <a:srgbClr val="DDE9F9"/>
                </a:highlight>
                <a:latin typeface="Microsoft YaHei"/>
                <a:ea typeface="Microsoft YaHei"/>
              </a:rPr>
              <a:t>核心实测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71550" y="3124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钢铁冶金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71550" y="341947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热轧带钢、冷轧板、型材表面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划痕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夹杂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氧化皮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折痕全形态覆盖。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800100" y="424815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71550" y="4419600"/>
            <a:ext cx="323850" cy="323850"/>
          </a:xfrm>
          <a:prstGeom prst="rect">
            <a:avLst/>
          </a:prstGeom>
          <a:ln/>
        </p:spPr>
      </p:pic>
      <p:sp>
        <p:nvSpPr>
          <p:cNvPr id="43" name=""/>
          <p:cNvSpPr/>
          <p:nvPr/>
        </p:nvSpPr>
        <p:spPr>
          <a:xfrm rot="0" flipH="0" flipV="0">
            <a:off x="3638550" y="447675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638550" y="447675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71550" y="512445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3C </a:t>
            </a: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精密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71550" y="541972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手机外壳、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PCB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板、连接器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微划痕与异物检测，节拍极高。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4381500" y="224790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52950" y="2419350"/>
            <a:ext cx="323850" cy="323850"/>
          </a:xfrm>
          <a:prstGeom prst="rect">
            <a:avLst/>
          </a:prstGeom>
          <a:ln/>
        </p:spPr>
      </p:pic>
      <p:sp>
        <p:nvSpPr>
          <p:cNvPr id="49" name=""/>
          <p:cNvSpPr/>
          <p:nvPr/>
        </p:nvSpPr>
        <p:spPr>
          <a:xfrm rot="0" flipH="0" flipV="0">
            <a:off x="7219950" y="247650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219950" y="247650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552950" y="3124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纺织印染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552950" y="341947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布匹连续卷材上的破洞、断经、色差、油污点，需高速连续检测。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381500" y="424815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52950" y="4419600"/>
            <a:ext cx="323850" cy="323850"/>
          </a:xfrm>
          <a:prstGeom prst="rect">
            <a:avLst/>
          </a:prstGeom>
          <a:ln/>
        </p:spPr>
      </p:pic>
      <p:sp>
        <p:nvSpPr>
          <p:cNvPr id="55" name=""/>
          <p:cNvSpPr/>
          <p:nvPr/>
        </p:nvSpPr>
        <p:spPr>
          <a:xfrm rot="0" flipH="0" flipV="0">
            <a:off x="7219950" y="447675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219950" y="447675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552950" y="512445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新能源电池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552950" y="541972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极片涂布划痕、铝壳焊点、隔膜瑕疵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安全等级最高的质检场景。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962900" y="224790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134350" y="2419350"/>
            <a:ext cx="323850" cy="323850"/>
          </a:xfrm>
          <a:prstGeom prst="rect">
            <a:avLst/>
          </a:prstGeom>
          <a:ln/>
        </p:spPr>
      </p:pic>
      <p:sp>
        <p:nvSpPr>
          <p:cNvPr id="61" name=""/>
          <p:cNvSpPr/>
          <p:nvPr/>
        </p:nvSpPr>
        <p:spPr>
          <a:xfrm rot="0" flipH="0" flipV="0">
            <a:off x="10801350" y="247650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801350" y="247650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34350" y="31242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食品包装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134350" y="341947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封口完整性、印刷错漏、异物混入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视觉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合规双重要求。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7962900" y="4248150"/>
            <a:ext cx="3429000" cy="1847850"/>
          </a:xfrm>
          <a:prstGeom prst="roundRect">
            <a:avLst>
              <a:gd name="adj" fmla="val 5155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134350" y="4419600"/>
            <a:ext cx="323850" cy="323850"/>
          </a:xfrm>
          <a:prstGeom prst="rect">
            <a:avLst/>
          </a:prstGeom>
          <a:ln/>
        </p:spPr>
      </p:pic>
      <p:sp>
        <p:nvSpPr>
          <p:cNvPr id="67" name=""/>
          <p:cNvSpPr/>
          <p:nvPr/>
        </p:nvSpPr>
        <p:spPr>
          <a:xfrm rot="0" flipH="0" flipV="0">
            <a:off x="10801350" y="4476750"/>
            <a:ext cx="419100" cy="209550"/>
          </a:xfrm>
          <a:prstGeom prst="roundRect">
            <a:avLst>
              <a:gd name="adj" fmla="val 45455"/>
            </a:avLst>
          </a:prstGeom>
          <a:solidFill>
            <a:srgbClr val="DCF3F9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801350" y="4476750"/>
            <a:ext cx="419100" cy="20955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0A0C4"/>
                </a:solidFill>
                <a:highlight>
                  <a:srgbClr val="DCF3F9"/>
                </a:highlight>
                <a:latin typeface="Microsoft YaHei"/>
                <a:ea typeface="Microsoft YaHei"/>
              </a:rPr>
              <a:t>迁移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134350" y="512445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玻璃建材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134350" y="5419725"/>
            <a:ext cx="3086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浮法玻璃气泡、结石、划伤，陶瓷砖面裂纹</a:t>
            </a: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大面积高反光表面。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3" name="" descr="&lt;Slide style={{ width: 1280, height: 720, position: 'relative', background: '#FFFFFF', overflow: 'hidden' }}&gt;&#10;&#10;    {/* A 区 */}&#10;    &lt;Box style={{ position: 'absolute', top: 0, left: 0, width: 1280, height: 120, paddingLeft: 84, paddingTop: 40, flexDirection: 'row', alignItems: 'center', gap: 16 }}&gt;&#10;        &lt;Box style={{ width: 5, height: 36, background: '#0B3D91' }} /&gt;&#10;        &lt;Text style={{ fontSize: 36, fontWeight: 'bold', color: '#0B1C33' }}&gt;从试跑到规模化的三步路&lt;/Text&gt;&#10;    &lt;/Box&gt;&#10;&#10;    {/* B 区 60:40 */}&#10;    &lt;Box style={{ position: 'absolute', top: 132, left: 84, width: 1112, height: 506, flexDirection: 'row', gap: 28 }}&gt;&#10;&#10;        {/* 左 60%：SVG 三步阶梯 */}&#10;        &lt;Box style={{ width: 646, height: 506, background: '#F4F7FB', border: '1px solid #E1E9F2', borderRadius: 14, padding: 30, flexDirection: 'column' }}&gt;&#10;            &lt;svg width={586} height={428} viewBox='0 0 586 428'&gt;&#10;                &lt;defs&gt;&#10;                    &lt;linearGradient id='q11a' x1='0' y1='0' x2='1' y2='0'&gt;&#10;                        &lt;stop offset='0%' stopColor='#0B3D91' /&gt;&#10;                        &lt;stop offset='100%' stopColor='#00B4D8' /&gt;&#10;                    &lt;/linearGradient&gt;&#10;                    &lt;linearGradient id='q11b' x1='0' y1='0' x2='1' y2='0'&gt;&#10;                        &lt;stop offset='0%' stopColor='#0A52A8' /&gt;&#10;                        &lt;stop offset='100%' stopColor='#22C4E0' /&gt;&#10;                    &lt;/linearGradient&gt;&#10;                &lt;/defs&gt;&#10;&#10;                {/* 阶梯底座 */}&#10;                &lt;rect x='20' y='300' width='160' height='108' rx='10' fill='#B9CDE6' /&gt;&#10;                &lt;rect x='210' y='220' width='160' height='188' rx='10' fill='#8FB0DA' /&gt;&#10;                &lt;rect x='400' y='130' width='166' height='278' rx='10' fill='url(#q11a)' /&gt;&#10;&#10;                {/* 台阶数字 */}&#10;                &lt;text x='100' y='360' fontSize='40' fontWeight='bold' fill='#0B3D91' textAnchor='middle' fontFamily='Inter, sans-serif'&gt;01&lt;/text&gt;&#10;                &lt;text x='290' y='300' fontSize='40' fontWeight='bold' fill='#FFFFFF' textAnchor='middle' fontFamily='Inter, sans-serif' opacity='0.85'&gt;02&lt;/text&gt;&#10;                &lt;text x='483' y='220' fontSize='48' fontWeight='bold' fill='#FFFFFF' textAnchor='middle' fontFamily='Inter, sans-serif'&gt;03&lt;/text&gt;&#10;&#10;                {/* 上升箭头 */}&#10;                &lt;path d='M30,270 C180,240 300,150 560,70' fill='none' stroke='#FF7A18' strokeWidth='3' strokeDasharray='8 8' /&gt;&#10;                &lt;polygon points='566,66 548,62 556,80' fill='#FF7A18' /&gt;&#10;&#10;                {/* 阶段标签 */}&#10;                &lt;text x='100' y='392' fontSize='15' fill='#0B3D91' textAnchor='middle' fontWeight='bold'&gt;PoC 试跑&lt;/text&gt;&#10;                &lt;text x='290' y='332' fontSize='15' fill='#1B3E6E' textAnchor='middle' fontWeight='bold'&gt;小规模部署&lt;/text&gt;&#10;                &lt;text x='483' y='250' fontSize='15' fill='#FFFFFF' textAnchor='middle' fontWeight='bold'&gt;规模复制&lt;/text&gt;&#10;&#10;                {/* 成功数 */}&#10;                &lt;text x='100' y='420' fontSize='13' fill='#5C6E82' textAnchor='middle'&gt;1 条线&lt;/text&gt;&#10;                &lt;text x='290' y='356' fontSize='13' fill='#3D5A82' textAnchor='middle'&gt;1 条线&lt;/text&gt;&#10;                &lt;text x='483' y='276' fontSize='13' fill='#CBE6F2' textAnchor='middle'&gt;N 条线&lt;/text&gt;&#10;            &lt;/svg&gt;&#10;        &lt;/Box&gt;&#10;&#10;        {/* 右 40%：三步说明 */}&#10;        &lt;Box style={{ width: 438, height: 506, flexDirection: 'column', justifyContent: 'space-between' }}&gt;&#10;&#10;            &lt;Box style={{ flexDirection: 'row', gap: 16, alignItems: 'flex-start' }}&gt;&#10;                &lt;Box style={{ width: 6, height: 60, background: '#0B3D91', borderRadius: 3 }} /&gt;&#10;                &lt;Box style={{ flexDirection: 'column', flex: 1 }}&gt;&#10;                    &lt;Text style={{ fontSize: 20, fontWeight: 'bold', color: '#0B1C33' }}&gt;第一步 · PoC 试跑&lt;Text style={{ fontSize: 15, color: '#9AA9B8', fontWeight: 'normal' }}&gt;（2–4 周）&lt;/Text&gt;&lt;/Text&gt;&#10;                    &lt;Text style={{ fontSize: 15.5, color: '#5C6E82', lineHeight: 1.6, marginTop: 6 }}&gt;&#10;                        接一路相机 + 现有 39 类模型，跑真实产线 8 小时，出检出率/误检率基线 —— 判断&quot;值不值得上&quot;。&#10;                    &lt;/Text&gt;&#10;                &lt;/Box&gt;&#10;            &lt;/Box&gt;&#10;&#10;            &lt;Box style={{ height: 1, background: '#E6ECF3' }} /&gt;&#10;&#10;            &lt;Box style={{ flexDirection: 'row', gap: 16, alignItems: 'flex-start' }}&gt;&#10;                &lt;Box style={{ width: 6, height: 66, background: '#0A52A8', borderRadius: 3 }} /&gt;&#10;                &lt;Box style={{ flexDirection: 'column', flex: 1 }}&gt;&#10;                    &lt;Text style={{ fontSize: 20, fontWeight: 'bold', color: '#0B1C33' }}&gt;第二步 · 小规模部署&lt;Text style={{ fontSize: 15, color: '#9AA9B8', fontWeight: 'normal' }}&gt;（1 个月）&lt;/Text&gt;&lt;/Text&gt;&#10;                    &lt;Text style={{ fontSize: 15.5, color: '#5C6E82', lineHeight: 1.6, marginTop: 6 }}&gt;&#10;                        按产线标定阈值、接 PLC 与报警、上位机接入 MES，同时采集难例回流训练集。&#10;                    &lt;/Text&gt;&#10;                &lt;/Box&gt;&#10;            &lt;/Box&gt;&#10;&#10;            &lt;Box style={{ height: 1, background: '#E6ECF3' }} /&gt;&#10;&#10;            &lt;Box style={{ flexDirection: 'row', gap: 16, alignItems: 'flex-start' }}&gt;&#10;                &lt;Box style={{ width: 6, height: 66, background: '#FF7A18', borderRadius: 3 }} /&gt;&#10;                &lt;Box style={{ flexDirection: 'column', flex: 1 }}&gt;&#10;                    &lt;Text style={{ fontSize: 20, fontWeight: 'bold', color: '#0B1C33' }}&gt;第三步 · 规模复制&lt;/Text&gt;&#10;                    &lt;Text style={{ fontSize: 15.5, color: '#5C6E82', lineHeight: 1.6, marginTop: 6 }}&gt;&#10;                        模型可换（换数据重训即迁移），硬件即插即用，上位机复用 —— &lt;span style={{ color: '#FF7A18', fontWeight: 'bold' }}&gt;边际成本主要是数据标注，不是研发&lt;/span&gt;。&#10;                    &lt;/Text&gt;&#10;                &lt;/Box&gt;&#10;            &lt;/Box&gt;&#10;&#10;        &lt;/Box&gt;&#10;    &lt;/Box&gt;&#10;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11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800100" y="5905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00125" y="55245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从试跑到规模化的三步路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800100" y="1257300"/>
            <a:ext cx="6153150" cy="4819650"/>
          </a:xfrm>
          <a:prstGeom prst="roundRect">
            <a:avLst>
              <a:gd name="adj" fmla="val 276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543050"/>
            <a:ext cx="5581650" cy="4076700"/>
          </a:xfrm>
          <a:prstGeom prst="rect">
            <a:avLst/>
          </a:prstGeom>
          <a:ln/>
        </p:spPr>
      </p:pic>
      <p:sp>
        <p:nvSpPr>
          <p:cNvPr id="79" name=""/>
          <p:cNvSpPr/>
          <p:nvPr/>
        </p:nvSpPr>
        <p:spPr>
          <a:xfrm rot="0" flipH="0" flipV="0">
            <a:off x="7219950" y="12573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429500" y="1257300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第一步</a:t>
            </a:r>
            <a:r>
              <a:rPr lang="en-US" sz="150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· PoC </a:t>
            </a: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试跑</a:t>
            </a: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（</a:t>
            </a:r>
            <a:r>
              <a:rPr lang="en-US" sz="150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2–4 </a:t>
            </a: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周）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429500" y="1543050"/>
            <a:ext cx="3962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接一路相机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现有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类模型，跑真实产线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小时，出检出率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误检率基线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判断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值不值得上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7219950" y="2676525"/>
            <a:ext cx="4171950" cy="9525"/>
          </a:xfrm>
          <a:prstGeom prst="rect">
            <a:avLst/>
          </a:prstGeom>
          <a:solidFill>
            <a:srgbClr val="E6ECF3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219950" y="32385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0A52A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429500" y="3238500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第二步</a:t>
            </a:r>
            <a:r>
              <a:rPr lang="en-US" sz="150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小规模部署</a:t>
            </a: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（</a:t>
            </a:r>
            <a:r>
              <a:rPr lang="en-US" sz="150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个月）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429500" y="3524250"/>
            <a:ext cx="3962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按产线标定阈值、接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PLC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与报警、上位机接入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MES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，同时采集难例回流训练集。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219950" y="4657725"/>
            <a:ext cx="4171950" cy="9525"/>
          </a:xfrm>
          <a:prstGeom prst="rect">
            <a:avLst/>
          </a:prstGeom>
          <a:solidFill>
            <a:srgbClr val="E6ECF3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7219950" y="5219700"/>
            <a:ext cx="57150" cy="6286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429500" y="5219700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第三步</a:t>
            </a:r>
            <a:r>
              <a:rPr lang="en-US" sz="1500" b="1">
                <a:solidFill>
                  <a:srgbClr val="0B1C3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B1C33"/>
                </a:solidFill>
                <a:latin typeface="Microsoft YaHei"/>
                <a:ea typeface="Microsoft YaHei"/>
              </a:rPr>
              <a:t>规模复制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429500" y="5505450"/>
            <a:ext cx="3962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模型可换（换数据重训即迁移），硬件即插即用，上位机复用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63" b="1">
                <a:solidFill>
                  <a:srgbClr val="FF7A18"/>
                </a:solidFill>
                <a:latin typeface="Microsoft YaHei"/>
                <a:ea typeface="Microsoft YaHei"/>
              </a:rPr>
              <a:t>边际成本主要是数据标注，不是研发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2" name="" descr="&lt;Slide style={{ width: 1280, height: 720, position: 'relative', background: '#FFFFFF', overflow: 'hidden' }}&gt;&#10;&#10;    {/* A 区 */}&#10;    &lt;Box style={{ position: 'absolute', top: 0, left: 0, width: 1280, height: 120, paddingLeft: 84, paddingTop: 40, flexDirection: 'row', alignItems: 'center', gap: 16 }}&gt;&#10;        &lt;Box style={{ width: 5, height: 36, background: '#0B3D91' }} /&gt;&#10;        &lt;Text style={{ fontSize: 36, fontWeight: 'bold', color: '#0B1C33' }}&gt;换一个行业，要动的只有三样&lt;/Text&gt;&#10;    &lt;/Box&gt;&#10;&#10;    {/* B 区 左 58% / 右 42% */}&#10;    &lt;Box style={{ position: 'absolute', top: 132, left: 84, width: 1112, height: 506, flexDirection: 'row', gap: 30 }}&gt;&#10;&#10;        {/* 左 58%：迁移矩阵 SVG */}&#10;        &lt;Box style={{ width: 645, height: 506, background: '#F4F7FB', border: '1px solid #E1E9F2', borderRadius: 14, padding: 26, flexDirection: 'column' }}&gt;&#10;            &lt;Text style={{ fontSize: 15, fontWeight: 'bold', color: '#0B3D91', letterSpacing: 2 }}&gt;迁移改造矩阵&lt;/Text&gt;&#10;            &lt;svg width={593} height={420} viewBox='0 0 593 420' style={{ marginTop: 12 }}&gt;&#10;                {/* 表头 */}&#10;                &lt;rect x='0' y='0' width='200' height='44' rx='8' fill='#0B3D91' /&gt;&#10;                &lt;text x='100' y='28' fontSize='15' fontWeight='bold' fill='#FFFFFF' textAnchor='middle' fontFamily='Inter, sans-serif'&gt;改造项&lt;/text&gt;&#10;                &lt;rect x='210' y='0' width='168' height='44' rx='8' fill='#0A52A8' /&gt;&#10;                &lt;text x='294' y='28' fontSize='14' fontWeight='bold' fill='#FFFFFF' textAnchor='middle'&gt;钢铁（已做）&lt;/text&gt;&#10;                &lt;rect x='388' y='0' width='205' height='44' rx='8' fill='#FF7A18' /&gt;&#10;                &lt;text x='490' y='28' fontSize='14' fontWeight='bold' fill='#FFFFFF' textAnchor='middle'&gt;新行业（迁移）&lt;/text&gt;&#10;&#10;                {/* 行 1：数据集 */}&#10;                &lt;rect x='0' y='56' width='200' height='104' rx='8' fill='#FFFFFF' stroke='#E1E9F2' /&gt;&#10;                &lt;text x='100' y='92' fontSize='15' fontWeight='bold' fill='#0B1C33' textAnchor='middle'&gt;① 换数据集&lt;/text&gt;&#10;                &lt;text x='100' y='118' fontSize='12.5' fill='#7A8899' textAnchor='middle'&gt;标注新品类图片&lt;/text&gt;&#10;                &lt;text x='100' y='138' fontSize='12.5' fill='#7A8899' textAnchor='middle'&gt;YOLO 格式&lt;/text&gt;&#10;                &lt;rect x='210' y='56' width='168' height='104' rx='8' fill='#EAF1FA' stroke='#CFE0F2' /&gt;&#10;                &lt;text x='294' y='102' fontSize='14' fill='#0B3D91' textAnchor='middle' fontWeight='bold'&gt;25689 图就绪&lt;/text&gt;&#10;                &lt;text x='294' y='128' fontSize='12.5' fill='#5C6E82' textAnchor='middle'&gt;已验证可用&lt;/text&gt;&#10;                &lt;rect x='388' y='56' width='205' height='104' rx='8' fill='#FFF3E9' stroke='#FBD9BC' /&gt;&#10;                &lt;text x='490' y='102' fontSize='14' fill='#C46A1E' textAnchor='middle' fontWeight='bold'&gt;采集 + 标注&lt;/text&gt;&#10;                &lt;text x='490' y='128' fontSize='12.5' fill='#8A6A50' textAnchor='middle'&gt;主要工作量所在&lt;/text&gt;&#10;&#10;                {/* 行 2：阈值 */}&#10;                &lt;rect x='0' y='172' width='200' height='104' rx='8' fill='#FFFFFF' stroke='#E1E9F2' /&gt;&#10;                &lt;text x='100' y='208' fontSize='15' fontWeight='bold' fill='#0B1C33' textAnchor='middle'&gt;② 调阈值&lt;/text&gt;&#10;                &lt;text x='100' y='234' fontSize='12.5' fill='#7A8899' textAnchor='middle'&gt;cal 集扫置信度&lt;/text&gt;&#10;                &lt;text x='100' y='254' fontSize='12.5' fill='#7A8899' textAnchor='middle'&gt;per-class 标定&lt;/text&gt;&#10;                &lt;rect x='210' y='172' width='168' height='104' rx='8' fill='#EAF1FA' stroke='#CFE0F2' /&gt;&#10;                &lt;text x='294' y='218' fontSize='14' fill='#0B3D91' textAnchor='middle' fontWeight='bold'&gt;流水线已支持&lt;/text&gt;&#10;                &lt;text x='294' y='244' fontSize='12.5' fill='#5C6E82' textAnchor='middle'&gt;脚本可复用&lt;/text&gt;&#10;                &lt;rect x='388' y='172' width='205' height='104' rx='8' fill='#FFF3E9' stroke='#FBD9BC' /&gt;&#10;                &lt;text x='490' y='218' fontSize='14' fill='#C46A1E' textAnchor='middle' fontWeight='bold'&gt;重扫一轮&lt;/text&gt;&#10;                &lt;text x='490' y='244' fontSize='12.5' fill='#8A6A50' textAnchor='middle'&gt;约 1 天&lt;/text&gt;&#10;&#10;                {/* 行 3：现场 */}&#10;                &lt;rect x='0' y='288' width='200' height='104' rx='8' fill='#FFFFFF' stroke='#E1E9F2' /&gt;&#10;                &lt;text x='100' y='324' fontSize='15' fontWeight='bold' fill='#0B1C33' textAnchor='middle'&gt;③ 接现场&lt;/text&gt;&#10;                &lt;text x='100' y='350' fontSize='12.5' fill='#7A8899' textAnchor='middle'&gt;相机取流 / 触发&lt;/text&gt;&#10;                &lt;text x='100' y='370' fontSize='12.5' fill='#7A8899' textAnchor='middle'&gt;PLC / IO 信号&lt;/text&gt;&#10;                &lt;rect x='210' y='288' width='168' height='104' rx='8' fill='#EAF1FA' stroke='#CFE0F2' /&gt;&#10;                &lt;text x='294' y='334' fontSize='14' fill='#0B3D91' textAnchor='middle' fontWeight='bold'&gt;硬件已就绪&lt;/text&gt;&#10;                &lt;text x='294' y='360' fontSize='12.5' fill='#5C6E82' textAnchor='middle'&gt;接口可复用&lt;/text&gt;&#10;                &lt;rect x='388' y='288' width='205' height='104' rx='8' fill='#FFF3E9' stroke='#FBD9BC' /&gt;&#10;                &lt;text x='490' y='334' fontSize='14' fill='#C46A1E' textAnchor='middle' fontWeight='bold'&gt;一次适配&lt;/text&gt;&#10;                &lt;text x='490' y='360' fontSize='12.5' fill='#8A6A50' textAnchor='middle'&gt;硬件侧改动&lt;/text&gt;&#10;            &lt;/svg&gt;&#10;        &lt;/Box&gt;&#10;&#10;        {/* 右 42% */}&#10;        &lt;Box style={{ width: 437, height: 506, flexDirection: 'column', justifyContent: 'space-between' }}&gt;&#10;            &lt;Box style={{ background: '#F4F7FB', border: '1px solid #E1E9F2', borderRadius: 12, padding: 22, flexDirection: 'column' }}&gt;&#10;                &lt;Text style={{ fontSize: 16, fontWeight: 'bold', color: '#0B3D91', letterSpacing: 1 }}&gt;要动的三样&lt;/Text&gt;&#10;                &lt;Text style={{ fontSize: 15.5, color: '#5C6E82', lineHeight: 1.7, marginTop: 10 }}&gt;&#10;                    ① 换数据集：采新品类图 + 标注，走既有训练/导出/转 RKNN 流水线。&lt;br /&gt;&#10;                    ② 调阈值：在 cal 集上扫 per-class 置信度。&lt;br /&gt;&#10;                    ③ 接现场：相机取流 + 触发方式 + PLC/IO 信号。&#10;                &lt;/Text&gt;&#10;            &lt;/Box&gt;&#10;&#10;            &lt;Box style={{ background: 'linear-gradient(120deg, #0B3D91 0%, #0A5BB5 100%)', borderRadius: 12, padding: 22, flexDirection: 'column' }}&gt;&#10;                &lt;Text style={{ fontSize: 16, fontWeight: 'bold', color: '#7FD4E8', letterSpacing: 1 }}&gt;不动的（平台化红利）&lt;/Text&gt;&#10;                &lt;Text style={{ fontSize: 16, color: '#E4EDF8', lineHeight: 1.7, marginTop: 10 }}&gt;&#10;                    模型结构、边缘推理服务、PyQt5 上位机 —— &lt;span style={{ color: '#FFFFFF', fontWeight: 'bold' }}&gt;全部复用，零改动&lt;/span&gt;。&#10;                &lt;/Text&gt;&#10;            &lt;/Box&gt;&#10;&#10;            &lt;Box style={{ flexDirection: 'row', alignItems: 'flex-end', gap: 18 }}&gt;&#10;                &lt;Text style={{ fontSize: 58, fontWeight: 'bold', color: '#FF7A18', lineHeight: 0.9 }}&gt;1&lt;/Text&gt;&#10;                &lt;Box style={{ flexDirection: 'column', paddingBottom: 6 }}&gt;&#10;                    &lt;Text style={{ fontSize: 17, fontWeight: 'bold', color: '#0B1C33' }}&gt;个新增行业的主要成本&lt;/Text&gt;&#10;                    &lt;Text style={{ fontSize: 14.5, color: '#5C6E82', marginTop: 3 }}&gt;= 数据采集与标注，而非重新研发&lt;/Text&gt;&#10;                &lt;/Box&gt;&#10;            &lt;/Box&gt;&#10;        &lt;/Box&gt;&#10;    &lt;/Box&gt;&#10;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12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800100" y="590550"/>
            <a:ext cx="47625" cy="342900"/>
          </a:xfrm>
          <a:prstGeom prst="rect">
            <a:avLst/>
          </a:prstGeom>
          <a:solidFill>
            <a:srgbClr val="0B3D91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00125" y="552450"/>
            <a:ext cx="44577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换一个行业，要动的只有三样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00100" y="1257300"/>
            <a:ext cx="6143625" cy="4819650"/>
          </a:xfrm>
          <a:prstGeom prst="roundRect">
            <a:avLst>
              <a:gd name="adj" fmla="val 276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47750" y="1504950"/>
            <a:ext cx="564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B3D91"/>
                </a:solidFill>
                <a:latin typeface="Microsoft YaHei"/>
                <a:ea typeface="Microsoft YaHei"/>
              </a:rPr>
              <a:t>迁移改造矩阵</a:t>
            </a:r>
            <a:endParaRPr/>
          </a:p>
        </p:txBody>
      </p:sp>
      <p:pic>
        <p:nvPicPr>
          <p:cNvPr id="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47750" y="1790700"/>
            <a:ext cx="5648325" cy="4000500"/>
          </a:xfrm>
          <a:prstGeom prst="rect">
            <a:avLst/>
          </a:prstGeom>
          <a:ln/>
        </p:spPr>
      </p:pic>
      <p:sp>
        <p:nvSpPr>
          <p:cNvPr id="99" name=""/>
          <p:cNvSpPr/>
          <p:nvPr/>
        </p:nvSpPr>
        <p:spPr>
          <a:xfrm rot="0" flipH="0" flipV="0">
            <a:off x="7229475" y="1257300"/>
            <a:ext cx="4162425" cy="1914525"/>
          </a:xfrm>
          <a:prstGeom prst="roundRect">
            <a:avLst>
              <a:gd name="adj" fmla="val 5970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439025" y="1466850"/>
            <a:ext cx="3743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B3D91"/>
                </a:solidFill>
                <a:latin typeface="Microsoft YaHei"/>
                <a:ea typeface="Microsoft YaHei"/>
              </a:rPr>
              <a:t>要动的三样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439025" y="1752600"/>
            <a:ext cx="3743325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换数据集：采新品类图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标注，走既有训练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导出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>/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转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RKNN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流水线。</a:t>
            </a:r>
            <a:endParaRPr/>
          </a:p>
          <a:p>
            <a:pPr>
              <a:lnSpc>
                <a:spcPct val="170000"/>
              </a:lnSpc>
            </a:pP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调阈值：在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cal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集上扫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per-class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置信度。</a:t>
            </a:r>
            <a:endParaRPr/>
          </a:p>
          <a:p>
            <a:pPr>
              <a:lnSpc>
                <a:spcPct val="170000"/>
              </a:lnSpc>
            </a:pP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接现场：相机取流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触发方式</a:t>
            </a:r>
            <a:r>
              <a:rPr lang="en-US" sz="1163">
                <a:solidFill>
                  <a:srgbClr val="5C6E82"/>
                </a:solidFill>
                <a:latin typeface="Microsoft YaHei"/>
                <a:ea typeface="Microsoft YaHei"/>
              </a:rPr>
              <a:t xml:space="preserve"> + PLC/IO </a:t>
            </a:r>
            <a:r>
              <a:rPr lang="zh-CN" sz="1163">
                <a:solidFill>
                  <a:srgbClr val="5C6E82"/>
                </a:solidFill>
                <a:latin typeface="Microsoft YaHei"/>
                <a:ea typeface="Microsoft YaHei"/>
              </a:rPr>
              <a:t>信号。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229475" y="3657600"/>
            <a:ext cx="4162425" cy="1333500"/>
          </a:xfrm>
          <a:prstGeom prst="roundRect">
            <a:avLst>
              <a:gd name="adj" fmla="val 8571"/>
            </a:avLst>
          </a:prstGeom>
          <a:gradFill>
            <a:gsLst>
              <a:gs pos="0">
                <a:srgbClr val="0B3D91"/>
              </a:gs>
              <a:gs pos="100000">
                <a:srgbClr val="0A5BB5"/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439025" y="3867150"/>
            <a:ext cx="3743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7FD4E8"/>
                </a:solidFill>
                <a:latin typeface="Microsoft YaHei"/>
                <a:ea typeface="Microsoft YaHei"/>
              </a:rPr>
              <a:t>不动的（平台化红利）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439025" y="4152900"/>
            <a:ext cx="3743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4EDF8"/>
                </a:solidFill>
                <a:latin typeface="Microsoft YaHei"/>
                <a:ea typeface="Microsoft YaHei"/>
              </a:rPr>
              <a:t>模型结构、边缘推理服务、</a:t>
            </a:r>
            <a:r>
              <a:rPr lang="en-US" sz="1200">
                <a:solidFill>
                  <a:srgbClr val="E4EDF8"/>
                </a:solidFill>
                <a:latin typeface="Microsoft YaHei"/>
                <a:ea typeface="Microsoft YaHei"/>
              </a:rPr>
              <a:t xml:space="preserve">PyQt5 </a:t>
            </a:r>
            <a:r>
              <a:rPr lang="zh-CN" sz="1200">
                <a:solidFill>
                  <a:srgbClr val="E4EDF8"/>
                </a:solidFill>
                <a:latin typeface="Microsoft YaHei"/>
                <a:ea typeface="Microsoft YaHei"/>
              </a:rPr>
              <a:t>上位机</a:t>
            </a:r>
            <a:r>
              <a:rPr lang="en-US" sz="1200">
                <a:solidFill>
                  <a:srgbClr val="E4EDF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全部复用，零改动</a:t>
            </a:r>
            <a:r>
              <a:rPr lang="zh-CN" sz="1200">
                <a:solidFill>
                  <a:srgbClr val="E4ED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229475" y="5476875"/>
            <a:ext cx="342900" cy="600075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4350" b="1">
                <a:solidFill>
                  <a:srgbClr val="FF7A1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743825" y="561975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Microsoft YaHei"/>
                <a:ea typeface="Microsoft YaHei"/>
              </a:rPr>
              <a:t>个新增行业的主要成本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743825" y="5848350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>
                <a:solidFill>
                  <a:srgbClr val="5C6E82"/>
                </a:solidFill>
                <a:latin typeface="Microsoft YaHei"/>
                <a:ea typeface="Microsoft YaHei"/>
              </a:rPr>
              <a:t xml:space="preserve">= </a:t>
            </a:r>
            <a:r>
              <a:rPr lang="zh-CN" sz="1088">
                <a:solidFill>
                  <a:srgbClr val="5C6E82"/>
                </a:solidFill>
                <a:latin typeface="Microsoft YaHei"/>
                <a:ea typeface="Microsoft YaHei"/>
              </a:rPr>
              <a:t>数据采集与标注，而非重新研发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0" name="" descr="&lt;Slide style={{ width: 1280, height: 720, position: 'relative', background: '#FFFFFF', overflow: 'hidden' }}&gt;&#10;&#10;    {/* A 区 */}&#10;    &lt;Box style={{ position: 'absolute', top: 0, left: 0, width: 1280, height: 120, paddingLeft: 84, paddingTop: 40, flexDirection: 'row', alignItems: 'center', gap: 16 }}&gt;&#10;        &lt;Box style={{ width: 5, height: 36, background: '#FF7A18' }} /&gt;&#10;        &lt;Text style={{ fontSize: 36, fontWeight: 'bold', color: '#0B1C33' }}&gt;还差什么，下一步做什么&lt;/Text&gt;&#10;    &lt;/Box&gt;&#10;&#10;    {/* B 区 65:35 */}&#10;    &lt;Box style={{ position: 'absolute', top: 132, left: 84, width: 1112, height: 506, flexDirection: 'row', gap: 26 }}&gt;&#10;&#10;        {/* 左 65%：遗留问题 */}&#10;        &lt;Box style={{ width: 706, height: 506, background: '#F4F7FB', border: '1px solid #E1E9F2', borderRadius: 14, padding: 26, flexDirection: 'column', justifyContent: 'space-between' }}&gt;&#10;            &lt;Box style={{ flexDirection: 'row', alignItems: 'center', gap: 12 }}&gt;&#10;                &lt;FAIcon name='exclamation-triangle' style={{ fill: '#FF7A18', width: 26, height: 26 }} /&gt;&#10;                &lt;Text style={{ fontSize: 21, fontWeight: 'bold', color: '#0B1C33' }}&gt;遗留问题（如实列出）&lt;/Text&gt;&#10;            &lt;/Box&gt;&#10;&#10;            &lt;Box style={{ flexDirection: 'row', gap: 16, alignItems: 'flex-start' }}&gt;&#10;                &lt;Text style={{ fontSize: 15, fontWeight: 'bold', color: '#FF7A18', width: 26, paddingTop: 2 }}&gt;①&lt;/Text&gt;&#10;                &lt;Box style={{ flexDirection: 'column', flex: 1 }}&gt;&#10;                    &lt;Text style={{ fontSize: 17, fontWeight: 'bold', color: '#0B1C33' }}&gt;背景误报未压制&lt;/Text&gt;&#10;                    &lt;Text style={{ fontSize: 15, color: '#5C6E82', lineHeight: 1.55, marginTop: 4 }}&gt;&#10;                        inclusion / bright_scratch 存在背景误报（FP 623 / 328），39 类 per-class 阈值尚未标定。&#10;                    &lt;/Text&gt;&#10;                &lt;/Box&gt;&#10;            &lt;/Box&gt;&#10;&#10;            &lt;Box style={{ height: 1, background: '#E3EAF2' }} /&gt;&#10;&#10;            &lt;Box style={{ flexDirection: 'row', gap: 16, alignItems: 'flex-start' }}&gt;&#10;                &lt;Text style={{ fontSize: 15, fontWeight: 'bold', color: '#FF7A18', width: 26, paddingTop: 2 }}&gt;②&lt;/Text&gt;&#10;                &lt;Box style={{ flexDirection: 'column', flex: 1 }}&gt;&#10;                    &lt;Text style={{ fontSize: 17, fontWeight: 'bold', color: '#0B1C33' }}&gt;弱类召回偏低&lt;/Text&gt;&#10;                    &lt;Text style={{ fontSize: 15, color: '#5C6E82', lineHeight: 1.55, marginTop: 4 }}&gt;&#10;                        waist_folding / crease / warp 三类 F1 低于 0.5，属模型特征问题，需换数据源而非调参。&#10;                    &lt;/Text&gt;&#10;                &lt;/Box&gt;&#10;            &lt;/Box&gt;&#10;&#10;            &lt;Box style={{ height: 1, background: '#E3EAF2' }} /&gt;&#10;&#10;            &lt;Box style={{ flexDirection: 'row', gap: 16, alignItems: 'flex-start' }}&gt;&#10;                &lt;Text style={{ fontSize: 15, fontWeight: 'bold', color: '#FF7A18', width: 26, paddingTop: 2 }}&gt;③&lt;/Text&gt;&#10;                &lt;Box style={{ flexDirection: 'column', flex: 1 }}&gt;&#10;                    &lt;Text style={{ fontSize: 17, fontWeight: 'bold', color: '#0B1C33' }}&gt;负样本误检未实测&lt;/Text&gt;&#10;                    &lt;Text style={{ fontSize: 15, color: '#5C6E82', lineHeight: 1.55, marginTop: 4 }}&gt;&#10;                        39 类模型无负样本级联保护，干净样本上的板端误检率尚未实测（建议补 DAGM 类工况测试）。&#10;                    &lt;/Text&gt;&#10;                &lt;/Box&gt;&#10;            &lt;/Box&gt;&#10;&#10;            &lt;Box style={{ height: 1, background: '#E3EAF2' }} /&gt;&#10;&#10;            &lt;Box style={{ flexDirection: 'row', gap: 16, alignItems: 'flex-start' }}&gt;&#10;                &lt;Text style={{ fontSize: 15, fontWeight: 'bold', color: '#FF7A18', width: 26, paddingTop: 2 }}&gt;④&lt;/Text&gt;&#10;                &lt;Box style={{ flexDirection: 'column', flex: 1 }}&gt;&#10;                    &lt;Text style={{ fontSize: 17, fontWeight: 'bold', color: '#0B1C33' }}&gt;文档口径滞后&lt;/Text&gt;&#10;                    &lt;Text style={{ fontSize: 15, color: '#5C6E82', lineHeight: 1.55, marginTop: 4 }}&gt;&#10;                        板端 README 仍按旧&quot;双模型级联 6 类&quot;描述，需同步为 39 类单模型口径。&#10;                    &lt;/Text&gt;&#10;                &lt;/Box&gt;&#10;            &lt;/Box&gt;&#10;        &lt;/Box&gt;&#10;&#10;        {/* 右 35%：下一步 */}&#10;        &lt;Box style={{ width: 380, height: 506, background: 'linear-gradient(150deg, #0B3D91 0%, #06224E 100%)', borderRadius: 14, padding: 26, flexDirection: 'column', justifyContent: 'space-between' }}&gt;&#10;            &lt;Box style={{ flexDirection: 'row', alignItems: 'center', gap: 12 }}&gt;&#10;                &lt;FAIcon name='rocket' style={{ fill: '#00B4D8', width: 26, height: 26 }} /&gt;&#10;                &lt;Text style={{ fontSize: 21, fontWeight: 'bold', color: '#FFFFFF' }}&gt;下一步行动&lt;/Text&gt;&#10;            &lt;/Box&gt;&#10;&#10;            &lt;Box style={{ flexDirection: 'column', gap: 16 }}&gt;&#10;                &lt;Box style={{ flexDirection: 'row', gap: 12, alignItems: 'flex-start' }}&gt;&#10;                    &lt;Box style={{ width: 6, height: 6, borderRadius: 3, background: '#00B4D8', marginTop: 8 }} /&gt;&#10;                    &lt;Text style={{ fontSize: 15.5, color: '#DCE8F7', lineHeight: 1.55, flex: 1 }}&gt;39 类 cal 阈值标定，压制背景误报&lt;/Text&gt;&#10;                &lt;/Box&gt;&#10;                &lt;Box style={{ flexDirection: 'row', gap: 12, alignItems: 'flex-start' }}&gt;&#10;                    &lt;Box style={{ width: 6, height: 6, borderRadius: 3, background: '#00B4D8', marginTop: 8 }} /&gt;&#10;                    &lt;Text style={{ fontSize: 15.5, color: '#DCE8F7', lineHeight: 1.55, flex: 1 }}&gt;补负样本误检实测，量化域外泛化&lt;/Text&gt;&#10;                &lt;/Box&gt;&#10;                &lt;Box style={{ flexDirection: 'row', gap: 12, alignItems: 'flex-start' }}&gt;&#10;                    &lt;Box style={{ width: 6, height: 6, borderRadius: 3, background: '#00B4D8', marginTop: 8 }} /&gt;&#10;                    &lt;Text style={{ fontSize: 15.5, color: '#DCE8F7', lineHeight: 1.55, flex: 1 }}&gt;论文补负样本消融 + 应用场景章节&lt;/Text&gt;&#10;                &lt;/Box&gt;&#10;                &lt;Box style={{ flexDirection: 'row', gap: 12, alignItems: 'flex-start' }}&gt;&#10;                    &lt;Box style={{ width: 6, height: 6, borderRadius: 3, background: '#FF7A18', marginTop: 8 }} /&gt;&#10;                    &lt;Text style={{ fontSize: 15.5, color: '#FFFFFF', lineHeight: 1.55, flex: 1, fontWeight: 'bold' }}&gt;真实产线实拍验证（PoC 试跑）&lt;/Text&gt;&#10;                &lt;/Box&gt;&#10;            &lt;/Box&gt;&#10;&#10;            &lt;Box style={{ borderTop: '1px solid rgba(255,255,255,0.18)', paddingTop: 16, flexDirection: 'row', alignItems: 'flex-end', gap: 10 }}&gt;&#10;                &lt;Text style={{ fontSize: 42, fontWeight: 'bold', color: '#FF7A18', lineHeight: 0.9 }}&gt;4&lt;/Text&gt;&#10;                &lt;Text style={{ fontSize: 15, color: '#A9C2E0', paddingBottom: 4 }}&gt;项行动已排期&lt;/Text&gt;&#10;            &lt;/Box&gt;&#10;        &lt;/Box&gt;&#10;    &lt;/Box&gt;&#10;&#10;    &lt;Box style={{ position: 'absolute', left: 84, bottom: 22, width: 1112, flexDirection: 'row', justifyContent: 'space-between' }}&gt;&#10;        &lt;Text style={{ fontSize: 14, color: '#9AA9B8' }}&gt;工业表面缺陷检测系统 · 开发进度汇报&lt;/Text&gt;&#10;        &lt;Text style={{ fontSize: 14, color: '#9AA9B8' }}&gt;13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800100" y="590550"/>
            <a:ext cx="47625" cy="342900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00125" y="55245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C33"/>
                </a:solidFill>
                <a:latin typeface="Microsoft YaHei"/>
                <a:ea typeface="Microsoft YaHei"/>
              </a:rPr>
              <a:t>还差什么，下一步做什么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00100" y="1257300"/>
            <a:ext cx="6724650" cy="4819650"/>
          </a:xfrm>
          <a:prstGeom prst="roundRect">
            <a:avLst>
              <a:gd name="adj" fmla="val 276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  <p:txBody>
          <a:bodyPr/>
          <a:p/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47750" y="1504950"/>
            <a:ext cx="247650" cy="24765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409700" y="150495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C33"/>
                </a:solidFill>
                <a:latin typeface="Microsoft YaHei"/>
                <a:ea typeface="Microsoft YaHei"/>
              </a:rPr>
              <a:t>遗留问题（如实列出）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47750" y="1962150"/>
            <a:ext cx="247650" cy="19050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7A1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447800" y="196215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Microsoft YaHei"/>
                <a:ea typeface="Microsoft YaHei"/>
              </a:rPr>
              <a:t>背景误报未压制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447800" y="2200275"/>
            <a:ext cx="5829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inclusion / bright_scratch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存在背景误报（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>FP 623 / 328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），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类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 per-class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阈值尚未标定。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1047750" y="2952750"/>
            <a:ext cx="62293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47750" y="3171825"/>
            <a:ext cx="247650" cy="19050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7A1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447800" y="3171825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Microsoft YaHei"/>
                <a:ea typeface="Microsoft YaHei"/>
              </a:rPr>
              <a:t>弱类召回偏低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447800" y="3409950"/>
            <a:ext cx="5829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waist_folding / crease / warp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三类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 F1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低于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 0.5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，属模型特征问题，需换数据源而非调参。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1047750" y="3895725"/>
            <a:ext cx="62293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47750" y="4114800"/>
            <a:ext cx="247650" cy="19050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7A1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447800" y="4114800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Microsoft YaHei"/>
                <a:ea typeface="Microsoft YaHei"/>
              </a:rPr>
              <a:t>负样本误检未实测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447800" y="4352925"/>
            <a:ext cx="5829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类模型无负样本级联保护，干净样本上的板端误检率尚未实测（建议补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 DAGM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类工况测试）。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1047750" y="5105400"/>
            <a:ext cx="62293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47750" y="5324475"/>
            <a:ext cx="247650" cy="19050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7A1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447800" y="5324475"/>
            <a:ext cx="582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C33"/>
                </a:solidFill>
                <a:latin typeface="Microsoft YaHei"/>
                <a:ea typeface="Microsoft YaHei"/>
              </a:rPr>
              <a:t>文档口径滞后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447800" y="5562600"/>
            <a:ext cx="5829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板端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 README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仍按旧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双模型级联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类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描述，需同步为</a:t>
            </a:r>
            <a:r>
              <a:rPr lang="en-US" sz="1125">
                <a:solidFill>
                  <a:srgbClr val="5C6E82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125">
                <a:solidFill>
                  <a:srgbClr val="5C6E82"/>
                </a:solidFill>
                <a:latin typeface="Microsoft YaHei"/>
                <a:ea typeface="Microsoft YaHei"/>
              </a:rPr>
              <a:t>类单模型口径。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772400" y="1257300"/>
            <a:ext cx="3619500" cy="4819650"/>
          </a:xfrm>
          <a:prstGeom prst="roundRect">
            <a:avLst>
              <a:gd name="adj" fmla="val 3684"/>
            </a:avLst>
          </a:prstGeom>
          <a:gradFill>
            <a:gsLst>
              <a:gs pos="0">
                <a:srgbClr val="0B3D91"/>
              </a:gs>
              <a:gs pos="100000">
                <a:srgbClr val="06224E"/>
              </a:gs>
            </a:gsLst>
            <a:lin ang="3600000" scaled="1"/>
          </a:gra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20050" y="1504950"/>
            <a:ext cx="247650" cy="2476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0" y="1504950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下一步行动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020050" y="2790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191500" y="2714625"/>
            <a:ext cx="29527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63">
                <a:solidFill>
                  <a:srgbClr val="DCE8F7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163">
                <a:solidFill>
                  <a:srgbClr val="DCE8F7"/>
                </a:solidFill>
                <a:latin typeface="Microsoft YaHei"/>
                <a:ea typeface="Microsoft YaHei"/>
              </a:rPr>
              <a:t>类</a:t>
            </a:r>
            <a:r>
              <a:rPr lang="en-US" sz="1163">
                <a:solidFill>
                  <a:srgbClr val="DCE8F7"/>
                </a:solidFill>
                <a:latin typeface="Microsoft YaHei"/>
                <a:ea typeface="Microsoft YaHei"/>
              </a:rPr>
              <a:t xml:space="preserve"> cal </a:t>
            </a:r>
            <a:r>
              <a:rPr lang="zh-CN" sz="1163">
                <a:solidFill>
                  <a:srgbClr val="DCE8F7"/>
                </a:solidFill>
                <a:latin typeface="Microsoft YaHei"/>
                <a:ea typeface="Microsoft YaHei"/>
              </a:rPr>
              <a:t>阈值标定，压制背景误报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020050" y="3219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191500" y="3143250"/>
            <a:ext cx="29527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DCE8F7"/>
                </a:solidFill>
                <a:latin typeface="Microsoft YaHei"/>
                <a:ea typeface="Microsoft YaHei"/>
              </a:rPr>
              <a:t>补负样本误检实测，量化域外泛化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020050" y="36480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191500" y="3571875"/>
            <a:ext cx="29527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DCE8F7"/>
                </a:solidFill>
                <a:latin typeface="Microsoft YaHei"/>
                <a:ea typeface="Microsoft YaHei"/>
              </a:rPr>
              <a:t>论文补负样本消融</a:t>
            </a:r>
            <a:r>
              <a:rPr lang="en-US" sz="1163">
                <a:solidFill>
                  <a:srgbClr val="DCE8F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DCE8F7"/>
                </a:solidFill>
                <a:latin typeface="Microsoft YaHei"/>
                <a:ea typeface="Microsoft YaHei"/>
              </a:rPr>
              <a:t>应用场景章节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020050" y="40767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191500" y="4000500"/>
            <a:ext cx="29527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 b="1">
                <a:solidFill>
                  <a:srgbClr val="FFFFFF"/>
                </a:solidFill>
                <a:latin typeface="Microsoft YaHei"/>
                <a:ea typeface="Microsoft YaHei"/>
              </a:rPr>
              <a:t>真实产线实拍验证（</a:t>
            </a: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PoC </a:t>
            </a:r>
            <a:r>
              <a:rPr lang="zh-CN" sz="1163" b="1">
                <a:solidFill>
                  <a:srgbClr val="FFFFFF"/>
                </a:solidFill>
                <a:latin typeface="Microsoft YaHei"/>
                <a:ea typeface="Microsoft YaHei"/>
              </a:rPr>
              <a:t>试跑）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020050" y="5229225"/>
            <a:ext cx="3124200" cy="609600"/>
          </a:xfrm>
          <a:custGeom>
            <a:pathLst>
              <a:path w="328" h="64">
                <a:moveTo>
                  <a:pt x="0" y="0"/>
                </a:moveTo>
                <a:lnTo>
                  <a:pt x="328" y="0"/>
                </a:lnTo>
                <a:lnTo>
                  <a:pt x="3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020050" y="5391150"/>
            <a:ext cx="247650" cy="4381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3150" b="1">
                <a:solidFill>
                  <a:srgbClr val="FF7A1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62950" y="5619750"/>
            <a:ext cx="857250" cy="209550"/>
          </a:xfrm>
          <a:prstGeom prst="rect"/>
        </p:spPr>
        <p:txBody>
          <a:bodyPr wrap="none" lIns="0" tIns="0" rIns="0" bIns="28575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C2E0"/>
                </a:solidFill>
                <a:latin typeface="Microsoft YaHei"/>
                <a:ea typeface="Microsoft YaHei"/>
              </a:rPr>
              <a:t>项行动已排期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00100" y="648652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工业表面缺陷检测系统</a:t>
            </a: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AA9B8"/>
                </a:solidFill>
                <a:latin typeface="Microsoft YaHei"/>
                <a:ea typeface="Microsoft YaHei"/>
              </a:rPr>
              <a:t>开发进度汇报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934700" y="6486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AA9B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8" name="" descr="&lt;Slide style={{ width: 1280, height: 720, position: 'relative', background: '#061428', overflow: 'hidden' }}&gt;&#10;&#10;    &lt;svg width={1280} height={720} viewBox='0 0 1280 720' style={{ position: 'absolute', top: 0, left: 0 }}&gt;&#10;        &lt;defs&gt;&#10;            &lt;linearGradient id='q14bg' x1='0' y1='0' x2='1' y2='1'&gt;&#10;                &lt;stop offset='0%' stopColor='#0A2C68' /&gt;&#10;                &lt;stop offset='50%' stopColor='#08265A' /&gt;&#10;                &lt;stop offset='100%' stopColor='#061428' /&gt;&#10;            &lt;/linearGradient&gt;&#10;            &lt;radialGradient id='q14g' cx='0.5' cy='0.46' r='0.55'&gt;&#10;                &lt;stop offset='0%' stopColor='#00B4D8' stopOpacity='0.28' /&gt;&#10;                &lt;stop offset='100%' stopColor='#00B4D8' stopOpacity='0' /&gt;&#10;            &lt;/radialGradient&gt;&#10;            &lt;linearGradient id='q14line' x1='0' y1='0' x2='1' y2='0'&gt;&#10;                &lt;stop offset='0%' stopColor='#FF7A18' stopOpacity='0' /&gt;&#10;                &lt;stop offset='50%' stopColor='#00B4D8' stopOpacity='0.9' /&gt;&#10;                &lt;stop offset='100%' stopColor='#FF7A18' stopOpacity='0' /&gt;&#10;            &lt;/linearGradient&gt;&#10;        &lt;/defs&gt;&#10;        &lt;rect x='0' y='0' width='1280' height='720' fill='url(#q14bg)' /&gt;&#10;        &lt;rect x='0' y='0' width='1280' height='720' fill='url(#q14g)' /&gt;&#10;        {/* 光带 */}&#10;        &lt;rect x='0' y='196' width='1280' height='2' fill='url(#q14line)' opacity='0.5' /&gt;&#10;        &lt;rect x='0' y='524' width='1280' height='2' fill='url(#q14line)' opacity='0.5' /&gt;&#10;        {/* 巨型 39 水印 */}&#10;        &lt;text x='640' y='470' fontSize='460' fontWeight='bold' fill='#FFFFFF' fillOpacity='0.04' textAnchor='middle' fontFamily='Inter, sans-serif'&gt;39&lt;/text&gt;&#10;        &lt;rect x='0' y='712' width='1280' height='8' fill='#FF7A18' /&gt;&#10;        &lt;rect x='440' y='712' width='400' height='8' fill='#00B4D8' /&gt;&#10;    &lt;/svg&gt;&#10;&#10;    &lt;Box style={{ position: 'absolute', top: 0, left: 0, width: 1280, height: 720, flexDirection: 'column', alignItems: 'center', justifyContent: 'center', paddingLeft: 120, paddingRight: 120 }}&gt;&#10;&#10;        &lt;Text style={{ fontSize: 61, fontWeight: 'bold', color: '#FFFFFF', lineHeight: 1.25, textAlign: 'center', letterSpacing: 2 }}&gt;&#10;            让每一条产线都看得见缺陷&#10;        &lt;/Text&gt;&#10;&#10;        &lt;Box style={{ width: 90, height: 4, background: '#00B4D8', marginTop: 34, marginBottom: 34 }} /&gt;&#10;&#10;        &lt;Text style={{ fontSize: 21, color: '#A9C2E0', textAlign: 'center', lineHeight: 1.7 }}&gt;&#10;            39 类缺陷覆盖 · 128ms 单帧推理 · 3.0s 断流自愈&#10;        &lt;/Text&gt;&#10;&#10;        &lt;Box style={{ flexDirection: 'row', alignItems: 'center', gap: 12, marginTop: 40 }}&gt;&#10;            &lt;Box style={{ width: 40, height: 3, background: '#FF7A18' }} /&gt;&#10;            &lt;Text style={{ fontSize: 17, color: '#8FAED0', letterSpacing: 2 }}&gt;缺陷检测项目组 · 2026-10&lt;/Text&gt;&#10;            &lt;Box style={{ width: 40, height: 3, background: '#FF7A18' }} /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495550" y="2152650"/>
            <a:ext cx="7200900" cy="8763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575" b="1" spc="150">
                <a:solidFill>
                  <a:srgbClr val="FFFFFF"/>
                </a:solidFill>
                <a:latin typeface="Microsoft YaHei"/>
                <a:ea typeface="Microsoft YaHei"/>
              </a:rPr>
              <a:t>让每一条产线都看得见缺陷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667375" y="3352800"/>
            <a:ext cx="857250" cy="381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924300" y="3714750"/>
            <a:ext cx="4352925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en-US" sz="1575">
                <a:solidFill>
                  <a:srgbClr val="A9C2E0"/>
                </a:solidFill>
                <a:latin typeface="Microsoft YaHei"/>
                <a:ea typeface="Microsoft YaHei"/>
              </a:rPr>
              <a:t xml:space="preserve">39 </a:t>
            </a:r>
            <a:r>
              <a:rPr lang="zh-CN" sz="1575">
                <a:solidFill>
                  <a:srgbClr val="A9C2E0"/>
                </a:solidFill>
                <a:latin typeface="Microsoft YaHei"/>
                <a:ea typeface="Microsoft YaHei"/>
              </a:rPr>
              <a:t>类缺陷覆盖</a:t>
            </a:r>
            <a:r>
              <a:rPr lang="en-US" sz="1575">
                <a:solidFill>
                  <a:srgbClr val="A9C2E0"/>
                </a:solidFill>
                <a:latin typeface="Microsoft YaHei"/>
                <a:ea typeface="Microsoft YaHei"/>
              </a:rPr>
              <a:t xml:space="preserve"> · 128ms </a:t>
            </a:r>
            <a:r>
              <a:rPr lang="zh-CN" sz="1575">
                <a:solidFill>
                  <a:srgbClr val="A9C2E0"/>
                </a:solidFill>
                <a:latin typeface="Microsoft YaHei"/>
                <a:ea typeface="Microsoft YaHei"/>
              </a:rPr>
              <a:t>单帧推理</a:t>
            </a:r>
            <a:r>
              <a:rPr lang="en-US" sz="1575">
                <a:solidFill>
                  <a:srgbClr val="A9C2E0"/>
                </a:solidFill>
                <a:latin typeface="Microsoft YaHei"/>
                <a:ea typeface="Microsoft YaHei"/>
              </a:rPr>
              <a:t xml:space="preserve"> · 3.0s </a:t>
            </a:r>
            <a:r>
              <a:rPr lang="zh-CN" sz="1575">
                <a:solidFill>
                  <a:srgbClr val="A9C2E0"/>
                </a:solidFill>
                <a:latin typeface="Microsoft YaHei"/>
                <a:ea typeface="Microsoft YaHei"/>
              </a:rPr>
              <a:t>断流自愈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486275" y="4591050"/>
            <a:ext cx="381000" cy="28575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981575" y="450532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150">
                <a:solidFill>
                  <a:srgbClr val="8FAED0"/>
                </a:solidFill>
                <a:latin typeface="Microsoft YaHei"/>
                <a:ea typeface="Microsoft YaHei"/>
              </a:rPr>
              <a:t>缺陷检测项目组</a:t>
            </a:r>
            <a:r>
              <a:rPr lang="en-US" sz="1275" spc="150">
                <a:solidFill>
                  <a:srgbClr val="8FAED0"/>
                </a:solidFill>
                <a:latin typeface="Microsoft YaHei"/>
                <a:ea typeface="Microsoft YaHei"/>
              </a:rPr>
              <a:t xml:space="preserve"> · 2026-10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334250" y="4591050"/>
            <a:ext cx="381000" cy="28575"/>
          </a:xfrm>
          <a:prstGeom prst="rect">
            <a:avLst/>
          </a:prstGeom>
          <a:solidFill>
            <a:srgbClr val="FF7A18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2026-10-09T16:13:24Z</dcterms:created>
  <dcterms:modified xsi:type="dcterms:W3CDTF">2026-10-09T16:13:24Z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{"AIGC":{"Label":"1","ContentProducer":"00119111010856365494821B355","ProduceID":"01a11fb177cb7f288a4c77d28d059c24","ReservedCode1":"","ContentPropagator":"00119111010856365494821B355","PropagateID":"01a11fb177cb7f288a4c77d28d059c24","ReservedCode2":""}}</vt:lpwstr>
  </property>
</Properties>
</file>