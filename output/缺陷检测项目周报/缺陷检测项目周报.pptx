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7" Type="http://schemas.openxmlformats.org/officeDocument/2006/relationships/tableStyles" Target="tableStyles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B1C33"/>
                </a:solidFill>
              </a:defRPr>
            </a:pPr>
            <a:r>
              <a:rPr sz="1350">
                <a:solidFill>
                  <a:srgbClr val="0B1C33"/>
                </a:solidFill>
              </a:rPr>
              <a:t>新 val 中样本最少的 8 个类（框数）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B1C33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新 val 框数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8"/>
                <c:pt idx="0">
                  <c:v>oxide_scale_plate</c:v>
                </c:pt>
                <c:pt idx="1">
                  <c:v>striated_scale</c:v>
                </c:pt>
                <c:pt idx="2">
                  <c:v>blocky_scale</c:v>
                </c:pt>
                <c:pt idx="3">
                  <c:v>external_fold</c:v>
                </c:pt>
                <c:pt idx="4">
                  <c:v>iron_scale_compression</c:v>
                </c:pt>
                <c:pt idx="5">
                  <c:v>cutting_opening</c:v>
                </c:pt>
                <c:pt idx="6">
                  <c:v>longitudinal_crack</c:v>
                </c:pt>
                <c:pt idx="7">
                  <c:v>water_slag_mark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32</c:v>
                </c:pt>
                <c:pt idx="1">
                  <c:v>60</c:v>
                </c:pt>
                <c:pt idx="2">
                  <c:v>62</c:v>
                </c:pt>
                <c:pt idx="3">
                  <c:v>64</c:v>
                </c:pt>
                <c:pt idx="4">
                  <c:v>65</c:v>
                </c:pt>
                <c:pt idx="5">
                  <c:v>66</c:v>
                </c:pt>
                <c:pt idx="6">
                  <c:v>66</c:v>
                </c:pt>
                <c:pt idx="7">
                  <c:v>67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F1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A　旧 50 轮 + 统一 0.20</c:v>
                </c:pt>
                <c:pt idx="1">
                  <c:v>D　旧 50 轮 + 13 类标定</c:v>
                </c:pt>
                <c:pt idx="2">
                  <c:v>B　新 e100 + 统一 0.20</c:v>
                </c:pt>
                <c:pt idx="3">
                  <c:v>C　新 e100 + 13 类标定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0.7376</c:v>
                </c:pt>
                <c:pt idx="1">
                  <c:v>0.7295</c:v>
                </c:pt>
                <c:pt idx="2">
                  <c:v>0.7162</c:v>
                </c:pt>
                <c:pt idx="3">
                  <c:v>0.7064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&quot;relative&quot;, background: &quot;#061428&quot;, padding: 0, overflow: &quot;hidden&quot;, fontFamily: 'Inter, &quot;Microsoft YaHei&quot;, sans-serif' }}&gt;&#10;    &lt;Image src=&quot;assets/hero_factory_line.png&quot; style={{ position: &quot;absolute&quot;, top: 0, left: 0, width: 1280, height: 720, objectFit: &quot;cover&quot; }} /&gt;&#10;    &lt;Box style={{ position: &quot;absolute&quot;, top: 0, left: 0, width: 1280, height: 720, background: &quot;linear-gradient(90deg, rgba(6,20,40,0.94) 0%, rgba(6,20,40,0.70) 46%, rgba(6,20,40,0.20) 100%)&quot; }} /&gt;&#10;    &lt;Box style={{ position: &quot;relative&quot;, zIndex: 2, width: 1280, height: 720, paddingTop: 148, paddingLeft: 84, paddingRight: 84, paddingBottom: 56, flexDirection: &quot;column&quot;, gap: 22 }}&gt;&#10;        &lt;Text style={{ fontSize: 14, color: &quot;#00B4D8&quot;, letterSpacing: 3, fontWeight: &quot;bold&quot; }}&gt;WEEKLY REPORT · 2026-10-15&lt;/Text&gt;&#10;        &lt;Box style={{ flexDirection: &quot;column&quot;, gap: 8 }}&gt;&#10;            &lt;Text style={{ fontSize: 74, fontWeight: &quot;bold&quot;, color: &quot;#FFFFFF&quot;, lineHeight: 1.2 }}&gt;工业表面缺陷检测系统&lt;/Text&gt;&#10;            &lt;Text style={{ fontSize: 32, fontWeight: &quot;bold&quot;, color: &quot;#00B4D8&quot;, lineHeight: 1.25 }}&gt;本周进展汇报&lt;/Text&gt;&#10;        &lt;/Box&gt;&#10;        &lt;Box style={{ width: 64, height: 5, background: &quot;linear-gradient(90deg, #0B3D91 0%, #00B4D8 100%)&quot; }} /&gt;&#10;        &lt;Text style={{ fontSize: 16, color: &quot;#C7D6E8&quot;, lineHeight: 1.6 }}&gt;板端选型实测　·　质量瓶颈归因　·　评估集重建与重训&lt;/Text&gt;&#10;        &lt;Box style={{ flexDirection: &quot;row&quot;, gap: 60, marginTop: 16 }}&gt;&#10;            &lt;Box style={{ flexDirection: &quot;column&quot; }}&gt;&#10;                &lt;Text style={{ fontSize: 44, fontWeight: &quot;bold&quot;, color: &quot;#FF7A18&quot;, lineHeight: 1 }}&gt;2×2&lt;/Text&gt;&#10;                &lt;Text style={{ fontSize: 14, color: &quot;#C7D6E8&quot;, marginTop: 10 }}&gt;板端 A/B 实测&lt;/Text&gt;&#10;            &lt;/Box&gt;&#10;            &lt;Box style={{ flexDirection: &quot;column&quot; }}&gt;&#10;                &lt;Text style={{ fontSize: 44, fontWeight: &quot;bold&quot;, color: &quot;#FF7A18&quot;, lineHeight: 1 }}&gt;81.7%&lt;/Text&gt;&#10;                &lt;Text style={{ fontSize: 14, color: &quot;#C7D6E8&quot;, marginTop: 10 }}&gt;高置信漏标率&lt;/Text&gt;&#10;            &lt;/Box&gt;&#10;            &lt;Box style={{ flexDirection: &quot;column&quot; }}&gt;&#10;                &lt;Text style={{ fontSize: 44, fontWeight: &quot;bold&quot;, color: &quot;#FF7A18&quot;, lineHeight: 1 }}&gt;100 轮&lt;/Text&gt;&#10;                &lt;Text style={{ fontSize: 14, color: &quot;#C7D6E8&quot;, marginTop: 10 }}&gt;分层重训进行中&lt;/Text&gt;&#10;            &lt;/Box&gt;&#10;        &lt;/Box&gt;&#10;    &lt;/Box&gt;&#10;    &lt;Box style={{ position: &quot;absolute&quot;, right: 40, bottom: 22, zIndex: 3 }}&gt;&#10;        &lt;Text style={{ fontSize: 14, color: &quot;#9AA9B8&quot; }}&gt;项目组 · 2026-10-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>
                  <a:alpha val="94000"/>
                </a:srgbClr>
              </a:gs>
              <a:gs pos="46000">
                <a:srgbClr val="061428">
                  <a:alpha val="70000"/>
                </a:srgbClr>
              </a:gs>
              <a:gs pos="100000">
                <a:srgbClr val="061428">
                  <a:alpha val="2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0B4D8"/>
                </a:solidFill>
                <a:latin typeface="Inter"/>
                <a:ea typeface="Inter"/>
              </a:rPr>
              <a:t>WEEKLY REPORT · 2026-10-15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0591800" cy="1019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550" b="1">
                <a:solidFill>
                  <a:srgbClr val="FFFFFF"/>
                </a:solidFill>
                <a:latin typeface="Inter"/>
                <a:ea typeface="Inter"/>
              </a:rPr>
              <a:t>工业表面缺陷检测系统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876550"/>
            <a:ext cx="10591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00B4D8"/>
                </a:solidFill>
                <a:latin typeface="Inter"/>
                <a:ea typeface="Inter"/>
              </a:rPr>
              <a:t>本周进展汇报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00100" y="3543300"/>
            <a:ext cx="609600" cy="47625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1059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板端选型实测　·　质量瓶颈归因　·　评估集重建与重训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847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2×2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50577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板端</a:t>
            </a:r>
            <a:r>
              <a:rPr lang="en-US" sz="1050">
                <a:solidFill>
                  <a:srgbClr val="C7D6E8"/>
                </a:solidFill>
                <a:latin typeface="Inter"/>
                <a:ea typeface="Inter"/>
              </a:rPr>
              <a:t xml:space="preserve"> A/B </a:t>
            </a: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实测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19325" y="4457700"/>
            <a:ext cx="1285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19325" y="50577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高置信漏标率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76700" y="4457700"/>
            <a:ext cx="13239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 xml:space="preserve">100 </a:t>
            </a:r>
            <a:r>
              <a:rPr lang="zh-CN" sz="3300" b="1">
                <a:solidFill>
                  <a:srgbClr val="FF7A18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76700" y="5057775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分层重训进行中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553700" y="64865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目录&lt;/Text&gt;&#10;            &lt;Text style={{ fontSize: 14, color: &quot;#9AA9B8&quot;, marginTop: 4 }}&gt;3 章 · 14 页 · 2026-10-12 ~ 10-15&lt;/Text&gt;&#10;        &lt;/Box&gt;&#10;    &lt;/Box&gt;&#10;    &lt;Box style={{ height: 540, paddingLeft: 84, paddingRight: 84, paddingTop: 16, paddingBottom: 24, flexDirection: &quot;row&quot;, gap: 56 }}&gt;&#10;        &lt;Box style={{ width: 380, flexDirection: &quot;column&quot;, paddingTop: 12 }}&gt;&#10;            &lt;Text style={{ fontSize: 24, fontWeight: &quot;bold&quot;, color: &quot;#0B1C33&quot;, lineHeight: 1.4 }}&gt;这一周的主线&lt;/Text&gt;&#10;            &lt;Text style={{ fontSize: 16, color: &quot;#5C6E82&quot;, lineHeight: 1.75, marginTop: 16 }}&gt;不是加功能，而是把「尺子」校准——先定板端配置，再确认评估集本身是否可信。&lt;/Text&gt;&#10;            &lt;Box style={{ marginTop: 26, padding: 18, background: &quot;#F4F7FB&quot;, borderRadius: 10, borderLeft: &quot;4px solid #00B4D8&quot; }}&gt;&#10;                &lt;Text style={{ fontSize: 15, color: &quot;#0B3D91&quot;, fontWeight: &quot;bold&quot;, lineHeight: 1.7 }}&gt;一句话结论：模型精度被评估集的漏标系统性低估，约 2.5 ~ 3.5pp。&lt;/Text&gt;&#10;            &lt;/Box&gt;&#10;        &lt;/Box&gt;&#10;        &lt;Box style={{ flex: 1, flexDirection: &quot;column&quot;, justifyContent: &quot;flex-start&quot; }}&gt;&#10;            &lt;Box style={{ flexDirection: &quot;row&quot;, gap: 22, alignItems: &quot;flex-start&quot;, paddingTop: 14, paddingBottom: 22, borderBottom: &quot;1px solid #E1E9F2&quot; }}&gt;&#10;                &lt;Box style={{ width: 66 }}&gt;&lt;Text style={{ fontSize: 40, fontWeight: &quot;bold&quot;, color: &quot;#0B3D91&quot;, lineHeight: 1, opacity: 0.3 }}&gt;01&lt;/Text&gt;&lt;/Box&gt;&#10;                &lt;Box style={{ flexDirection: &quot;column&quot;, gap: 8 }}&gt;&#10;                    &lt;Text style={{ fontSize: 20, fontWeight: &quot;bold&quot;, color: &quot;#0B1C33&quot; }}&gt;板端落地与选型验证&lt;/Text&gt;&#10;                    &lt;Text style={{ fontSize: 15, color: &quot;#5C6E82&quot;, lineHeight: 1.6 }}&gt;新模型、新阈值上线前，先用 300 张 holdout 做四格实测，让数据决定配置。&lt;/Text&gt;&#10;                &lt;/Box&gt;&#10;            &lt;/Box&gt;&#10;            &lt;Box style={{ flexDirection: &quot;row&quot;, gap: 22, alignItems: &quot;flex-start&quot;, paddingTop: 22, paddingBottom: 22, borderBottom: &quot;1px solid #E1E9F2&quot; }}&gt;&#10;                &lt;Box style={{ width: 66 }}&gt;&lt;Text style={{ fontSize: 40, fontWeight: &quot;bold&quot;, color: &quot;#0B3D91&quot;, lineHeight: 1, opacity: 0.3 }}&gt;02&lt;/Text&gt;&lt;/Box&gt;&#10;                &lt;Box style={{ flexDirection: &quot;column&quot;, gap: 8 }}&gt;&#10;                    &lt;Text style={{ fontSize: 20, fontWeight: &quot;bold&quot;, color: &quot;#0B1C33&quot; }}&gt;质量瓶颈归因&lt;/Text&gt;&#10;                    &lt;Text style={{ fontSize: 15, color: &quot;#5C6E82&quot;, lineHeight: 1.6 }}&gt;mAP 卡在 0.72：先排除背景误报与 NMS，再定位到真正的原因。&lt;/Text&gt;&#10;                &lt;/Box&gt;&#10;            &lt;/Box&gt;&#10;            &lt;Box style={{ flexDirection: &quot;row&quot;, gap: 22, alignItems: &quot;flex-start&quot;, paddingTop: 22, paddingBottom: 22 }}&gt;&#10;                &lt;Box style={{ width: 66 }}&gt;&lt;Text style={{ fontSize: 40, fontWeight: &quot;bold&quot;, color: &quot;#0B3D91&quot;, lineHeight: 1, opacity: 0.3 }}&gt;03&lt;/Text&gt;&lt;/Box&gt;&#10;                &lt;Box style={{ flexDirection: &quot;column&quot;, gap: 8 }}&gt;&#10;                    &lt;Text style={{ fontSize: 20, fontWeight: &quot;bold&quot;, color: &quot;#0B1C33&quot; }}&gt;评估集重建与重训&lt;/Text&gt;&#10;                    &lt;Text style={{ fontSize: 15, color: &quot;#5C6E82&quot;, lineHeight: 1.6 }}&gt;全池分层重划分让 39 类样本均衡，再按新评估集重训 100 轮。&lt;/Text&gt;&#10;                &lt;/Box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2095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目录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14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页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2026-10-12 ~ 10-15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36195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这一周的主线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3619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不是加功能，而是把「尺子」校准——先定板端配置，再确认评估集本身是否可信。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38200" y="2847975"/>
            <a:ext cx="3619500" cy="933450"/>
          </a:xfrm>
          <a:prstGeom prst="roundRect">
            <a:avLst>
              <a:gd name="adj" fmla="val 1020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838200" y="2847975"/>
            <a:ext cx="3619500" cy="933450"/>
          </a:xfrm>
          <a:custGeom>
            <a:pathLst>
              <a:path w="380" h="9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2"/>
                </a:lnTo>
                <a:cubicBezTo>
                  <a:pt x="4" y="95"/>
                  <a:pt x="6" y="97"/>
                  <a:pt x="9" y="98"/>
                </a:cubicBezTo>
                <a:cubicBezTo>
                  <a:pt x="4" y="97"/>
                  <a:pt x="0" y="93"/>
                  <a:pt x="0" y="8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09650" y="3019425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一句话结论：模型精度被评估集的漏标系统性低估，约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2.5 ~ 3.5pp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953000" y="1295400"/>
            <a:ext cx="6438900" cy="942975"/>
          </a:xfrm>
          <a:custGeom>
            <a:pathLst>
              <a:path w="676" h="99">
                <a:moveTo>
                  <a:pt x="0" y="98"/>
                </a:moveTo>
                <a:lnTo>
                  <a:pt x="676" y="98"/>
                </a:lnTo>
                <a:lnTo>
                  <a:pt x="676" y="99"/>
                </a:lnTo>
                <a:lnTo>
                  <a:pt x="0" y="99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91200" y="142875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91200" y="17335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新模型、新阈值上线前，先用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holdout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做四格实测，让数据决定配置。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953000" y="2228850"/>
            <a:ext cx="6438900" cy="1019175"/>
          </a:xfrm>
          <a:custGeom>
            <a:pathLst>
              <a:path w="676" h="107">
                <a:moveTo>
                  <a:pt x="0" y="106"/>
                </a:moveTo>
                <a:lnTo>
                  <a:pt x="676" y="106"/>
                </a:lnTo>
                <a:lnTo>
                  <a:pt x="676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91200" y="2438400"/>
            <a:ext cx="421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91200" y="2743200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mAP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卡在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：先排除背景误报与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，再定位到真正的原因。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91200" y="3448050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91200" y="3752850"/>
            <a:ext cx="4019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全池分层重划分让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39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类样本均衡，再按新评估集重训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02 / 14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953000" y="14287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953000" y="24384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953000" y="34480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style={{ width: 1280, height: 720, padding: 0, position: &quot;relative&quot;, background: &quot;#061428&quot;, overflow: &quot;hidden&quot;, fontFamily: 'Inter, &quot;Microsoft YaHei&quot;, sans-serif' }}&gt;&#10;    &lt;Box style={{ position: &quot;absolute&quot;, top: 0, left: 0, width: 1280, height: 720, background: &quot;linear-gradient(135deg, #061428 0%, #0B3D91 68%, #0B3D91 100%)&quot; }} /&gt;&#10;    &lt;Box style={{ position: &quot;absolute&quot;, right: 24, bottom: 16, zIndex: 1, width: 420, height: 380, alignItems: &quot;flex-end&quot;, justifyContent: &quot;flex-end&quot; }}&gt;&#10;        &lt;Text style={{ fontSize: 280, fontWeight: &quot;bold&quot;, color: &quot;#00B4D8&quot;, opacity: 0.13, lineHeight: 1 }}&gt;01&lt;/Text&gt;&#10;    &lt;/Box&gt;&#10;    &lt;Box style={{ position: &quot;absolute&quot;, left: 0, top: 0, width: 8, height: 720, background: &quot;linear-gradient(180deg, #0B3D91 0%, #00B4D8 100%)&quot; }} /&gt;&#10;    &lt;Box style={{ position: &quot;relative&quot;, zIndex: 2, width: 1280, height: 720, paddingLeft: 120, paddingRight: 120, flexDirection: &quot;column&quot;, justifyContent: &quot;center&quot;, gap: 20 }}&gt;&#10;        &lt;Text style={{ fontSize: 16, color: &quot;#00B4D8&quot;, letterSpacing: 4, fontWeight: &quot;bold&quot; }}&gt;CHAPTER 01&lt;/Text&gt;&#10;        &lt;Text style={{ fontSize: 62, fontWeight: &quot;bold&quot;, color: &quot;#FFFFFF&quot;, lineHeight: 1.15 }}&gt;板端落地与选型验证&lt;/Text&gt;&#10;        &lt;Box style={{ width: 80, height: 4, background: &quot;#00B4D8&quot;, marginTop: 6 }} /&gt;&#10;        &lt;Text style={{ fontSize: 19, color: &quot;#C7D6E8&quot;, lineHeight: 1.7, marginTop: 10 }}&gt;新模型、新阈值，到底该上哪一个？用实测数据说话。&lt;/Text&gt;&#10;    &lt;/Box&gt;&#10;    &lt;Box style={{ position: &quot;absolute&quot;, right: 60, bottom: 40, zIndex: 3 }}&gt;&#10;        &lt;Text style={{ fontSize: 14, color: &quot;#9AA9B8&quot;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01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新模型、新阈值，到底该上哪一个？用实测数据说话。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上线前先做一次四格对照&lt;/Text&gt;&#10;            &lt;Text style={{ fontSize: 14, color: &quot;#9AA9B8&quot;, marginTop: 4 }}&gt;把模型与阈值当作两个独立变量，正交组合&lt;/Text&gt;&#10;        &lt;/Box&gt;&#10;    &lt;/Box&gt;&#10;    &lt;Box style={{ height: 540, paddingLeft: 84, paddingRight: 84, paddingTop: 16, paddingBottom: 24, flexDirection: &quot;row&quot;, gap: 48 }}&gt;&#10;        &lt;Box style={{ width: 384, flexDirection: &quot;column&quot;, paddingTop: 8 }}&gt;&#10;            &lt;Text style={{ fontSize: 24, fontWeight: &quot;bold&quot;, color: &quot;#0B1C33&quot;, lineHeight: 1.4 }}&gt;两个变量，四种组合&lt;/Text&gt;&#10;            &lt;Text style={{ fontSize: 16, color: &quot;#5C6E82&quot;, lineHeight: 1.75, marginTop: 16 }}&gt;上线前不赌「新的一定更好」：把「模型」与「阈值」拆成两个变量，正交组合成四格，逐格实测再定。&lt;/Text&gt;&#10;            &lt;Box style={{ marginTop: 24, padding: 16, background: &quot;#F4F7FB&quot;, borderRadius: 10, borderLeft: &quot;4px solid #00B4D8&quot; }}&gt;&#10;                &lt;Text style={{ fontSize: 15, color: &quot;#0B3D91&quot;, fontWeight: &quot;bold&quot;, lineHeight: 1.7 }}&gt;判据：300 张 holdout（seed 20261013），走真实板端 socket 送检，NMS / 匹配口径统一。&lt;/Text&gt;&#10;            &lt;/Box&gt;&#10;            &lt;Box style={{ flexDirection: &quot;column&quot;, gap: 10, marginTop: 24 }}&gt;&#10;                &lt;Box style={{ flexDirection: &quot;row&quot;, alignItems: &quot;center&quot;, gap: 10 }}&gt;&#10;                    &lt;Box style={{ width: 8, height: 8, borderRadius: 4, background: &quot;#0B3D91&quot; }} /&gt;&#10;                    &lt;Text style={{ fontSize: 15, color: &quot;#5C6E82&quot; }}&gt;模型：旧 50 轮　vs　新 100 轮（e100）&lt;/Text&gt;&#10;                &lt;/Box&gt;&#10;                &lt;Box style={{ flexDirection: &quot;row&quot;, alignItems: &quot;center&quot;, gap: 10 }}&gt;&#10;                    &lt;Box style={{ width: 8, height: 8, borderRadius: 4, background: &quot;#00B4D8&quot; }} /&gt;&#10;                    &lt;Text style={{ fontSize: 15, color: &quot;#5C6E82&quot; }}&gt;阈值：统一 0.20　vs　13 类标定&lt;/Text&gt;&#10;                &lt;/Box&gt;&#10;            &lt;/Box&gt;&#10;        &lt;/Box&gt;&#10;        &lt;Box style={{ flex: 1, flexDirection: &quot;column&quot;, gap: 12, justifyContent: &quot;center&quot; }}&gt;&#10;            &lt;Box style={{ flexDirection: &quot;row&quot;, gap: 12 }}&gt;&#10;                &lt;Box style={{ width: 92 }} /&gt;&#10;                &lt;Box style={{ flex: 1, alignItems: &quot;center&quot;, paddingBottom: 4 }}&gt;&lt;Text style={{ fontSize: 15, fontWeight: &quot;bold&quot;, color: &quot;#5C6E82&quot; }}&gt;统一 0.20&lt;/Text&gt;&lt;/Box&gt;&#10;                &lt;Box style={{ flex: 1, alignItems: &quot;center&quot;, paddingBottom: 4 }}&gt;&lt;Text style={{ fontSize: 15, fontWeight: &quot;bold&quot;, color: &quot;#5C6E82&quot; }}&gt;13 类标定&lt;/Text&gt;&lt;/Box&gt;&#10;            &lt;/Box&gt;&#10;            &lt;Box style={{ flexDirection: &quot;row&quot;, gap: 12 }}&gt;&#10;                &lt;Box style={{ width: 92, justifyContent: &quot;center&quot; }}&gt;&lt;Text style={{ fontSize: 15, fontWeight: &quot;bold&quot;, color: &quot;#5C6E82&quot; }}&gt;旧 50 轮&lt;/Text&gt;&lt;/Box&gt;&#10;                &lt;Box style={{ flex: 1, height: 126, background: &quot;#F4F7FB&quot;, borderRadius: 10, border: &quot;1px solid #E1E9F2&quot;, padding: 14, flexDirection: &quot;column&quot;, justifyContent: &quot;space-between&quot; }}&gt;&#10;                    &lt;Text style={{ fontSize: 26, fontWeight: &quot;bold&quot;, color: &quot;#0B3D91&quot; }}&gt;A&lt;/Text&gt;&#10;                    &lt;Text style={{ fontSize: 14, color: &quot;#5C6E82&quot;, lineHeight: 1.5 }}&gt;旧 50 轮　+　统一 0.20&lt;/Text&gt;&#10;                &lt;/Box&gt;&#10;                &lt;Box style={{ flex: 1, height: 126, background: &quot;#F4F7FB&quot;, borderRadius: 10, border: &quot;1px solid #E1E9F2&quot;, padding: 14, flexDirection: &quot;column&quot;, justifyContent: &quot;space-between&quot; }}&gt;&#10;                    &lt;Text style={{ fontSize: 26, fontWeight: &quot;bold&quot;, color: &quot;#0B3D91&quot; }}&gt;D&lt;/Text&gt;&#10;                    &lt;Text style={{ fontSize: 14, color: &quot;#5C6E82&quot;, lineHeight: 1.5 }}&gt;旧 50 轮　+　13 类标定&lt;/Text&gt;&#10;                &lt;/Box&gt;&#10;            &lt;/Box&gt;&#10;            &lt;Box style={{ flexDirection: &quot;row&quot;, gap: 12 }}&gt;&#10;                &lt;Box style={{ width: 92, justifyContent: &quot;center&quot; }}&gt;&lt;Text style={{ fontSize: 15, fontWeight: &quot;bold&quot;, color: &quot;#5C6E82&quot; }}&gt;新 e100&lt;/Text&gt;&lt;/Box&gt;&#10;                &lt;Box style={{ flex: 1, height: 126, background: &quot;#F4F7FB&quot;, borderRadius: 10, border: &quot;1px solid #E1E9F2&quot;, padding: 14, flexDirection: &quot;column&quot;, justifyContent: &quot;space-between&quot; }}&gt;&#10;                    &lt;Text style={{ fontSize: 26, fontWeight: &quot;bold&quot;, color: &quot;#0B3D91&quot; }}&gt;B&lt;/Text&gt;&#10;                    &lt;Text style={{ fontSize: 14, color: &quot;#5C6E82&quot;, lineHeight: 1.5 }}&gt;新 e100　+　统一 0.20&lt;/Text&gt;&#10;                &lt;/Box&gt;&#10;                &lt;Box style={{ flex: 1, height: 126, background: &quot;#F4F7FB&quot;, borderRadius: 10, border: &quot;1px solid #E1E9F2&quot;, padding: 14, flexDirection: &quot;column&quot;, justifyContent: &quot;space-between&quot; }}&gt;&#10;                    &lt;Text style={{ fontSize: 26, fontWeight: &quot;bold&quot;, color: &quot;#0B3D91&quot; }}&gt;C&lt;/Text&gt;&#10;                    &lt;Text style={{ fontSize: 14, color: &quot;#5C6E82&quot;, lineHeight: 1.5 }}&gt;新 e100　+　13 类标定&lt;/Text&gt;&#10;                &lt;/Box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7719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上线前先做一次四格对照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把模型与阈值当作两个独立变量，正交组合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0100" y="137160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两个变量，四种组合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00100" y="1914525"/>
            <a:ext cx="36576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上线前不赌「新的一定更好」：把「模型」与「阈值」拆成两个变量，正交组合成四格，逐格实测再定。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38200" y="2790825"/>
            <a:ext cx="36576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38200" y="2790825"/>
            <a:ext cx="3657600" cy="895350"/>
          </a:xfrm>
          <a:custGeom>
            <a:pathLst>
              <a:path w="384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3314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判据：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300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张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holdout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seed 20261013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），走真实板端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socket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送检，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NMS /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匹配口径统一。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00100" y="3962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71550" y="391477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模型：旧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e100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0010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71550" y="4181475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阈值：统一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34200" y="2257425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统一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725025" y="2257425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914900" y="30956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90550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3885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3885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70585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83920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D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83920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914900" y="44100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90550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3885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B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3885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70585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83920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C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83920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92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四格实测：最优是「旧模型 + 统一阈值」&lt;/Text&gt;&#10;            &lt;Text style={{ fontSize: 14, color: &quot;#9AA9B8&quot;, marginTop: 4 }}&gt;300 张 holdout · 板端真实 socket · NMS / 匹配口径统一&lt;/Text&gt;&#10;        &lt;/Box&gt;&#10;    &lt;/Box&gt;&#10;    &lt;Box style={{ height: 540, paddingLeft: 84, paddingRight: 84, paddingTop: 10, paddingBottom: 20, flexDirection: &quot;row&quot;, gap: 40, alignItems: &quot;center&quot; }}&gt;&#10;        &lt;Box style={{ width: 648, height: 450 }}&gt;&#10;            &lt;Chart&#10;                style={{ width: &quot;100%&quot;, height: &quot;100%&quot; }}&#10;                chartType=&quot;barChart&quot;&#10;                barDirection=&quot;bar&quot;&#10;                grouping=&quot;clustered&quot;&#10;                showLegend={false}&#10;                showDataLabels={true}&#10;                dataLabelColor=&quot;#0B1C33&quot;&#10;                axisColor=&quot;#9AA9B8&quot;&#10;                background=&quot;#FFFFFF&quot;&#10;                colors={[&quot;linear-gradient(90deg, #0B3D91 0%, #00B4D8 100%)&quot;]}&#10;                data={[&#10;                    [&quot;配置&quot;, &quot;F1&quot;],&#10;                    [&quot;A　旧 50 轮 + 统一 0.20&quot;, 0.7376],&#10;                    [&quot;D　旧 50 轮 + 13 类标定&quot;, 0.7295],&#10;                    [&quot;B　新 e100 + 统一 0.20&quot;, 0.7162],&#10;                    [&quot;C　新 e100 + 13 类标定&quot;, 0.7064]&#10;                ]}&#10;            /&gt;&#10;        &lt;/Box&gt;&#10;        &lt;Box style={{ width: 424, flexDirection: &quot;column&quot;, gap: 16 }}&gt;&#10;            &lt;Box style={{ padding: 20, background: &quot;#F4F7FB&quot;, borderRadius: 10, borderLeft: &quot;4px solid #FF7A18&quot; }}&gt;&#10;                &lt;Text style={{ fontSize: 14, color: &quot;#5C6E82&quot; }}&gt;最优配置&lt;/Text&gt;&#10;                &lt;Text style={{ fontSize: 40, fontWeight: &quot;bold&quot;, color: &quot;#FF7A18&quot;, lineHeight: 1.1, marginTop: 6 }}&gt;A&lt;/Text&gt;&#10;                &lt;Text style={{ fontSize: 15, color: &quot;#0B1C33&quot;, marginTop: 8, lineHeight: 1.6 }}&gt;旧 50 轮 + 统一 0.20，F1 达到 0.7376&lt;/Text&gt;&#10;            &lt;/Box&gt;&#10;            &lt;Box style={{ padding: 20, background: &quot;#FFFFFF&quot;, borderRadius: 10, border: &quot;1px solid #E1E9F2&quot; }}&gt;&#10;                &lt;Text style={{ fontSize: 16, fontWeight: &quot;bold&quot;, color: &quot;#0B1C33&quot;, lineHeight: 1.6 }}&gt;四格里 A 最高&lt;/Text&gt;&#10;                &lt;Text style={{ fontSize: 15, color: &quot;#5C6E82&quot;, lineHeight: 1.75, marginTop: 8 }}&gt;新模型、新阈值单独换上，都没能超过现有配置；两者叠加（C）反而是四格最低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29602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四格实测：最优是「旧模型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统一阈值」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29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300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holdout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板端真实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socket · NMS /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匹配口径统一</a:t>
            </a:r>
            <a:endParaRPr/>
          </a:p>
        </p:txBody>
      </p:sp>
      <p:graphicFrame>
        <p:nvGraphicFramePr>
          <p:cNvPr id="197" name="197"/>
          <p:cNvGraphicFramePr/>
          <p:nvPr/>
        </p:nvGraphicFramePr>
        <p:xfrm rot="0" flipH="0" flipV="0">
          <a:off x="800100" y="1524000"/>
          <a:ext cx="6172200" cy="4286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98" name=""/>
          <p:cNvSpPr/>
          <p:nvPr/>
        </p:nvSpPr>
        <p:spPr>
          <a:xfrm rot="0" flipH="0" flipV="0">
            <a:off x="7391400" y="2190750"/>
            <a:ext cx="4038600" cy="1457325"/>
          </a:xfrm>
          <a:prstGeom prst="roundRect">
            <a:avLst>
              <a:gd name="adj" fmla="val 653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7391400" y="2190750"/>
            <a:ext cx="4038600" cy="1457325"/>
          </a:xfrm>
          <a:custGeom>
            <a:pathLst>
              <a:path w="424" h="15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47"/>
                </a:lnTo>
                <a:cubicBezTo>
                  <a:pt x="4" y="150"/>
                  <a:pt x="6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581900" y="238125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最优配置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581900" y="2600325"/>
            <a:ext cx="36195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F7A18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581900" y="31813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旧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统一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，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达到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0.7376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353300" y="3800475"/>
            <a:ext cx="40386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43800" y="3990975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四格里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A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最高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543800" y="4362450"/>
            <a:ext cx="3657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新模型、新阈值单独换上，都没能超过现有配置；两者叠加（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C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）反而是四格最低。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换模型、换阈值，都在伤指标&lt;/Text&gt;&#10;            &lt;Text style={{ fontSize: 14, color: &quot;#9AA9B8&quot;, marginTop: 4 }}&gt;两个变量的边际效应，都是负的&lt;/Text&gt;&#10;        &lt;/Box&gt;&#10;    &lt;/Box&gt;&#10;    &lt;Box style={{ height: 540, paddingLeft: 84, paddingRight: 84, paddingTop: 16, paddingBottom: 24, flexDirection: &quot;row&quot;, gap: 48 }}&gt;&#10;        &lt;Box style={{ width: 640, flexDirection: &quot;column&quot;, gap: 18 }}&gt;&#10;            &lt;Box style={{ background: &quot;#F4F7FB&quot;, borderRadius: 10, padding: 20, flexDirection: &quot;row&quot;, alignItems: &quot;center&quot;, gap: 18 }}&gt;&#10;                &lt;Box style={{ width: 6, height: 66, background: &quot;#FF7A18&quot;, borderRadius: 3 }} /&gt;&#10;                &lt;Box style={{ flexDirection: &quot;column&quot;, gap: 6 }}&gt;&#10;                    &lt;Text style={{ fontSize: 16, fontWeight: &quot;bold&quot;, color: &quot;#0B1C33&quot; }}&gt;换模型：旧 50 轮 → 新 e100（同为统一 0.20）&lt;/Text&gt;&#10;                    &lt;Text style={{ fontSize: 15, color: &quot;#5C6E82&quot; }}&gt;F1 0.7376 → 0.7162，召回 0.7026 → 0.6618&lt;/Text&gt;&#10;                &lt;/Box&gt;&#10;                &lt;Box style={{ marginLeft: &quot;auto&quot; }}&gt;&#10;                    &lt;Text style={{ fontSize: 34, fontWeight: &quot;bold&quot;, color: &quot;#FF7A18&quot; }}&gt;−0.0214&lt;/Text&gt;&#10;                &lt;/Box&gt;&#10;            &lt;/Box&gt;&#10;            &lt;Box style={{ background: &quot;#F4F7FB&quot;, borderRadius: 10, padding: 20, flexDirection: &quot;row&quot;, alignItems: &quot;center&quot;, gap: 18 }}&gt;&#10;                &lt;Box style={{ width: 6, height: 66, background: &quot;#FF7A18&quot;, borderRadius: 3 }} /&gt;&#10;                &lt;Box style={{ flexDirection: &quot;column&quot;, gap: 6 }}&gt;&#10;                    &lt;Text style={{ fontSize: 16, fontWeight: &quot;bold&quot;, color: &quot;#0B1C33&quot; }}&gt;换阈值：统一 0.20 → 13 类标定&lt;/Text&gt;&#10;                    &lt;Text style={{ fontSize: 15, color: &quot;#5C6E82&quot; }}&gt;旧模型 0.7376 → 0.7295；新模型 0.7162 → 0.7064&lt;/Text&gt;&#10;                &lt;/Box&gt;&#10;                &lt;Box style={{ marginLeft: &quot;auto&quot;, flexDirection: &quot;column&quot;, alignItems: &quot;flex-end&quot; }}&gt;&#10;                    &lt;Text style={{ fontSize: 34, fontWeight: &quot;bold&quot;, color: &quot;#FF7A18&quot; }}&gt;−0.0081&lt;/Text&gt;&#10;                    &lt;Text style={{ fontSize: 13, color: &quot;#9AA9B8&quot;, marginTop: 2 }}&gt;旧模型口径&lt;/Text&gt;&#10;                &lt;/Box&gt;&#10;            &lt;/Box&gt;&#10;            &lt;Box style={{ marginTop: 4, padding: 18, background: &quot;#0B3D91&quot;, borderRadius: 10 }}&gt;&#10;                &lt;Text style={{ fontSize: 17, color: &quot;#FFFFFF&quot;, fontWeight: &quot;bold&quot;, lineHeight: 1.5 }}&gt;两条路都在掉分 —— 维持现有配置，不换。&lt;/Text&gt;&#10;            &lt;/Box&gt;&#10;            &lt;Text style={{ fontSize: 14, color: &quot;#9AA9B8&quot;, lineHeight: 1.7 }}&gt;说明：两代模型的 best.pt 都在同一份原始 val 上选轮，holdout 被选择污染，差异约 2σ；方向上可信，铁证仍待下一章的分层重训。&lt;/Text&gt;&#10;        &lt;/Box&gt;&#10;        &lt;Box style={{ width: 424, flexDirection: &quot;column&quot;, gap: 16 }}&gt;&#10;            &lt;Text style={{ fontSize: 20, fontWeight: &quot;bold&quot;, color: &quot;#0B1C33&quot; }}&gt;据此完成的动作&lt;/Text&gt;&#10;            &lt;Box style={{ padding: 18, background: &quot;#F4F7FB&quot;, borderRadius: 10, borderLeft: &quot;4px solid #00B4D8&quot; }}&gt;&#10;                &lt;Text style={{ fontSize: 15, color: &quot;#0B3D91&quot;, fontWeight: &quot;bold&quot; }}&gt;板端回滚到配置 A&lt;/Text&gt;&#10;                &lt;Text style={{ fontSize: 14, color: &quot;#5C6E82&quot;, marginTop: 8, lineHeight: 1.65 }}&gt;即 10-09 已验证的生产态；单进程运行，冒烟 6/6 帧正常。&lt;/Text&gt;&#10;            &lt;/Box&gt;&#10;            &lt;Box style={{ padding: 18, background: &quot;#F4F7FB&quot;, borderRadius: 10, borderLeft: &quot;4px solid #00B4D8&quot; }}&gt;&#10;                &lt;Text style={{ fontSize: 15, color: &quot;#0B3D91&quot;, fontWeight: &quot;bold&quot; }}&gt;链路忠实性校验&lt;/Text&gt;&#10;                &lt;Text style={{ fontSize: 14, color: &quot;#5C6E82&quot;, marginTop: 8, lineHeight: 1.65 }}&gt;同条件板端 F1 0.7064 vs 离线 0.7062，偏差 0.5% —— 板端后处理链路与离线一致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4577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换模型、换阈值，都在伤指标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两个变量的边际效应，都是负的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800100" y="12954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990600" y="14859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19200" y="15906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换模型：旧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→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新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e100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（同为统一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219200" y="1838325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F1 0.7376 → 0.7162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，召回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0.7026 → 0.6618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62575" y="1609725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−0.0214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800100" y="24765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990600" y="26670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219200" y="2771775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换阈值：统一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 → 13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219200" y="3019425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旧模型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0.7376 → 0.7295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；新模型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0.7162 → 0.7064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62575" y="2705100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−0.0081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86475" y="3114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A9B8"/>
                </a:solidFill>
                <a:latin typeface="Inter"/>
                <a:ea typeface="Inter"/>
              </a:rPr>
              <a:t>旧模型口径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00100" y="3695700"/>
            <a:ext cx="6096000" cy="638175"/>
          </a:xfrm>
          <a:prstGeom prst="roundRect">
            <a:avLst>
              <a:gd name="adj" fmla="val 14925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71550" y="386715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两条路都在掉分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——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维持现有配置，不换。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00100" y="4505325"/>
            <a:ext cx="609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说明：两代模型的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best.pt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都在同一份原始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上选轮，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holdout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被选择污染，差异约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2σ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；方向上可信，铁证仍待下一章的分层重训。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353300" y="12954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据此完成的动作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391400" y="1676400"/>
            <a:ext cx="4038600" cy="857250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7391400" y="1676400"/>
            <a:ext cx="4038600" cy="857250"/>
          </a:xfrm>
          <a:custGeom>
            <a:pathLst>
              <a:path w="424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562850" y="18478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板端回滚到配置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A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562850" y="2095500"/>
            <a:ext cx="36576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即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10-09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已验证的生产态；单进程运行，冒烟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6/6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帧正常。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391400" y="2686050"/>
            <a:ext cx="4038600" cy="1123950"/>
          </a:xfrm>
          <a:prstGeom prst="roundRect">
            <a:avLst>
              <a:gd name="adj" fmla="val 847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7391400" y="2686050"/>
            <a:ext cx="4038600" cy="1123950"/>
          </a:xfrm>
          <a:custGeom>
            <a:pathLst>
              <a:path w="424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62850" y="28575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链路忠实性校验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562850" y="3105150"/>
            <a:ext cx="3657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同条件板端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F1 0.7064 vs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离线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0.7062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，偏差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0.5% ——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板端后处理链路与离线一致。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padding: 0, position: &quot;relative&quot;, background: &quot;#061428&quot;, overflow: &quot;hidden&quot;, fontFamily: 'Inter, &quot;Microsoft YaHei&quot;, sans-serif' }}&gt;&#10;    &lt;Box style={{ position: &quot;absolute&quot;, top: 0, left: 0, width: 1280, height: 720, background: &quot;linear-gradient(135deg, #061428 0%, #0B3D91 68%, #0B3D91 100%)&quot; }} /&gt;&#10;    &lt;Box style={{ position: &quot;absolute&quot;, right: 24, bottom: 16, zIndex: 1, width: 420, height: 380, alignItems: &quot;flex-end&quot;, justifyContent: &quot;flex-end&quot; }}&gt;&#10;        &lt;Text style={{ fontSize: 280, fontWeight: &quot;bold&quot;, color: &quot;#00B4D8&quot;, opacity: 0.13, lineHeight: 1 }}&gt;02&lt;/Text&gt;&#10;    &lt;/Box&gt;&#10;    &lt;Box style={{ position: &quot;absolute&quot;, left: 0, top: 0, width: 8, height: 720, background: &quot;linear-gradient(180deg, #0B3D91 0%, #00B4D8 100%)&quot; }} /&gt;&#10;    &lt;Box style={{ position: &quot;relative&quot;, zIndex: 2, width: 1280, height: 720, paddingLeft: 120, paddingRight: 120, flexDirection: &quot;column&quot;, justifyContent: &quot;center&quot;, gap: 20 }}&gt;&#10;        &lt;Text style={{ fontSize: 16, color: &quot;#00B4D8&quot;, letterSpacing: 4, fontWeight: &quot;bold&quot; }}&gt;CHAPTER 02&lt;/Text&gt;&#10;        &lt;Text style={{ fontSize: 62, fontWeight: &quot;bold&quot;, color: &quot;#FFFFFF&quot;, lineHeight: 1.15 }}&gt;质量瓶颈归因&lt;/Text&gt;&#10;        &lt;Box style={{ width: 80, height: 4, background: &quot;#00B4D8&quot;, marginTop: 6 }} /&gt;&#10;        &lt;Text style={{ fontSize: 19, color: &quot;#C7D6E8&quot;, lineHeight: 1.7, marginTop: 10 }}&gt;mAP 卡在 0.72 —— 是模型不行，还是尺子不准？&lt;/Text&gt;&#10;    &lt;/Box&gt;&#10;    &lt;Box style={{ position: &quot;absolute&quot;, right: 60, bottom: 40, zIndex: 3 }}&gt;&#10;        &lt;Text style={{ fontSize: 14, color: &quot;#9AA9B8&quot;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02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mAP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卡在</a:t>
            </a: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 0.72 ——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是模型不行，还是尺子不准？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先排除：不是背景误报，也不是 NMS 太松&lt;/Text&gt;&#10;            &lt;Text style={{ fontSize: 14, color: &quot;#9AA9B8&quot;, marginTop: 4 }}&gt;三个候选解释，逐个用实测数据检验&lt;/Text&gt;&#10;        &lt;/Box&gt;&#10;    &lt;/Box&gt;&#10;    &lt;Box style={{ height: 540, paddingLeft: 84, paddingRight: 84, paddingTop: 16, paddingBottom: 24, flexDirection: &quot;column&quot;, gap: 20 }}&gt;&#10;        &lt;Box style={{ flexDirection: &quot;row&quot;, gap: 24, height: 348 }}&gt;&#10;            &lt;Box style={{ flex: 1, background: &quot;#F4F7FB&quot;, borderRadius: 12, padding: 22, flexDirection: &quot;column&quot;, gap: 12 }}&gt;&#10;                &lt;Box style={{ flexDirection: &quot;row&quot;, alignItems: &quot;center&quot;, justifyContent: &quot;space-between&quot; }}&gt;&#10;                    &lt;Text style={{ fontSize: 13, color: &quot;#9AA9B8&quot;, fontWeight: &quot;bold&quot;, letterSpacing: 1 }}&gt;假设 01&lt;/Text&gt;&#10;                    &lt;Box style={{ paddingLeft: 8, paddingRight: 8, paddingTop: 3, paddingBottom: 3, background: &quot;#E1E9F2&quot;, borderRadius: 4 }}&gt;&#10;                        &lt;Text style={{ fontSize: 12, color: &quot;#5C6E82&quot;, fontWeight: &quot;bold&quot; }}&gt;已排除&lt;/Text&gt;&#10;                    &lt;/Box&gt;&#10;                &lt;/Box&gt;&#10;                &lt;Text style={{ fontSize: 21, fontWeight: &quot;bold&quot;, color: &quot;#0B1C33&quot;, lineHeight: 1.4 }}&gt;瓶颈是背景误报？&lt;/Text&gt;&#10;                &lt;Box style={{ width: 36, height: 4, background: &quot;#FF7A18&quot;, borderRadius: 2 }} /&gt;&#10;                &lt;Text style={{ fontSize: 15, color: &quot;#5C6E82&quot;, lineHeight: 1.75, marginTop: 4 }}&gt;在 200 张纯背景图上，模型产出 &lt;span style={{ color: &quot;#0B3D91&quot;, fontWeight: &quot;bold&quot; }}&gt;0 个误检框&lt;/span&gt;（仅 1 张出现 1 个 conf=0.011 的极弱框）。背景零误报 → 负样本过采样、背景难例挖掘都没有收益空间。&lt;/Text&gt;&#10;            &lt;/Box&gt;&#10;            &lt;Box style={{ flex: 1, background: &quot;#F4F7FB&quot;, borderRadius: 12, padding: 22, flexDirection: &quot;column&quot;, gap: 12 }}&gt;&#10;                &lt;Box style={{ flexDirection: &quot;row&quot;, alignItems: &quot;center&quot;, justifyContent: &quot;space-between&quot; }}&gt;&#10;                    &lt;Text style={{ fontSize: 13, color: &quot;#9AA9B8&quot;, fontWeight: &quot;bold&quot;, letterSpacing: 1 }}&gt;假设 02&lt;/Text&gt;&#10;                    &lt;Box style={{ paddingLeft: 8, paddingRight: 8, paddingTop: 3, paddingBottom: 3, background: &quot;#E1E9F2&quot;, borderRadius: 4 }}&gt;&#10;                        &lt;Text style={{ fontSize: 12, color: &quot;#5C6E82&quot;, fontWeight: &quot;bold&quot; }}&gt;已排除&lt;/Text&gt;&#10;                    &lt;/Box&gt;&#10;                &lt;/Box&gt;&#10;                &lt;Text style={{ fontSize: 21, fontWeight: &quot;bold&quot;, color: &quot;#0B1C33&quot;, lineHeight: 1.4 }}&gt;是 NMS 卡得太松？&lt;/Text&gt;&#10;                &lt;Box style={{ width: 36, height: 4, background: &quot;#FF7A18&quot;, borderRadius: 2 }} /&gt;&#10;                &lt;Text style={{ fontSize: 15, color: &quot;#5C6E82&quot;, lineHeight: 1.75, marginTop: 4 }}&gt;与其它预测框 IoU ≥ 0.30 的 FP 只占 20.1%。把 NMS 从 0.45 收紧到 0.25 模拟一遍：FP 减 302，但 FN 增 109，&lt;span style={{ color: &quot;#0B3D91&quot;, fontWeight: &quot;bold&quot; }}&gt;F1 只涨 0.0039&lt;/span&gt; → 不是解药。&lt;/Text&gt;&#10;            &lt;/Box&gt;&#10;            &lt;Box style={{ flex: 1, background: &quot;#F4F7FB&quot;, borderRadius: 12, padding: 22, flexDirection: &quot;column&quot;, gap: 12 }}&gt;&#10;                &lt;Box style={{ flexDirection: &quot;row&quot;, alignItems: &quot;center&quot;, justifyContent: &quot;space-between&quot; }}&gt;&#10;                    &lt;Text style={{ fontSize: 13, color: &quot;#9AA9B8&quot;, fontWeight: &quot;bold&quot;, letterSpacing: 1 }}&gt;假设 03&lt;/Text&gt;&#10;                    &lt;Box style={{ paddingLeft: 8, paddingRight: 8, paddingTop: 3, paddingBottom: 3, background: &quot;#E1E9F2&quot;, borderRadius: 4 }}&gt;&#10;                        &lt;Text style={{ fontSize: 12, color: &quot;#5C6E82&quot;, fontWeight: &quot;bold&quot; }}&gt;已排除&lt;/Text&gt;&#10;                    &lt;/Box&gt;&#10;                &lt;/Box&gt;&#10;                &lt;Text style={{ fontSize: 21, fontWeight: &quot;bold&quot;, color: &quot;#0B1C33&quot;, lineHeight: 1.4 }}&gt;是阈值放得太低？&lt;/Text&gt;&#10;                &lt;Box style={{ width: 36, height: 4, background: &quot;#FF7A18&quot;, borderRadius: 2 }} /&gt;&#10;                &lt;Text style={{ fontSize: 15, color: &quot;#5C6E82&quot;, lineHeight: 1.75, marginTop: 4 }}&gt;per-class 阈值只能压住 conf 低于 0.33 的那一半低置信 FP，代价是召回同步下降——实测 &lt;span style={{ color: &quot;#0B3D91&quot;, fontWeight: &quot;bold&quot; }}&gt;F1 −0.008 ~ −0.010&lt;/span&gt;。它只是取舍旋钮，不是精度杠杆。&lt;/Text&gt;&#10;            &lt;/Box&gt;&#10;        &lt;/Box&gt;&#10;        &lt;Box style={{ padding: 18, background: &quot;#0B3D91&quot;, borderRadius: 10, alignItems: &quot;center&quot; }}&gt;&#10;            &lt;Text style={{ fontSize: 17, color: &quot;#FFFFFF&quot;, fontWeight: &quot;bold&quot; }}&gt;三个方向全部排除 → 问题既不在模型能力，也不在后处理参数。&lt;/Text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5436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先排除：不是背景误报，也不是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太松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54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三个候选解释，逐个用实测数据检验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00100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09650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01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47662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55282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09650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瓶颈是背景误报？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1009650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09650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张纯背景图上，模型产出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个误检框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（仅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张出现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conf=0.011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的极弱框）。背景零误报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负样本过采样、背景难例挖掘都没有收益空间。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410075" y="1295400"/>
            <a:ext cx="3371850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61962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07707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15327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619625" y="18192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</a:t>
            </a:r>
            <a:r>
              <a:rPr lang="en-US" sz="1575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卡得太松？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61962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619625" y="2466975"/>
            <a:ext cx="29527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与其它预测框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≥ 0.30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只占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20.1%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收紧到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模拟一遍：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FN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109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F1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只涨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0.0039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不是解药。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8010525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22007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03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687050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763250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20075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是阈值放得太低？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22007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20075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per-class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阈值只能压住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0.33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的那一半低置信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，代价是召回同步下降——实测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F1 −0.008 ~ −0.010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。它只是取舍旋钮，不是精度杠杆。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800100" y="4800600"/>
            <a:ext cx="10591800" cy="542925"/>
          </a:xfrm>
          <a:prstGeom prst="roundRect">
            <a:avLst>
              <a:gd name="adj" fmla="val 17544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781425" y="4972050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三个方向全部排除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→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问题既不在模型能力，也不在后处理参数。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7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真正的瓶颈：评估集自己漏标了&lt;/Text&gt;&#10;            &lt;Text style={{ fontSize: 14, color: &quot;#9AA9B8&quot;, marginTop: 4 }}&gt;2647 个 FP，100% 出自有缺陷的图&lt;/Text&gt;&#10;        &lt;/Box&gt;&#10;    &lt;/Box&gt;&#10;    &lt;Box style={{ height: 540, paddingLeft: 84, paddingRight: 84, paddingTop: 8, paddingBottom: 20, flexDirection: &quot;column&quot;, gap: 26 }}&gt;&#10;        &lt;Box style={{ flexDirection: &quot;row&quot;, gap: 56, alignItems: &quot;flex-end&quot;, height: 232 }}&gt;&#10;            &lt;Box style={{ flexDirection: &quot;column&quot;, height: 232, justifyContent: &quot;flex-end&quot; }}&gt;&#10;                &lt;Text style={{ fontSize: 14, color: &quot;#5C6E82&quot;, fontWeight: &quot;bold&quot; }}&gt;高置信未匹配检测中，「预测类别 == 图内已有类别」占比&lt;/Text&gt;&#10;                &lt;Text style={{ fontSize: 110, fontWeight: &quot;bold&quot;, color: &quot;#FF7A18&quot;, lineHeight: 1.02, marginTop: 6 }}&gt;81.7%&lt;/Text&gt;&#10;                &lt;Text style={{ fontSize: 15, color: &quot;#5C6E82&quot;, marginTop: 8 }}&gt;196 / 240，取自 conf≥0.45 且 IoU 低于 0.20 的框&lt;/Text&gt;&#10;            &lt;/Box&gt;&#10;            &lt;Box style={{ flexDirection: &quot;column&quot;, height: 232, justifyContent: &quot;flex-end&quot; }}&gt;&#10;                &lt;Text style={{ fontSize: 14, color: &quot;#5C6E82&quot;, fontWeight: &quot;bold&quot; }}&gt;随机情况下的同类率基线&lt;/Text&gt;&#10;                &lt;Text style={{ fontSize: 56, fontWeight: &quot;bold&quot;, color: &quot;#9AA9B8&quot;, lineHeight: 1.05, marginTop: 6 }}&gt;7.2%&lt;/Text&gt;&#10;                &lt;Text style={{ fontSize: 15, color: &quot;#9AA9B8&quot;, marginTop: 8 }}&gt;若模型是在「臆造」，同类率应接近这个数&lt;/Text&gt;&#10;            &lt;/Box&gt;&#10;        &lt;/Box&gt;&#10;        &lt;Box style={{ flexDirection: &quot;row&quot;, gap: 24, flex: 1 }}&gt;&#10;            &lt;Box style={{ flex: 1, padding: 20, background: &quot;#F4F7FB&quot;, borderRadius: 10, borderLeft: &quot;4px solid #00B4D8&quot;, flexDirection: &quot;column&quot;, gap: 8 }}&gt;&#10;                &lt;Text style={{ fontSize: 17, fontWeight: &quot;bold&quot;, color: &quot;#0B1C33&quot; }}&gt;模型是在找缺陷，不是画框&lt;/Text&gt;&#10;                &lt;Text style={{ fontSize: 15, color: &quot;#5C6E82&quot;, lineHeight: 1.7 }}&gt;同类率约为随机基线的 11 倍，且框偏移组（IoU 0.25~0.50）同类率高达 97.4%。这说明模型识别出的是图内真实存在、但没被标注的同类缺陷实例。&lt;/Text&gt;&#10;            &lt;/Box&gt;&#10;            &lt;Box style={{ flex: 1, padding: 20, background: &quot;#F4F7FB&quot;, borderRadius: 10, borderLeft: &quot;4px solid #FF7A18&quot;, flexDirection: &quot;column&quot;, gap: 8 }}&gt;&#10;                &lt;Text style={{ fontSize: 17, fontWeight: &quot;bold&quot;, color: &quot;#0B1C33&quot; }}&gt;修正标注后的指标上界&lt;/Text&gt;&#10;                &lt;Text style={{ fontSize: 15, color: &quot;#5C6E82&quot;, lineHeight: 1.7 }}&gt;若把「同类 + 高置信」的未匹配检测都视为漏标回收：F1 由 0.7108 升至 &lt;span style={{ color: &quot;#0B3D91&quot;, fontWeight: &quot;bold&quot; }}&gt;0.7507（+4.0pp）&lt;/span&gt;；按 60~80% 的人工确认率折算，实际预期 +2.5 ~ 3.5pp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8006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真正的瓶颈：评估集自己漏标了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2647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个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FP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100%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出自有缺陷的图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高置信未匹配检测中，「预测类别</a:t>
            </a:r>
            <a:r>
              <a:rPr lang="en-US" sz="1050" b="1">
                <a:solidFill>
                  <a:srgbClr val="5C6E82"/>
                </a:solidFill>
                <a:latin typeface="Inter"/>
                <a:ea typeface="Inter"/>
              </a:rPr>
              <a:t xml:space="preserve"> == </a:t>
            </a: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图内已有类别」占比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3486150" cy="12858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825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196 / 240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，取自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conf≥0.45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且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的框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19650" y="2286000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随机情况下的同类率基线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819650" y="2505075"/>
            <a:ext cx="2714625" cy="676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200" b="1">
                <a:solidFill>
                  <a:srgbClr val="9AA9B8"/>
                </a:solidFill>
                <a:latin typeface="Inter"/>
                <a:ea typeface="Inter"/>
              </a:rPr>
              <a:t>7.2%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819650" y="325755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9B8"/>
                </a:solidFill>
                <a:latin typeface="Inter"/>
                <a:ea typeface="Inter"/>
              </a:rPr>
              <a:t>若模型是在「臆造」，同类率应接近这个数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382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8382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287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模型是在找缺陷，不是画框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287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同类率约为随机基线的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倍，且框偏移组（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IoU 0.25~0.50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）同类率高达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97.4%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。这说明模型识别出的是图内真实存在、但没被标注的同类缺陷实例。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2484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62484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389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修正标注后的指标上界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389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若把「同类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高置信」的未匹配检测都视为漏标回收：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由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0.7108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升至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0.7507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+4.0pp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；按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60~80%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的人工确认率折算，实际预期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+2.5 ~ 3.5pp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46 页核对表，逐张看过了&lt;/Text&gt;&#10;            &lt;Text style={{ fontSize: 14, color: &quot;#9AA9B8&quot;, marginTop: 4 }}&gt;红框 = 模型预测　·　绿框 = 已有标注&lt;/Text&gt;&#10;        &lt;/Box&gt;&#10;    &lt;/Box&gt;&#10;    &lt;Box style={{ height: 540, paddingLeft: 84, paddingRight: 84, paddingTop: 14, paddingBottom: 20, flexDirection: &quot;row&quot;, gap: 40 }}&gt;&#10;        &lt;Box style={{ width: 620, height: 462, borderRadius: 10, overflow: &quot;hidden&quot;, border: &quot;1px solid #E1E9F2&quot;, background: &quot;#061428&quot; }}&gt;&#10;            &lt;Image src=&quot;assets/review_sheet.png&quot; style={{ width: 620, height: 462, objectFit: &quot;cover&quot; }} /&gt;&#10;        &lt;/Box&gt;&#10;        &lt;Box style={{ width: 452, flexDirection: &quot;column&quot;, gap: 16, paddingTop: 4 }}&gt;&#10;            &lt;Text style={{ fontSize: 20, fontWeight: &quot;bold&quot;, color: &quot;#0B1C33&quot; }}&gt;怎么核的&lt;/Text&gt;&#10;            &lt;Text style={{ fontSize: 15, color: &quot;#5C6E82&quot;, lineHeight: 1.75 }}&gt;把 695 个漏标候选按置信度分三档，裁图拼成 46 页核对表；逐张比对模型预测与已有标注，判断是「模型出错」还是「标注缺失」。&lt;/Text&gt;&#10;            &lt;Box style={{ padding: 18, background: &quot;#F4F7FB&quot;, borderRadius: 10, borderLeft: &quot;4px solid #FF7A18&quot; }}&gt;&#10;                &lt;Text style={{ fontSize: 30, fontWeight: &quot;bold&quot;, color: &quot;#FF7A18&quot;, lineHeight: 1.1 }}&gt;≈ 85%&lt;/Text&gt;&#10;                &lt;Text style={{ fontSize: 14, color: &quot;#5C6E82&quot;, marginTop: 8, lineHeight: 1.65 }}&gt;已目检 high-conf 8 页共 143 个候选，其中约 85% 判为真漏标——红框圈住 patches 暗斑、inclusion 细长夹杂、横向压入氧化皮纹理，附近确实没有绿框。&lt;/Text&gt;&#10;            &lt;/Box&gt;&#10;            &lt;Text style={{ fontSize: 14, color: &quot;#9AA9B8&quot;, lineHeight: 1.7 }}&gt;存疑集中在 water_spot / oil_spot 等亮面区域，可能与反光混淆，需结合原图与产线光照再判。&lt;/Text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962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46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页核对表，逐张看过了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红框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模型预测　·　绿框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已有标注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00100" y="1276350"/>
            <a:ext cx="5905500" cy="4400550"/>
          </a:xfrm>
          <a:prstGeom prst="roundRect">
            <a:avLst>
              <a:gd name="adj" fmla="val 2165"/>
            </a:avLst>
          </a:prstGeom>
          <a:solidFill>
            <a:srgbClr val="061428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322" r="0" b="322"/>
          <a:stretch>
            <a:fillRect/>
          </a:stretch>
        </p:blipFill>
        <p:spPr>
          <a:xfrm rot="0" flipH="0" flipV="0">
            <a:off x="800100" y="1276350"/>
            <a:ext cx="5905500" cy="4400550"/>
          </a:xfrm>
          <a:custGeom>
            <a:pathLst>
              <a:path w="620" h="462">
                <a:moveTo>
                  <a:pt x="610" y="0"/>
                </a:moveTo>
                <a:cubicBezTo>
                  <a:pt x="616" y="0"/>
                  <a:pt x="620" y="5"/>
                  <a:pt x="620" y="10"/>
                </a:cubicBezTo>
                <a:lnTo>
                  <a:pt x="620" y="452"/>
                </a:lnTo>
                <a:cubicBezTo>
                  <a:pt x="620" y="458"/>
                  <a:pt x="616" y="462"/>
                  <a:pt x="610" y="462"/>
                </a:cubicBezTo>
                <a:lnTo>
                  <a:pt x="10" y="462"/>
                </a:lnTo>
                <a:cubicBezTo>
                  <a:pt x="4" y="462"/>
                  <a:pt x="0" y="458"/>
                  <a:pt x="0" y="45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86600" y="131445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怎么核的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86600" y="1695450"/>
            <a:ext cx="4305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695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个漏标候选按置信度分三档，裁图拼成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46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页核对表；逐张比对模型预测与已有标注，判断是「模型出错」还是「标注缺失」。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124700" y="2447925"/>
            <a:ext cx="4305300" cy="1600200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124700" y="2447925"/>
            <a:ext cx="4305300" cy="1600200"/>
          </a:xfrm>
          <a:custGeom>
            <a:pathLst>
              <a:path w="452" h="16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62"/>
                </a:lnTo>
                <a:cubicBezTo>
                  <a:pt x="4" y="165"/>
                  <a:pt x="6" y="167"/>
                  <a:pt x="9" y="168"/>
                </a:cubicBezTo>
                <a:cubicBezTo>
                  <a:pt x="4" y="167"/>
                  <a:pt x="0" y="163"/>
                  <a:pt x="0" y="15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96150" y="2619375"/>
            <a:ext cx="392430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FF7A18"/>
                </a:solidFill>
                <a:latin typeface="Inter"/>
                <a:ea typeface="Inter"/>
              </a:rPr>
              <a:t>≈ 85%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96150" y="3076575"/>
            <a:ext cx="39243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已目检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high-conf 8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页共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143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个候选，其中约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85%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判为真漏标——红框圈住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patches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暗斑、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inclusion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细长夹杂、横向压入氧化皮纹理，附近确实没有绿框。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86600" y="4200525"/>
            <a:ext cx="4305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存疑集中在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water_spot / oil_spot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等亮面区域，可能与反光混淆，需结合原图与产线光照再判。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style={{ width: 1280, height: 720, padding: 0, position: &quot;relative&quot;, background: &quot;#061428&quot;, overflow: &quot;hidden&quot;, fontFamily: 'Inter, &quot;Microsoft YaHei&quot;, sans-serif' }}&gt;&#10;    &lt;Box style={{ position: &quot;absolute&quot;, top: 0, left: 0, width: 1280, height: 720, background: &quot;linear-gradient(135deg, #061428 0%, #0B3D91 68%, #0B3D91 100%)&quot; }} /&gt;&#10;    &lt;Box style={{ position: &quot;absolute&quot;, right: 24, bottom: 16, zIndex: 1, width: 420, height: 380, alignItems: &quot;flex-end&quot;, justifyContent: &quot;flex-end&quot; }}&gt;&#10;        &lt;Text style={{ fontSize: 280, fontWeight: &quot;bold&quot;, color: &quot;#00B4D8&quot;, opacity: 0.13, lineHeight: 1 }}&gt;03&lt;/Text&gt;&#10;    &lt;/Box&gt;&#10;    &lt;Box style={{ position: &quot;absolute&quot;, left: 0, top: 0, width: 8, height: 720, background: &quot;linear-gradient(180deg, #0B3D91 0%, #00B4D8 100%)&quot; }} /&gt;&#10;    &lt;Box style={{ position: &quot;relative&quot;, zIndex: 2, width: 1280, height: 720, paddingLeft: 120, paddingRight: 120, flexDirection: &quot;column&quot;, justifyContent: &quot;center&quot;, gap: 20 }}&gt;&#10;        &lt;Text style={{ fontSize: 16, color: &quot;#00B4D8&quot;, letterSpacing: 4, fontWeight: &quot;bold&quot; }}&gt;CHAPTER 03&lt;/Text&gt;&#10;        &lt;Text style={{ fontSize: 62, fontWeight: &quot;bold&quot;, color: &quot;#FFFFFF&quot;, lineHeight: 1.15 }}&gt;评估集重建与重训&lt;/Text&gt;&#10;        &lt;Box style={{ width: 80, height: 4, background: &quot;#00B4D8&quot;, marginTop: 6 }} /&gt;&#10;        &lt;Text style={{ fontSize: 19, color: &quot;#C7D6E8&quot;, lineHeight: 1.7, marginTop: 10 }}&gt;尺子先校准，再量模型。&lt;/Text&gt;&#10;    &lt;/Box&gt;&#10;    &lt;Box style={{ position: &quot;absolute&quot;, right: 60, bottom: 40, zIndex: 3 }}&gt;&#10;        &lt;Text style={{ fontSize: 14, color: &quot;#9AA9B8&quot;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03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尺子先校准，再量模型。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46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让每个缺陷类在验证集里都有足够样本&lt;/Text&gt;&#10;            &lt;Text style={{ fontSize: 14, color: &quot;#9AA9B8&quot;, marginTop: 4 }}&gt;全池 26243 张，按类分层重划分&lt;/Text&gt;&#10;        &lt;/Box&gt;&#10;    &lt;/Box&gt;&#10;    &lt;Box style={{ height: 540, paddingLeft: 84, paddingRight: 84, paddingTop: 12, paddingBottom: 20, flexDirection: &quot;row&quot;, gap: 44 }}&gt;&#10;        &lt;Box style={{ width: 372, flexDirection: &quot;column&quot;, gap: 14, paddingTop: 6 }}&gt;&#10;            &lt;Text style={{ fontSize: 22, fontWeight: &quot;bold&quot;, color: &quot;#0B1C33&quot;, lineHeight: 1.4 }}&gt;旧划分的问题&lt;/Text&gt;&#10;            &lt;Text style={{ fontSize: 15, color: &quot;#5C6E82&quot;, lineHeight: 1.75 }}&gt;原 val 里 16 个类的框数不足 100，个别类只有个位数——单类指标基本是噪声，弱类结论不可信。&lt;/Text&gt;&#10;            &lt;Box style={{ padding: 16, background: &quot;#F4F7FB&quot;, borderRadius: 10, borderLeft: &quot;4px solid #00B4D8&quot; }}&gt;&#10;                &lt;Text style={{ fontSize: 15, color: &quot;#0B3D91&quot;, fontWeight: &quot;bold&quot;, lineHeight: 1.7 }}&gt;做法：小类留 50% 验证、中类 35%、大类 20%，保证每类都有足够样本。&lt;/Text&gt;&#10;            &lt;/Box&gt;&#10;            &lt;Box style={{ flexDirection: &quot;column&quot;, gap: 10, marginTop: 4 }}&gt;&#10;                &lt;Box style={{ flexDirection: &quot;row&quot;, justifyContent: &quot;space-between&quot;, alignItems: &quot;center&quot;, paddingBottom: 8, borderBottom: &quot;1px solid #E1E9F2&quot; }}&gt;&#10;                    &lt;Text style={{ fontSize: 14, color: &quot;#5C6E82&quot; }}&gt;新 train&lt;/Text&gt;&#10;                    &lt;Text style={{ fontSize: 17, fontWeight: &quot;bold&quot;, color: &quot;#0B3D91&quot; }}&gt;20329&lt;/Text&gt;&#10;                &lt;/Box&gt;&#10;                &lt;Box style={{ flexDirection: &quot;row&quot;, justifyContent: &quot;space-between&quot;, alignItems: &quot;center&quot;, paddingBottom: 8, borderBottom: &quot;1px solid #E1E9F2&quot; }}&gt;&#10;                    &lt;Text style={{ fontSize: 14, color: &quot;#5C6E82&quot; }}&gt;新 val（cal / holdout）&lt;/Text&gt;&#10;                    &lt;Text style={{ fontSize: 17, fontWeight: &quot;bold&quot;, color: &quot;#0B3D91&quot; }}&gt;5911　(2891 / 3020)&lt;/Text&gt;&#10;                &lt;/Box&gt;&#10;                &lt;Box style={{ flexDirection: &quot;row&quot;, justifyContent: &quot;space-between&quot;, alignItems: &quot;center&quot; }}&gt;&#10;                    &lt;Text style={{ fontSize: 14, color: &quot;#5C6E82&quot; }}&gt;39 类 val 框数下限&lt;/Text&gt;&#10;                    &lt;Text style={{ fontSize: 17, fontWeight: &quot;bold&quot;, color: &quot;#FF7A18&quot; }}&gt;≥ 30&lt;/Text&gt;&#10;                &lt;/Box&gt;&#10;            &lt;/Box&gt;&#10;        &lt;/Box&gt;&#10;        &lt;Box style={{ flex: 1, flexDirection: &quot;column&quot;, gap: 10 }}&gt;&#10;            &lt;Box style={{ flex: 1, minHeight: 400 }}&gt;&#10;                &lt;Chart&#10;                    style={{ width: &quot;100%&quot;, height: &quot;100%&quot; }}&#10;                    chartType=&quot;barChart&quot;&#10;                    barDirection=&quot;bar&quot;&#10;                    grouping=&quot;clustered&quot;&#10;                    title=&quot;新 val 中样本最少的 8 个类（框数）&quot;&#10;                    titleColor=&quot;#0B1C33&quot;&#10;                    showLegend={false}&#10;                    showDataLabels={true}&#10;                    dataLabelColor=&quot;#0B1C33&quot;&#10;                    axisColor=&quot;#9AA9B8&quot;&#10;                    background=&quot;#FFFFFF&quot;&#10;                    colors={[&quot;linear-gradient(90deg, #0B3D91 0%, #00B4D8 100%)&quot;]}&#10;                    data={[&#10;                        [&quot;缺陷类&quot;, &quot;新 val 框数&quot;],&#10;                        [&quot;oxide_scale_plate&quot;, 32],&#10;                        [&quot;striated_scale&quot;, 60],&#10;                        [&quot;blocky_scale&quot;, 62],&#10;                        [&quot;external_fold&quot;, 64],&#10;                        [&quot;iron_scale_compression&quot;, 65],&#10;                        [&quot;cutting_opening&quot;, 66],&#10;                        [&quot;longitudinal_crack&quot;, 66],&#10;                        [&quot;water_slag_mark&quot;, 67]&#10;                    ]}&#10;                /&gt;&#10;            &lt;/Box&gt;&#10;            &lt;Text style={{ fontSize: 14, color: &quot;#9AA9B8&quot;, lineHeight: 1.6 }}&gt;注：重划分修的是「评估可信度」，不是模型精度——尺子准了，之后测出来的数字才算数。&lt;/Text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58293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让每个缺陷类在验证集里都有足够样本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全池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26243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张，按类分层重划分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35433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B1C33"/>
                </a:solidFill>
                <a:latin typeface="Inter"/>
                <a:ea typeface="Inter"/>
              </a:rPr>
              <a:t>旧划分的问题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3543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里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个类的框数不足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，个别类只有个位数——单类指标基本是噪声，弱类结论不可信。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2533650"/>
            <a:ext cx="35433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838200" y="2533650"/>
            <a:ext cx="3543300" cy="895350"/>
          </a:xfrm>
          <a:custGeom>
            <a:pathLst>
              <a:path w="37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0600" y="2686050"/>
            <a:ext cx="3200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做法：小类留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50%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验证、中类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35%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、大类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20%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，保证每类都有足够样本。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00100" y="3600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36195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train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38575" y="3600450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20329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00100" y="3981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cal / holdout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676525" y="3981450"/>
            <a:ext cx="166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5911</a:t>
            </a:r>
            <a:r>
              <a:rPr lang="zh-CN" sz="1275" b="1">
                <a:solidFill>
                  <a:srgbClr val="0B3D91"/>
                </a:solidFill>
                <a:latin typeface="Inter"/>
                <a:ea typeface="Inter"/>
              </a:rPr>
              <a:t>　</a:t>
            </a: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(2891 / 3020)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39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框数下限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71925" y="4362450"/>
            <a:ext cx="371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7A18"/>
                </a:solidFill>
                <a:latin typeface="Inter"/>
                <a:ea typeface="Inter"/>
              </a:rPr>
              <a:t>≥ 30</a:t>
            </a:r>
            <a:endParaRPr/>
          </a:p>
        </p:txBody>
      </p:sp>
      <p:graphicFrame>
        <p:nvGraphicFramePr>
          <p:cNvPr id="64" name="64"/>
          <p:cNvGraphicFramePr/>
          <p:nvPr/>
        </p:nvGraphicFramePr>
        <p:xfrm rot="0" flipH="0" flipV="0">
          <a:off x="4762500" y="1257300"/>
          <a:ext cx="6629400" cy="4486275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762500" y="5838825"/>
            <a:ext cx="6629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注：重划分修的是「评估可信度」，不是模型精度——尺子准了，之后测出来的数字才算数。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100 轮重训跑到哪了，下周做什么&lt;/Text&gt;&#10;            &lt;Text style={{ fontSize: 14, color: &quot;#9AA9B8&quot;, marginTop: 4 }}&gt;按新评估集重训 · 截至 2026-10-15 上午&lt;/Text&gt;&#10;        &lt;/Box&gt;&#10;    &lt;/Box&gt;&#10;    &lt;Box style={{ height: 540, paddingLeft: 84, paddingRight: 84, paddingTop: 14, paddingBottom: 24, flexDirection: &quot;row&quot;, gap: 36 }}&gt;&#10;        &lt;Box style={{ width: 700, flexDirection: &quot;column&quot;, gap: 18 }}&gt;&#10;            &lt;Box style={{ flexDirection: &quot;row&quot;, alignItems: &quot;flex-end&quot;, gap: 14 }}&gt;&#10;                &lt;Text style={{ fontSize: 54, fontWeight: &quot;bold&quot;, color: &quot;#0B3D91&quot;, lineHeight: 1 }}&gt;65&lt;/Text&gt;&#10;                &lt;Text style={{ fontSize: 20, color: &quot;#5C6E82&quot;, paddingBottom: 6 }}&gt;/ 100 轮&lt;/Text&gt;&#10;                &lt;Box style={{ marginLeft: &quot;auto&quot;, paddingLeft: 12, paddingRight: 12, paddingTop: 5, paddingBottom: 5, background: &quot;#FFF1E6&quot;, borderRadius: 6 }}&gt;&#10;                    &lt;Text style={{ fontSize: 13, fontWeight: &quot;bold&quot;, color: &quot;#FF7A18&quot; }}&gt;进行中&lt;/Text&gt;&#10;                &lt;/Box&gt;&#10;            &lt;/Box&gt;&#10;            &lt;Box style={{ height: 12, background: &quot;#E1E9F2&quot;, borderRadius: 6, width: &quot;100%&quot; }}&gt;&#10;                &lt;Box style={{ width: &quot;65%&quot;, height: 12, background: &quot;linear-gradient(90deg, #0B3D91 0%, #00B4D8 100%)&quot;, borderRadius: 6 }} /&gt;&#10;            &lt;/Box&gt;&#10;            &lt;Box style={{ flexDirection: &quot;row&quot;, gap: 18 }}&gt;&#10;                &lt;Box style={{ flex: 1, padding: 18, background: &quot;#F4F7FB&quot;, borderRadius: 10 }}&gt;&#10;                    &lt;Text style={{ fontSize: 14, color: &quot;#5C6E82&quot; }}&gt;第 65 轮 mAP50&lt;/Text&gt;&#10;                    &lt;Text style={{ fontSize: 34, fontWeight: &quot;bold&quot;, color: &quot;#0B3D91&quot;, marginTop: 6, lineHeight: 1.1 }}&gt;0.7716&lt;/Text&gt;&#10;                &lt;/Box&gt;&#10;                &lt;Box style={{ flex: 1, padding: 18, background: &quot;#F4F7FB&quot;, borderRadius: 10 }}&gt;&#10;                    &lt;Text style={{ fontSize: 14, color: &quot;#5C6E82&quot; }}&gt;第 65 轮 mAP50-95&lt;/Text&gt;&#10;                    &lt;Text style={{ fontSize: 34, fontWeight: &quot;bold&quot;, color: &quot;#0B3D91&quot;, marginTop: 6, lineHeight: 1.1 }}&gt;0.4990&lt;/Text&gt;&#10;                &lt;/Box&gt;&#10;            &lt;/Box&gt;&#10;            &lt;Box style={{ padding: 18, background: &quot;#FFFFFF&quot;, borderRadius: 10, border: &quot;1px solid #E1E9F2&quot;, flexDirection: &quot;column&quot;, gap: 8 }}&gt;&#10;                &lt;Text style={{ fontSize: 15, fontWeight: &quot;bold&quot;, color: &quot;#0B1C33&quot; }}&gt;客观说明&lt;/Text&gt;&#10;                &lt;Text style={{ fontSize: 14, color: &quot;#5C6E82&quot;, lineHeight: 1.7 }}&gt;① 上述指标取自旧 val 口径，与新的分层 val 不可比，只作收敛趋势参考；&lt;br /&gt;② 10-15 凌晨机器关机导致训练在 66 轮中断，已从 last.pt 断点续训，最多丢 1 轮。&lt;/Text&gt;&#10;            &lt;/Box&gt;&#10;        &lt;/Box&gt;&#10;        &lt;Box style={{ width: 376, flexDirection: &quot;column&quot;, gap: 14 }}&gt;&#10;            &lt;Text style={{ fontSize: 20, fontWeight: &quot;bold&quot;, color: &quot;#0B1C33&quot; }}&gt;下周计划&lt;/Text&gt;&#10;            &lt;Box style={{ padding: 16, background: &quot;#F4F7FB&quot;, borderRadius: 10, borderLeft: &quot;4px solid #0B3D91&quot; }}&gt;&#10;                &lt;Text style={{ fontSize: 15, fontWeight: &quot;bold&quot;, color: &quot;#0B3D91&quot; }}&gt;① 跑完并评估&lt;/Text&gt;&#10;                &lt;Text style={{ fontSize: 14, color: &quot;#5C6E82&quot;, marginTop: 6, lineHeight: 1.65 }}&gt;100 轮结束后，在新 val 上做统一口径评估 + cal 阈值标定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② 论文补章节&lt;/Text&gt;&#10;                &lt;Text style={{ fontSize: 14, color: &quot;#5C6E82&quot;, marginTop: 6, lineHeight: 1.65 }}&gt;把「FP 归因 → 评估集漏标 → 精度被低估」写成独立章节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③ 标注修复（可选）&lt;/Text&gt;&#10;                &lt;Text style={{ fontSize: 14, color: &quot;#5C6E82&quot;, marginTop: 6, lineHeight: 1.65 }}&gt;候选清单已备好（train 侧 499 个），需人工确认，是另一量级投入。&lt;/Text&gt;&#10;            &lt;/Box&gt;&#10;            &lt;Box style={{ padding: 14, background: &quot;#FFF1E6&quot;, borderRadius: 10 }}&gt;&#10;                &lt;Text style={{ fontSize: 13, color: &quot;#B45309&quot;, lineHeight: 1.65, fontWeight: &quot;bold&quot; }}&gt;风险：训练期间机器不能关机/休眠；补框只补 train，val 必须保持独立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&lt;/Text&gt;&#10;        &lt;/Box&gt;&#10;        &lt;Text style={{ fontSize: 14, color: &quot;#9AA9B8&quot;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520065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100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轮重训跑到哪了，下周做什么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按新评估集重训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截至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2026-10-15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上午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0100" y="1276350"/>
            <a:ext cx="63817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0B3D91"/>
                </a:solidFill>
                <a:latin typeface="Inter"/>
                <a:ea typeface="Inter"/>
              </a:rPr>
              <a:t>65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571625" y="1609725"/>
            <a:ext cx="723900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500">
                <a:solidFill>
                  <a:srgbClr val="5C6E82"/>
                </a:solidFill>
                <a:latin typeface="Inter"/>
                <a:ea typeface="Inter"/>
              </a:rPr>
              <a:t xml:space="preserve">/ 100 </a:t>
            </a:r>
            <a:r>
              <a:rPr lang="zh-CN" sz="150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67525" y="1647825"/>
            <a:ext cx="600075" cy="247650"/>
          </a:xfrm>
          <a:prstGeom prst="roundRect">
            <a:avLst>
              <a:gd name="adj" fmla="val 23077"/>
            </a:avLst>
          </a:prstGeom>
          <a:solidFill>
            <a:srgbClr val="FFF1E6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981825" y="1695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7A18"/>
                </a:solidFill>
                <a:latin typeface="Inter"/>
                <a:ea typeface="Inter"/>
              </a:rPr>
              <a:t>进行中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00100" y="2066925"/>
            <a:ext cx="6667500" cy="114300"/>
          </a:xfrm>
          <a:prstGeom prst="roundRect">
            <a:avLst>
              <a:gd name="adj" fmla="val 50000"/>
            </a:avLst>
          </a:prstGeom>
          <a:solidFill>
            <a:srgbClr val="E1E9F2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800100" y="2066925"/>
            <a:ext cx="4333875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800100" y="2352675"/>
            <a:ext cx="3248025" cy="990600"/>
          </a:xfrm>
          <a:prstGeom prst="roundRect">
            <a:avLst>
              <a:gd name="adj" fmla="val 961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" y="252412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65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1550" y="2743200"/>
            <a:ext cx="2905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0B3D91"/>
                </a:solidFill>
                <a:latin typeface="Inter"/>
                <a:ea typeface="Inter"/>
              </a:rPr>
              <a:t>0.7716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219575" y="2352675"/>
            <a:ext cx="3248025" cy="990600"/>
          </a:xfrm>
          <a:prstGeom prst="roundRect">
            <a:avLst>
              <a:gd name="adj" fmla="val 961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91025" y="252412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第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65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mAP50-95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91025" y="2743200"/>
            <a:ext cx="2905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0B3D91"/>
                </a:solidFill>
                <a:latin typeface="Inter"/>
                <a:ea typeface="Inter"/>
              </a:rPr>
              <a:t>0.4990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00100" y="3514725"/>
            <a:ext cx="6667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1C33"/>
                </a:solidFill>
                <a:latin typeface="Inter"/>
                <a:ea typeface="Inter"/>
              </a:rPr>
              <a:t>客观说明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71550" y="3933825"/>
            <a:ext cx="63246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①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上述指标取自旧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口径，与新的分层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不可比，只作收敛趋势参考；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② 10-15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凌晨机器关机导致训练在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66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轮中断，已从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last.pt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断点续训，最多丢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10500" y="127635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下周计划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848600" y="163830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7848600" y="163830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001000" y="17907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①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跑完并评估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001000" y="201930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轮结束后，在新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上做统一口径评估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+ cal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阈值标定。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848600" y="283845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7848600" y="283845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0" y="299085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②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论文补章节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0" y="321945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把「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FP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归因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评估集漏标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精度被低估」写成独立章节。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848600" y="4038600"/>
            <a:ext cx="3581400" cy="1066800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7848600" y="4038600"/>
            <a:ext cx="3581400" cy="1066800"/>
          </a:xfrm>
          <a:custGeom>
            <a:pathLst>
              <a:path w="376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0" y="41910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③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标注修复（可选）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0" y="4419600"/>
            <a:ext cx="3238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候选清单已备好（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train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499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个），需人工确认，是另一量级投入。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810500" y="5238750"/>
            <a:ext cx="3581400" cy="762000"/>
          </a:xfrm>
          <a:prstGeom prst="roundRect">
            <a:avLst>
              <a:gd name="adj" fmla="val 12500"/>
            </a:avLst>
          </a:prstGeom>
          <a:solidFill>
            <a:srgbClr val="FFF1E6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943850" y="5372100"/>
            <a:ext cx="33147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风险：训练期间机器不能关机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>/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休眠；补框只补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train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，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val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必须保持独立。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1" name="" descr="&lt;Slide style={{ width: 1280, height: 720, padding: 0, position: &quot;relative&quot;, background: &quot;#061428&quot;, overflow: &quot;hidden&quot;, fontFamily: 'Inter, &quot;Microsoft YaHei&quot;, sans-serif' }}&gt;&#10;    &lt;Box style={{ position: &quot;absolute&quot;, top: 0, left: 0, width: 1280, height: 720, background: &quot;linear-gradient(135deg, #061428 0%, #0B3D91 70%, #0B3D91 100%)&quot; }} /&gt;&#10;    &lt;Box style={{ position: &quot;absolute&quot;, top: -180, left: 300, width: 680, height: 680, borderRadius: 340, background: &quot;radial-gradient(circle, rgba(0,180,216,0.30) 0%, rgba(6,20,40,0) 70%)&quot; }} /&gt;&#10;    &lt;Box style={{ position: &quot;relative&quot;, zIndex: 2, width: 1280, height: 720, paddingLeft: 120, paddingRight: 120, flexDirection: &quot;column&quot;, justifyContent: &quot;center&quot;, alignItems: &quot;center&quot;, gap: 14 }}&gt;&#10;        &lt;Text style={{ fontSize: 120, fontWeight: &quot;bold&quot;, color: &quot;#FF7A18&quot;, lineHeight: 1.02 }}&gt;81.7%&lt;/Text&gt;&#10;        &lt;Text style={{ fontSize: 15, color: &quot;#00B4D8&quot;, letterSpacing: 2, fontWeight: &quot;bold&quot; }}&gt;高置信未匹配框的同类率&lt;/Text&gt;&#10;        &lt;Text style={{ fontSize: 44, fontWeight: &quot;bold&quot;, color: &quot;#FFFFFF&quot;, lineHeight: 1.3, marginTop: 30 }}&gt;尺子准了，数字才算数&lt;/Text&gt;&#10;        &lt;Box style={{ width: 96, height: 4, background: &quot;linear-gradient(90deg, #0B3D91 0%, #00B4D8 100%)&quot;, marginTop: 12 }} /&gt;&#10;        &lt;Text style={{ fontSize: 16, color: &quot;#C7D6E8&quot;, marginTop: 14 }}&gt;2×2 板端实测　·　81.7% 漏标率　·　100 轮分层重训&lt;/Text&gt;&#10;    &lt;/Box&gt;&#10;    &lt;Box style={{ position: &quot;absolute&quot;, left: 0, bottom: 0, width: 1280, height: 60, alignItems: &quot;center&quot;, justifyContent: &quot;center&quot;, zIndex: 3 }}&gt;&#10;        &lt;Text style={{ fontSize: 14, color: &quot;#9AA9B8&quot; }}&gt;项目组 · 2026-10-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70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2857500" y="-1714500"/>
            <a:ext cx="6477000" cy="6477000"/>
          </a:xfrm>
          <a:custGeom>
            <a:pathLst>
              <a:path w="680" h="680">
                <a:moveTo>
                  <a:pt x="643" y="185"/>
                </a:moveTo>
                <a:lnTo>
                  <a:pt x="646" y="193"/>
                </a:lnTo>
                <a:lnTo>
                  <a:pt x="650" y="200"/>
                </a:lnTo>
                <a:lnTo>
                  <a:pt x="653" y="208"/>
                </a:lnTo>
                <a:lnTo>
                  <a:pt x="656" y="215"/>
                </a:lnTo>
                <a:lnTo>
                  <a:pt x="659" y="223"/>
                </a:lnTo>
                <a:lnTo>
                  <a:pt x="662" y="231"/>
                </a:lnTo>
                <a:lnTo>
                  <a:pt x="665" y="239"/>
                </a:lnTo>
                <a:lnTo>
                  <a:pt x="667" y="247"/>
                </a:lnTo>
                <a:lnTo>
                  <a:pt x="669" y="255"/>
                </a:lnTo>
                <a:lnTo>
                  <a:pt x="671" y="263"/>
                </a:lnTo>
                <a:lnTo>
                  <a:pt x="673" y="272"/>
                </a:lnTo>
                <a:lnTo>
                  <a:pt x="675" y="280"/>
                </a:lnTo>
                <a:lnTo>
                  <a:pt x="676" y="288"/>
                </a:lnTo>
                <a:lnTo>
                  <a:pt x="677" y="297"/>
                </a:lnTo>
                <a:lnTo>
                  <a:pt x="678" y="305"/>
                </a:lnTo>
                <a:lnTo>
                  <a:pt x="679" y="314"/>
                </a:lnTo>
                <a:lnTo>
                  <a:pt x="680" y="323"/>
                </a:lnTo>
                <a:lnTo>
                  <a:pt x="680" y="331"/>
                </a:lnTo>
                <a:lnTo>
                  <a:pt x="680" y="340"/>
                </a:lnTo>
                <a:lnTo>
                  <a:pt x="680" y="349"/>
                </a:lnTo>
                <a:lnTo>
                  <a:pt x="680" y="357"/>
                </a:lnTo>
                <a:lnTo>
                  <a:pt x="679" y="366"/>
                </a:lnTo>
                <a:lnTo>
                  <a:pt x="678" y="375"/>
                </a:lnTo>
                <a:lnTo>
                  <a:pt x="677" y="383"/>
                </a:lnTo>
                <a:lnTo>
                  <a:pt x="676" y="392"/>
                </a:lnTo>
                <a:lnTo>
                  <a:pt x="675" y="400"/>
                </a:lnTo>
                <a:lnTo>
                  <a:pt x="673" y="408"/>
                </a:lnTo>
                <a:lnTo>
                  <a:pt x="671" y="417"/>
                </a:lnTo>
                <a:lnTo>
                  <a:pt x="669" y="425"/>
                </a:lnTo>
                <a:lnTo>
                  <a:pt x="667" y="433"/>
                </a:lnTo>
                <a:lnTo>
                  <a:pt x="665" y="441"/>
                </a:lnTo>
                <a:lnTo>
                  <a:pt x="662" y="449"/>
                </a:lnTo>
                <a:lnTo>
                  <a:pt x="659" y="457"/>
                </a:lnTo>
                <a:lnTo>
                  <a:pt x="656" y="465"/>
                </a:lnTo>
                <a:lnTo>
                  <a:pt x="653" y="472"/>
                </a:lnTo>
                <a:lnTo>
                  <a:pt x="650" y="480"/>
                </a:lnTo>
                <a:lnTo>
                  <a:pt x="646" y="487"/>
                </a:lnTo>
                <a:lnTo>
                  <a:pt x="643" y="495"/>
                </a:lnTo>
                <a:lnTo>
                  <a:pt x="639" y="502"/>
                </a:lnTo>
                <a:lnTo>
                  <a:pt x="635" y="509"/>
                </a:lnTo>
                <a:lnTo>
                  <a:pt x="631" y="516"/>
                </a:lnTo>
                <a:lnTo>
                  <a:pt x="626" y="523"/>
                </a:lnTo>
                <a:lnTo>
                  <a:pt x="622" y="530"/>
                </a:lnTo>
                <a:lnTo>
                  <a:pt x="617" y="537"/>
                </a:lnTo>
                <a:lnTo>
                  <a:pt x="612" y="543"/>
                </a:lnTo>
                <a:lnTo>
                  <a:pt x="607" y="550"/>
                </a:lnTo>
                <a:lnTo>
                  <a:pt x="602" y="556"/>
                </a:lnTo>
                <a:lnTo>
                  <a:pt x="597" y="562"/>
                </a:lnTo>
                <a:lnTo>
                  <a:pt x="592" y="569"/>
                </a:lnTo>
                <a:lnTo>
                  <a:pt x="586" y="575"/>
                </a:lnTo>
                <a:lnTo>
                  <a:pt x="580" y="580"/>
                </a:lnTo>
                <a:lnTo>
                  <a:pt x="575" y="586"/>
                </a:lnTo>
                <a:lnTo>
                  <a:pt x="569" y="592"/>
                </a:lnTo>
                <a:lnTo>
                  <a:pt x="562" y="597"/>
                </a:lnTo>
                <a:lnTo>
                  <a:pt x="556" y="602"/>
                </a:lnTo>
                <a:lnTo>
                  <a:pt x="550" y="607"/>
                </a:lnTo>
                <a:lnTo>
                  <a:pt x="543" y="612"/>
                </a:lnTo>
                <a:lnTo>
                  <a:pt x="537" y="617"/>
                </a:lnTo>
                <a:lnTo>
                  <a:pt x="530" y="622"/>
                </a:lnTo>
                <a:lnTo>
                  <a:pt x="523" y="626"/>
                </a:lnTo>
                <a:lnTo>
                  <a:pt x="516" y="631"/>
                </a:lnTo>
                <a:lnTo>
                  <a:pt x="509" y="635"/>
                </a:lnTo>
                <a:lnTo>
                  <a:pt x="502" y="639"/>
                </a:lnTo>
                <a:lnTo>
                  <a:pt x="495" y="643"/>
                </a:lnTo>
                <a:lnTo>
                  <a:pt x="487" y="646"/>
                </a:lnTo>
                <a:lnTo>
                  <a:pt x="480" y="650"/>
                </a:lnTo>
                <a:lnTo>
                  <a:pt x="472" y="653"/>
                </a:lnTo>
                <a:lnTo>
                  <a:pt x="465" y="656"/>
                </a:lnTo>
                <a:lnTo>
                  <a:pt x="457" y="659"/>
                </a:lnTo>
                <a:lnTo>
                  <a:pt x="449" y="662"/>
                </a:lnTo>
                <a:lnTo>
                  <a:pt x="441" y="665"/>
                </a:lnTo>
                <a:lnTo>
                  <a:pt x="433" y="667"/>
                </a:lnTo>
                <a:lnTo>
                  <a:pt x="425" y="669"/>
                </a:lnTo>
                <a:lnTo>
                  <a:pt x="417" y="671"/>
                </a:lnTo>
                <a:lnTo>
                  <a:pt x="408" y="673"/>
                </a:lnTo>
                <a:lnTo>
                  <a:pt x="400" y="675"/>
                </a:lnTo>
                <a:lnTo>
                  <a:pt x="392" y="676"/>
                </a:lnTo>
                <a:lnTo>
                  <a:pt x="383" y="677"/>
                </a:lnTo>
                <a:lnTo>
                  <a:pt x="375" y="678"/>
                </a:lnTo>
                <a:lnTo>
                  <a:pt x="366" y="679"/>
                </a:lnTo>
                <a:lnTo>
                  <a:pt x="357" y="680"/>
                </a:lnTo>
                <a:lnTo>
                  <a:pt x="349" y="680"/>
                </a:lnTo>
                <a:lnTo>
                  <a:pt x="340" y="680"/>
                </a:lnTo>
                <a:lnTo>
                  <a:pt x="331" y="680"/>
                </a:lnTo>
                <a:lnTo>
                  <a:pt x="323" y="680"/>
                </a:lnTo>
                <a:lnTo>
                  <a:pt x="314" y="679"/>
                </a:lnTo>
                <a:lnTo>
                  <a:pt x="305" y="678"/>
                </a:lnTo>
                <a:lnTo>
                  <a:pt x="297" y="677"/>
                </a:lnTo>
                <a:lnTo>
                  <a:pt x="288" y="676"/>
                </a:lnTo>
                <a:lnTo>
                  <a:pt x="280" y="675"/>
                </a:lnTo>
                <a:lnTo>
                  <a:pt x="272" y="673"/>
                </a:lnTo>
                <a:lnTo>
                  <a:pt x="263" y="671"/>
                </a:lnTo>
                <a:lnTo>
                  <a:pt x="255" y="669"/>
                </a:lnTo>
                <a:lnTo>
                  <a:pt x="247" y="667"/>
                </a:lnTo>
                <a:lnTo>
                  <a:pt x="239" y="665"/>
                </a:lnTo>
                <a:lnTo>
                  <a:pt x="231" y="662"/>
                </a:lnTo>
                <a:lnTo>
                  <a:pt x="223" y="659"/>
                </a:lnTo>
                <a:lnTo>
                  <a:pt x="215" y="656"/>
                </a:lnTo>
                <a:lnTo>
                  <a:pt x="208" y="653"/>
                </a:lnTo>
                <a:lnTo>
                  <a:pt x="200" y="650"/>
                </a:lnTo>
                <a:lnTo>
                  <a:pt x="193" y="646"/>
                </a:lnTo>
                <a:lnTo>
                  <a:pt x="185" y="643"/>
                </a:lnTo>
                <a:lnTo>
                  <a:pt x="178" y="639"/>
                </a:lnTo>
                <a:lnTo>
                  <a:pt x="171" y="635"/>
                </a:lnTo>
                <a:lnTo>
                  <a:pt x="164" y="631"/>
                </a:lnTo>
                <a:lnTo>
                  <a:pt x="157" y="626"/>
                </a:lnTo>
                <a:lnTo>
                  <a:pt x="150" y="622"/>
                </a:lnTo>
                <a:lnTo>
                  <a:pt x="143" y="617"/>
                </a:lnTo>
                <a:lnTo>
                  <a:pt x="137" y="612"/>
                </a:lnTo>
                <a:lnTo>
                  <a:pt x="130" y="607"/>
                </a:lnTo>
                <a:lnTo>
                  <a:pt x="124" y="602"/>
                </a:lnTo>
                <a:lnTo>
                  <a:pt x="118" y="597"/>
                </a:lnTo>
                <a:lnTo>
                  <a:pt x="111" y="592"/>
                </a:lnTo>
                <a:lnTo>
                  <a:pt x="105" y="586"/>
                </a:lnTo>
                <a:lnTo>
                  <a:pt x="100" y="580"/>
                </a:lnTo>
                <a:lnTo>
                  <a:pt x="94" y="575"/>
                </a:lnTo>
                <a:lnTo>
                  <a:pt x="88" y="569"/>
                </a:lnTo>
                <a:lnTo>
                  <a:pt x="83" y="562"/>
                </a:lnTo>
                <a:lnTo>
                  <a:pt x="78" y="556"/>
                </a:lnTo>
                <a:lnTo>
                  <a:pt x="73" y="550"/>
                </a:lnTo>
                <a:lnTo>
                  <a:pt x="68" y="543"/>
                </a:lnTo>
                <a:lnTo>
                  <a:pt x="63" y="537"/>
                </a:lnTo>
                <a:lnTo>
                  <a:pt x="58" y="530"/>
                </a:lnTo>
                <a:lnTo>
                  <a:pt x="54" y="523"/>
                </a:lnTo>
                <a:lnTo>
                  <a:pt x="49" y="516"/>
                </a:lnTo>
                <a:lnTo>
                  <a:pt x="45" y="509"/>
                </a:lnTo>
                <a:lnTo>
                  <a:pt x="41" y="502"/>
                </a:lnTo>
                <a:lnTo>
                  <a:pt x="37" y="495"/>
                </a:lnTo>
                <a:lnTo>
                  <a:pt x="34" y="487"/>
                </a:lnTo>
                <a:lnTo>
                  <a:pt x="30" y="480"/>
                </a:lnTo>
                <a:lnTo>
                  <a:pt x="27" y="472"/>
                </a:lnTo>
                <a:lnTo>
                  <a:pt x="24" y="465"/>
                </a:lnTo>
                <a:lnTo>
                  <a:pt x="21" y="457"/>
                </a:lnTo>
                <a:lnTo>
                  <a:pt x="18" y="449"/>
                </a:lnTo>
                <a:lnTo>
                  <a:pt x="15" y="441"/>
                </a:lnTo>
                <a:lnTo>
                  <a:pt x="13" y="433"/>
                </a:lnTo>
                <a:lnTo>
                  <a:pt x="11" y="425"/>
                </a:lnTo>
                <a:lnTo>
                  <a:pt x="9" y="417"/>
                </a:lnTo>
                <a:lnTo>
                  <a:pt x="7" y="408"/>
                </a:lnTo>
                <a:lnTo>
                  <a:pt x="5" y="400"/>
                </a:lnTo>
                <a:lnTo>
                  <a:pt x="4" y="392"/>
                </a:lnTo>
                <a:lnTo>
                  <a:pt x="3" y="383"/>
                </a:lnTo>
                <a:lnTo>
                  <a:pt x="2" y="375"/>
                </a:lnTo>
                <a:lnTo>
                  <a:pt x="1" y="366"/>
                </a:lnTo>
                <a:lnTo>
                  <a:pt x="0" y="357"/>
                </a:lnTo>
                <a:lnTo>
                  <a:pt x="0" y="349"/>
                </a:lnTo>
                <a:lnTo>
                  <a:pt x="0" y="340"/>
                </a:lnTo>
                <a:lnTo>
                  <a:pt x="0" y="331"/>
                </a:lnTo>
                <a:lnTo>
                  <a:pt x="0" y="323"/>
                </a:lnTo>
                <a:lnTo>
                  <a:pt x="1" y="314"/>
                </a:lnTo>
                <a:lnTo>
                  <a:pt x="2" y="305"/>
                </a:lnTo>
                <a:lnTo>
                  <a:pt x="3" y="297"/>
                </a:lnTo>
                <a:lnTo>
                  <a:pt x="4" y="288"/>
                </a:lnTo>
                <a:lnTo>
                  <a:pt x="5" y="280"/>
                </a:lnTo>
                <a:lnTo>
                  <a:pt x="7" y="272"/>
                </a:lnTo>
                <a:lnTo>
                  <a:pt x="9" y="263"/>
                </a:lnTo>
                <a:lnTo>
                  <a:pt x="11" y="255"/>
                </a:lnTo>
                <a:lnTo>
                  <a:pt x="13" y="247"/>
                </a:lnTo>
                <a:lnTo>
                  <a:pt x="15" y="239"/>
                </a:lnTo>
                <a:lnTo>
                  <a:pt x="18" y="231"/>
                </a:lnTo>
                <a:lnTo>
                  <a:pt x="21" y="223"/>
                </a:lnTo>
                <a:lnTo>
                  <a:pt x="24" y="215"/>
                </a:lnTo>
                <a:lnTo>
                  <a:pt x="27" y="208"/>
                </a:lnTo>
                <a:lnTo>
                  <a:pt x="30" y="200"/>
                </a:lnTo>
                <a:lnTo>
                  <a:pt x="34" y="193"/>
                </a:lnTo>
                <a:lnTo>
                  <a:pt x="37" y="185"/>
                </a:lnTo>
                <a:lnTo>
                  <a:pt x="40" y="180"/>
                </a:lnTo>
                <a:lnTo>
                  <a:pt x="640" y="180"/>
                </a:lnTo>
                <a:close/>
              </a:path>
            </a:pathLst>
          </a:custGeom>
          <a:gradFill>
            <a:gsLst>
              <a:gs pos="0">
                <a:srgbClr val="00B4D8">
                  <a:alpha val="30000"/>
                </a:srgbClr>
              </a:gs>
              <a:gs pos="70000">
                <a:srgbClr val="0614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343400" y="1666875"/>
            <a:ext cx="3514725" cy="14001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90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210175" y="3200400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0B4D8"/>
                </a:solidFill>
                <a:latin typeface="Inter"/>
                <a:ea typeface="Inter"/>
              </a:rPr>
              <a:t>高置信未匹配框的同类率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000500" y="3790950"/>
            <a:ext cx="4191000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Inter"/>
                <a:ea typeface="Inter"/>
              </a:rPr>
              <a:t>尺子准了，数字才算数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638800" y="4695825"/>
            <a:ext cx="914400" cy="381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276725" y="5000625"/>
            <a:ext cx="3648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2×2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板端实测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81.7%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漏标率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100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轮分层重训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467350" y="64960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2026-10-15T10:36:48Z</dcterms:created>
  <dcterms:modified xsi:type="dcterms:W3CDTF">2026-10-15T10:36:48Z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{"AIGC":{"Label":"1","ContentProducer":"00119111010856365494821B355","ProduceID":"01a13d61e1487970b6d17f1caf78e70a","ReservedCode1":"","ContentPropagator":"00119111010856365494821B355","PropagateID":"01a13d61e1487970b6d17f1caf78e70a","ReservedCode2":""}}</vt:lpwstr>
  </property>
</Properties>
</file>