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5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B1C33"/>
                </a:solidFill>
              </a:defRPr>
            </a:pPr>
            <a:r>
              <a:rPr sz="1350">
                <a:solidFill>
                  <a:srgbClr val="0B1C33"/>
                </a:solidFill>
              </a:rPr>
              <a:t>新 val 中样本最少的 8 个类（框数）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B1C33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新 val 框数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8"/>
                <c:pt idx="0">
                  <c:v>oxide_scale_plate</c:v>
                </c:pt>
                <c:pt idx="1">
                  <c:v>striated_scale</c:v>
                </c:pt>
                <c:pt idx="2">
                  <c:v>blocky_scale</c:v>
                </c:pt>
                <c:pt idx="3">
                  <c:v>external_fold</c:v>
                </c:pt>
                <c:pt idx="4">
                  <c:v>iron_scale_compression</c:v>
                </c:pt>
                <c:pt idx="5">
                  <c:v>cutting_opening</c:v>
                </c:pt>
                <c:pt idx="6">
                  <c:v>longitudinal_crack</c:v>
                </c:pt>
                <c:pt idx="7">
                  <c:v>water_slag_mark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32</c:v>
                </c:pt>
                <c:pt idx="1">
                  <c:v>60</c:v>
                </c:pt>
                <c:pt idx="2">
                  <c:v>62</c:v>
                </c:pt>
                <c:pt idx="3">
                  <c:v>64</c:v>
                </c:pt>
                <c:pt idx="4">
                  <c:v>65</c:v>
                </c:pt>
                <c:pt idx="5">
                  <c:v>66</c:v>
                </c:pt>
                <c:pt idx="6">
                  <c:v>66</c:v>
                </c:pt>
                <c:pt idx="7">
                  <c:v>67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F1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A　旧 50 轮 + 统一 0.20</c:v>
                </c:pt>
                <c:pt idx="1">
                  <c:v>D　旧 50 轮 + 13 类标定</c:v>
                </c:pt>
                <c:pt idx="2">
                  <c:v>B　新 e100 + 统一 0.20</c:v>
                </c:pt>
                <c:pt idx="3">
                  <c:v>C　新 e100 + 13 类标定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0.7376</c:v>
                </c:pt>
                <c:pt idx="1">
                  <c:v>0.7295</c:v>
                </c:pt>
                <c:pt idx="2">
                  <c:v>0.7162</c:v>
                </c:pt>
                <c:pt idx="3">
                  <c:v>0.7064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>
                  <a:alpha val="94000"/>
                </a:srgbClr>
              </a:gs>
              <a:gs pos="46000">
                <a:srgbClr val="061428">
                  <a:alpha val="70000"/>
                </a:srgbClr>
              </a:gs>
              <a:gs pos="100000">
                <a:srgbClr val="061428">
                  <a:alpha val="2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0B4D8"/>
                </a:solidFill>
                <a:latin typeface="Inter"/>
                <a:ea typeface="Inter"/>
              </a:rPr>
              <a:t>WEEKLY REPORT · 2026-10-15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0591800" cy="1019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550" b="1">
                <a:solidFill>
                  <a:srgbClr val="FFFFFF"/>
                </a:solidFill>
                <a:latin typeface="Inter"/>
                <a:ea typeface="Inter"/>
              </a:rPr>
              <a:t>工业表面缺陷检测系统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876550"/>
            <a:ext cx="10591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00B4D8"/>
                </a:solidFill>
                <a:latin typeface="Inter"/>
                <a:ea typeface="Inter"/>
              </a:rPr>
              <a:t>本周进展汇报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00100" y="3543300"/>
            <a:ext cx="609600" cy="47625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10591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板端选型实测　·　质量瓶颈归因　·　评估集重建与重训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847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>2×2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50577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板端</a:t>
            </a:r>
            <a:r>
              <a:rPr lang="en-US" sz="1050">
                <a:solidFill>
                  <a:srgbClr val="C7D6E8"/>
                </a:solidFill>
                <a:latin typeface="Inter"/>
                <a:ea typeface="Inter"/>
              </a:rPr>
              <a:t xml:space="preserve"> A/B </a:t>
            </a: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实测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19325" y="4457700"/>
            <a:ext cx="1285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19325" y="50577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高置信漏标率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76700" y="4457700"/>
            <a:ext cx="13239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 xml:space="preserve">100 </a:t>
            </a:r>
            <a:r>
              <a:rPr lang="zh-CN" sz="3300" b="1">
                <a:solidFill>
                  <a:srgbClr val="FF7A18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076700" y="5057775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分层重训进行中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553700" y="648652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项目组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2095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目录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3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14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页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2026-10-12 ~ 10-15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36195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1C33"/>
                </a:solidFill>
                <a:latin typeface="Inter"/>
                <a:ea typeface="Inter"/>
              </a:rPr>
              <a:t>这一周的主线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00100" y="1952625"/>
            <a:ext cx="3619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C6E82"/>
                </a:solidFill>
                <a:latin typeface="Inter"/>
                <a:ea typeface="Inter"/>
              </a:rPr>
              <a:t>不是加功能，而是把「尺子」校准——先定板端配置，再确认评估集本身是否可信。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38200" y="2847975"/>
            <a:ext cx="3619500" cy="933450"/>
          </a:xfrm>
          <a:prstGeom prst="roundRect">
            <a:avLst>
              <a:gd name="adj" fmla="val 10204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838200" y="2847975"/>
            <a:ext cx="3619500" cy="933450"/>
          </a:xfrm>
          <a:custGeom>
            <a:pathLst>
              <a:path w="380" h="9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2"/>
                </a:lnTo>
                <a:cubicBezTo>
                  <a:pt x="4" y="95"/>
                  <a:pt x="6" y="97"/>
                  <a:pt x="9" y="98"/>
                </a:cubicBezTo>
                <a:cubicBezTo>
                  <a:pt x="4" y="97"/>
                  <a:pt x="0" y="93"/>
                  <a:pt x="0" y="8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09650" y="3019425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一句话结论：模型精度被评估集的漏标系统性低估，约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2.5 ~ 3.5pp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953000" y="1295400"/>
            <a:ext cx="6438900" cy="942975"/>
          </a:xfrm>
          <a:custGeom>
            <a:pathLst>
              <a:path w="676" h="99">
                <a:moveTo>
                  <a:pt x="0" y="98"/>
                </a:moveTo>
                <a:lnTo>
                  <a:pt x="676" y="98"/>
                </a:lnTo>
                <a:lnTo>
                  <a:pt x="676" y="99"/>
                </a:lnTo>
                <a:lnTo>
                  <a:pt x="0" y="99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91200" y="142875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板端落地与选型验证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91200" y="17335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新模型、新阈值上线前，先用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holdout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做四格实测，让数据决定配置。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953000" y="2228850"/>
            <a:ext cx="6438900" cy="1019175"/>
          </a:xfrm>
          <a:custGeom>
            <a:pathLst>
              <a:path w="676" h="107">
                <a:moveTo>
                  <a:pt x="0" y="106"/>
                </a:moveTo>
                <a:lnTo>
                  <a:pt x="676" y="106"/>
                </a:lnTo>
                <a:lnTo>
                  <a:pt x="676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91200" y="2438400"/>
            <a:ext cx="4219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质量瓶颈归因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791200" y="2743200"/>
            <a:ext cx="4219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mAP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卡在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：先排除背景误报与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NMS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，再定位到真正的原因。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791200" y="3448050"/>
            <a:ext cx="401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评估集重建与重训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91200" y="3752850"/>
            <a:ext cx="4019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全池分层重划分让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39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类样本均衡，再按新评估集重训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02 / 14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953000" y="142875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953000" y="24384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953000" y="344805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01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板端落地与选型验证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新模型、新阈值，到底该上哪一个？用实测数据说话。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37719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上线前先做一次四格对照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把模型与阈值当作两个独立变量，正交组合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0100" y="137160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1C33"/>
                </a:solidFill>
                <a:latin typeface="Inter"/>
                <a:ea typeface="Inter"/>
              </a:rPr>
              <a:t>两个变量，四种组合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1914525"/>
            <a:ext cx="36576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C6E82"/>
                </a:solidFill>
                <a:latin typeface="Inter"/>
                <a:ea typeface="Inter"/>
              </a:rPr>
              <a:t>上线前不赌「新的一定更好」：把「模型」与「阈值」拆成两个变量，正交组合成四格，逐格实测再定。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38200" y="2790825"/>
            <a:ext cx="3657600" cy="895350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838200" y="2790825"/>
            <a:ext cx="3657600" cy="895350"/>
          </a:xfrm>
          <a:custGeom>
            <a:pathLst>
              <a:path w="384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90600" y="2943225"/>
            <a:ext cx="3314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判据：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300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张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holdout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（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seed 20261013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），走真实板端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socket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送检，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NMS /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匹配口径统一。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00100" y="3962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71550" y="3914775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模型：旧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vs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e100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0100" y="4229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71550" y="4181475"/>
            <a:ext cx="2114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阈值：统一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vs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934200" y="2257425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统一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725025" y="2257425"/>
            <a:ext cx="64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914900" y="30956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905500" y="258127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38850" y="271462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A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38850" y="3400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统一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8705850" y="258127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839200" y="271462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D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839200" y="3400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914900" y="44100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905500" y="389572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38850" y="402907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B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38850" y="47148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统一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8705850" y="389572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839200" y="402907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C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839200" y="47148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629602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四格实测：最优是「旧模型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+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统一阈值」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629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300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holdout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板端真实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socket · NMS /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匹配口径统一</a:t>
            </a:r>
            <a:endParaRPr/>
          </a:p>
        </p:txBody>
      </p:sp>
      <p:graphicFrame>
        <p:nvGraphicFramePr>
          <p:cNvPr id="200" name="197"/>
          <p:cNvGraphicFramePr/>
          <p:nvPr/>
        </p:nvGraphicFramePr>
        <p:xfrm rot="0" flipH="0" flipV="0">
          <a:off x="800100" y="1524000"/>
          <a:ext cx="6172200" cy="4286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01" name=""/>
          <p:cNvSpPr/>
          <p:nvPr/>
        </p:nvSpPr>
        <p:spPr>
          <a:xfrm rot="0" flipH="0" flipV="0">
            <a:off x="7391400" y="2190750"/>
            <a:ext cx="4038600" cy="1457325"/>
          </a:xfrm>
          <a:prstGeom prst="roundRect">
            <a:avLst>
              <a:gd name="adj" fmla="val 6536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391400" y="2190750"/>
            <a:ext cx="4038600" cy="1457325"/>
          </a:xfrm>
          <a:custGeom>
            <a:pathLst>
              <a:path w="424" h="15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47"/>
                </a:lnTo>
                <a:cubicBezTo>
                  <a:pt x="4" y="150"/>
                  <a:pt x="6" y="152"/>
                  <a:pt x="9" y="153"/>
                </a:cubicBezTo>
                <a:cubicBezTo>
                  <a:pt x="4" y="152"/>
                  <a:pt x="0" y="148"/>
                  <a:pt x="0" y="14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581900" y="238125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最优配置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581900" y="2600325"/>
            <a:ext cx="36195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F7A18"/>
                </a:solidFill>
                <a:latin typeface="Inter"/>
                <a:ea typeface="Inter"/>
              </a:rPr>
              <a:t>A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581900" y="31813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旧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+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统一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0.20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，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F1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达到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0.7376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353300" y="3800475"/>
            <a:ext cx="40386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543800" y="3990975"/>
            <a:ext cx="3657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四格里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A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最高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543800" y="4362450"/>
            <a:ext cx="3657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新模型、新阈值单独换上，都没能超过现有配置；两者叠加（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C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）反而是四格最低。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4577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换模型、换阈值，都在伤指标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两个变量的边际效应，都是负的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00100" y="1295400"/>
            <a:ext cx="6096000" cy="1009650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990600" y="14859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219200" y="159067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换模型：旧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→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新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e100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（同为统一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0.20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219200" y="1838325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F1 0.7376 → 0.7162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，召回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0.7026 → 0.6618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362575" y="1609725"/>
            <a:ext cx="134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7A18"/>
                </a:solidFill>
                <a:latin typeface="Inter"/>
                <a:ea typeface="Inter"/>
              </a:rPr>
              <a:t>−0.0214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00100" y="2476500"/>
            <a:ext cx="6096000" cy="1009650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990600" y="26670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219200" y="2771775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换阈值：统一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0.20 → 13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219200" y="3019425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旧模型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0.7376 → 0.7295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；新模型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0.7162 → 0.7064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362575" y="2705100"/>
            <a:ext cx="134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7A18"/>
                </a:solidFill>
                <a:latin typeface="Inter"/>
                <a:ea typeface="Inter"/>
              </a:rPr>
              <a:t>−0.0081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86475" y="3114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A9B8"/>
                </a:solidFill>
                <a:latin typeface="Inter"/>
                <a:ea typeface="Inter"/>
              </a:rPr>
              <a:t>旧模型口径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00100" y="3695700"/>
            <a:ext cx="6096000" cy="638175"/>
          </a:xfrm>
          <a:prstGeom prst="roundRect">
            <a:avLst>
              <a:gd name="adj" fmla="val 14925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71550" y="3867150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两条路都在掉分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 xml:space="preserve"> ——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维持现有配置，不换。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0100" y="4505325"/>
            <a:ext cx="609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说明：两代模型的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best.pt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都在同一份原始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上选轮，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holdout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被选择污染，差异约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2σ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；方向上可信，铁证仍待下一章的分层重训。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353300" y="12954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据此完成的动作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391400" y="1676400"/>
            <a:ext cx="4038600" cy="857250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391400" y="1676400"/>
            <a:ext cx="4038600" cy="857250"/>
          </a:xfrm>
          <a:custGeom>
            <a:pathLst>
              <a:path w="424" h="9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4"/>
                </a:lnTo>
                <a:cubicBezTo>
                  <a:pt x="4" y="87"/>
                  <a:pt x="6" y="89"/>
                  <a:pt x="9" y="90"/>
                </a:cubicBezTo>
                <a:cubicBezTo>
                  <a:pt x="4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562850" y="184785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板端回滚到配置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A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562850" y="2095500"/>
            <a:ext cx="36576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即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10-09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已验证的生产态；单进程运行，冒烟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6/6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帧正常。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391400" y="2686050"/>
            <a:ext cx="4038600" cy="1123950"/>
          </a:xfrm>
          <a:prstGeom prst="roundRect">
            <a:avLst>
              <a:gd name="adj" fmla="val 8475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391400" y="2686050"/>
            <a:ext cx="4038600" cy="1123950"/>
          </a:xfrm>
          <a:custGeom>
            <a:pathLst>
              <a:path w="424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62850" y="28575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链路忠实性校验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62850" y="3105150"/>
            <a:ext cx="3657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同条件板端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F1 0.7064 vs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离线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0.7062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，偏差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0.5% ——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板端后处理链路与离线一致。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02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质量瓶颈归因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425">
                <a:solidFill>
                  <a:srgbClr val="C7D6E8"/>
                </a:solidFill>
                <a:latin typeface="Inter"/>
                <a:ea typeface="Inter"/>
              </a:rPr>
              <a:t xml:space="preserve">mAP </a:t>
            </a: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卡在</a:t>
            </a:r>
            <a:r>
              <a:rPr lang="en-US" sz="1425">
                <a:solidFill>
                  <a:srgbClr val="C7D6E8"/>
                </a:solidFill>
                <a:latin typeface="Inter"/>
                <a:ea typeface="Inter"/>
              </a:rPr>
              <a:t xml:space="preserve"> 0.72 —— </a:t>
            </a: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是模型不行，还是尺子不准？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654367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先排除：不是背景误报，也不是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NMS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太松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654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三个候选解释，逐个用实测数据检验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800100" y="1295400"/>
            <a:ext cx="3381375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09650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01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476625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552825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009650" y="18192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瓶颈是背景误报？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1009650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009650" y="2466975"/>
            <a:ext cx="2962275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200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张纯背景图上，模型产出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0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个误检框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（仅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张出现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conf=0.011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的极弱框）。背景零误报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负样本过采样、背景难例挖掘都没有收益空间。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410075" y="1295400"/>
            <a:ext cx="3371850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619625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02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077075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153275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619625" y="18192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是</a:t>
            </a:r>
            <a:r>
              <a:rPr lang="en-US" sz="1575" b="1">
                <a:solidFill>
                  <a:srgbClr val="0B1C33"/>
                </a:solidFill>
                <a:latin typeface="Inter"/>
                <a:ea typeface="Inter"/>
              </a:rPr>
              <a:t xml:space="preserve"> NMS </a:t>
            </a: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卡得太松？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619625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619625" y="2466975"/>
            <a:ext cx="29527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与其它预测框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IoU ≥ 0.30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只占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20.1%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。把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NMS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0.45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收紧到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模拟一遍：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FP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减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302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，但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FN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增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109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F1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只涨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0.0039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不是解药。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010525" y="1295400"/>
            <a:ext cx="3381375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20075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03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10687050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763250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20075" y="18192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是阈值放得太低？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8220075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220075" y="2466975"/>
            <a:ext cx="2962275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per-class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阈值只能压住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0.33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的那一半低置信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FP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，代价是召回同步下降——实测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F1 −0.008 ~ −0.010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。它只是取舍旋钮，不是精度杠杆。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0100" y="4800600"/>
            <a:ext cx="10591800" cy="542925"/>
          </a:xfrm>
          <a:prstGeom prst="roundRect">
            <a:avLst>
              <a:gd name="adj" fmla="val 17544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781425" y="4972050"/>
            <a:ext cx="463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三个方向全部排除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 xml:space="preserve"> →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问题既不在模型能力，也不在后处理参数。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8006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真正的瓶颈：评估集自己漏标了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2647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个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FP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，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100%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出自有缺陷的图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高置信未匹配检测中，「预测类别</a:t>
            </a:r>
            <a:r>
              <a:rPr lang="en-US" sz="1050" b="1">
                <a:solidFill>
                  <a:srgbClr val="5C6E82"/>
                </a:solidFill>
                <a:latin typeface="Inter"/>
                <a:ea typeface="Inter"/>
              </a:rPr>
              <a:t xml:space="preserve"> == </a:t>
            </a: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图内已有类别」占比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3486150" cy="12858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825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3486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196 / 240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，取自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conf≥0.45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且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IoU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的框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819650" y="2286000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随机情况下的同类率基线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819650" y="2505075"/>
            <a:ext cx="2714625" cy="676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200" b="1">
                <a:solidFill>
                  <a:srgbClr val="9AA9B8"/>
                </a:solidFill>
                <a:latin typeface="Inter"/>
                <a:ea typeface="Inter"/>
              </a:rPr>
              <a:t>7.2%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819650" y="325755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9B8"/>
                </a:solidFill>
                <a:latin typeface="Inter"/>
                <a:ea typeface="Inter"/>
              </a:rPr>
              <a:t>若模型是在「臆造」，同类率应接近这个数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38200" y="3676650"/>
            <a:ext cx="5181600" cy="2419350"/>
          </a:xfrm>
          <a:prstGeom prst="roundRect">
            <a:avLst>
              <a:gd name="adj" fmla="val 3937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38200" y="3676650"/>
            <a:ext cx="5181600" cy="2419350"/>
          </a:xfrm>
          <a:custGeom>
            <a:pathLst>
              <a:path w="544" h="25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48"/>
                </a:lnTo>
                <a:cubicBezTo>
                  <a:pt x="4" y="251"/>
                  <a:pt x="6" y="253"/>
                  <a:pt x="9" y="254"/>
                </a:cubicBezTo>
                <a:cubicBezTo>
                  <a:pt x="4" y="253"/>
                  <a:pt x="0" y="249"/>
                  <a:pt x="0" y="2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28700" y="3867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Inter"/>
                <a:ea typeface="Inter"/>
              </a:rPr>
              <a:t>模型是在找缺陷，不是画框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28700" y="4143375"/>
            <a:ext cx="4762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同类率约为随机基线的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倍，且框偏移组（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IoU 0.25~0.50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）同类率高达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97.4%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。这说明模型识别出的是图内真实存在、但没被标注的同类缺陷实例。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248400" y="3676650"/>
            <a:ext cx="5181600" cy="2419350"/>
          </a:xfrm>
          <a:prstGeom prst="roundRect">
            <a:avLst>
              <a:gd name="adj" fmla="val 3937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248400" y="3676650"/>
            <a:ext cx="5181600" cy="2419350"/>
          </a:xfrm>
          <a:custGeom>
            <a:pathLst>
              <a:path w="544" h="25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48"/>
                </a:lnTo>
                <a:cubicBezTo>
                  <a:pt x="4" y="251"/>
                  <a:pt x="6" y="253"/>
                  <a:pt x="9" y="254"/>
                </a:cubicBezTo>
                <a:cubicBezTo>
                  <a:pt x="4" y="253"/>
                  <a:pt x="0" y="249"/>
                  <a:pt x="0" y="2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38900" y="3867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Inter"/>
                <a:ea typeface="Inter"/>
              </a:rPr>
              <a:t>修正标注后的指标上界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438900" y="4143375"/>
            <a:ext cx="4762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若把「同类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+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高置信」的未匹配检测都视为漏标回收：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F1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由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0.7108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升至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0.7507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（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+4.0pp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）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；按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60~80%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的人工确认率折算，实际预期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+2.5 ~ 3.5pp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3962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46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页核对表，逐张看过了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红框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=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模型预测　·　绿框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=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已有标注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00100" y="1276350"/>
            <a:ext cx="5905500" cy="4400550"/>
          </a:xfrm>
          <a:prstGeom prst="roundRect">
            <a:avLst>
              <a:gd name="adj" fmla="val 2165"/>
            </a:avLst>
          </a:prstGeom>
          <a:solidFill>
            <a:srgbClr val="061428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0" t="322" r="0" b="322"/>
          <a:stretch>
            <a:fillRect/>
          </a:stretch>
        </p:blipFill>
        <p:spPr>
          <a:xfrm rot="0" flipH="0" flipV="0">
            <a:off x="800100" y="1276350"/>
            <a:ext cx="5905500" cy="4400550"/>
          </a:xfrm>
          <a:custGeom>
            <a:pathLst>
              <a:path w="620" h="462">
                <a:moveTo>
                  <a:pt x="610" y="0"/>
                </a:moveTo>
                <a:cubicBezTo>
                  <a:pt x="616" y="0"/>
                  <a:pt x="620" y="5"/>
                  <a:pt x="620" y="10"/>
                </a:cubicBezTo>
                <a:lnTo>
                  <a:pt x="620" y="452"/>
                </a:lnTo>
                <a:cubicBezTo>
                  <a:pt x="620" y="458"/>
                  <a:pt x="616" y="462"/>
                  <a:pt x="610" y="462"/>
                </a:cubicBezTo>
                <a:lnTo>
                  <a:pt x="10" y="462"/>
                </a:lnTo>
                <a:cubicBezTo>
                  <a:pt x="4" y="462"/>
                  <a:pt x="0" y="458"/>
                  <a:pt x="0" y="45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086600" y="131445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怎么核的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086600" y="1695450"/>
            <a:ext cx="4305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把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695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个漏标候选按置信度分三档，裁图拼成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46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页核对表；逐张比对模型预测与已有标注，判断是「模型出错」还是「标注缺失」。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124700" y="2447925"/>
            <a:ext cx="4305300" cy="1600200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124700" y="2447925"/>
            <a:ext cx="4305300" cy="1600200"/>
          </a:xfrm>
          <a:custGeom>
            <a:pathLst>
              <a:path w="452" h="16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62"/>
                </a:lnTo>
                <a:cubicBezTo>
                  <a:pt x="4" y="165"/>
                  <a:pt x="6" y="167"/>
                  <a:pt x="9" y="168"/>
                </a:cubicBezTo>
                <a:cubicBezTo>
                  <a:pt x="4" y="167"/>
                  <a:pt x="0" y="163"/>
                  <a:pt x="0" y="15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96150" y="2619375"/>
            <a:ext cx="3924300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FF7A18"/>
                </a:solidFill>
                <a:latin typeface="Inter"/>
                <a:ea typeface="Inter"/>
              </a:rPr>
              <a:t>≈ 85%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96150" y="3076575"/>
            <a:ext cx="39243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已目检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high-conf 8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页共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143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个候选，其中约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85%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判为真漏标——红框圈住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patches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暗斑、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inclusion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细长夹杂、横向压入氧化皮纹理，附近确实没有绿框。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86600" y="4200525"/>
            <a:ext cx="4305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存疑集中在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water_spot / oil_spot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等亮面区域，可能与反光混淆，需结合原图与产线光照再判。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03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评估集重建与重训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尺子先校准，再量模型。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58293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让每个缺陷类在验证集里都有足够样本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全池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26243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张，按类分层重划分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35433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B1C33"/>
                </a:solidFill>
                <a:latin typeface="Inter"/>
                <a:ea typeface="Inter"/>
              </a:rPr>
              <a:t>旧划分的问题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3543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原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里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16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个类的框数不足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，个别类只有个位数——单类指标基本是噪声，弱类结论不可信。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2533650"/>
            <a:ext cx="3543300" cy="895350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38200" y="2533650"/>
            <a:ext cx="3543300" cy="895350"/>
          </a:xfrm>
          <a:custGeom>
            <a:pathLst>
              <a:path w="372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90600" y="2686050"/>
            <a:ext cx="3200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做法：小类留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50%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验证、中类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35%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、大类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20%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，保证每类都有足够样本。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00100" y="3600450"/>
            <a:ext cx="3543300" cy="295275"/>
          </a:xfrm>
          <a:custGeom>
            <a:pathLst>
              <a:path w="372" h="31">
                <a:moveTo>
                  <a:pt x="0" y="30"/>
                </a:moveTo>
                <a:lnTo>
                  <a:pt x="372" y="30"/>
                </a:lnTo>
                <a:lnTo>
                  <a:pt x="3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361950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train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38575" y="3600450"/>
            <a:ext cx="504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20329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800100" y="3981450"/>
            <a:ext cx="3543300" cy="295275"/>
          </a:xfrm>
          <a:custGeom>
            <a:pathLst>
              <a:path w="372" h="31">
                <a:moveTo>
                  <a:pt x="0" y="30"/>
                </a:moveTo>
                <a:lnTo>
                  <a:pt x="372" y="30"/>
                </a:lnTo>
                <a:lnTo>
                  <a:pt x="3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143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cal / holdout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676525" y="3981450"/>
            <a:ext cx="166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5911</a:t>
            </a:r>
            <a:r>
              <a:rPr lang="zh-CN" sz="1275" b="1">
                <a:solidFill>
                  <a:srgbClr val="0B3D91"/>
                </a:solidFill>
                <a:latin typeface="Inter"/>
                <a:ea typeface="Inter"/>
              </a:rPr>
              <a:t>　</a:t>
            </a: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(2891 / 3020)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39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框数下限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71925" y="4362450"/>
            <a:ext cx="371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7A18"/>
                </a:solidFill>
                <a:latin typeface="Inter"/>
                <a:ea typeface="Inter"/>
              </a:rPr>
              <a:t>≥ 30</a:t>
            </a:r>
            <a:endParaRPr/>
          </a:p>
        </p:txBody>
      </p:sp>
      <p:graphicFrame>
        <p:nvGraphicFramePr>
          <p:cNvPr id="64" name="64"/>
          <p:cNvGraphicFramePr/>
          <p:nvPr/>
        </p:nvGraphicFramePr>
        <p:xfrm rot="0" flipH="0" flipV="0">
          <a:off x="4762500" y="1257300"/>
          <a:ext cx="6629400" cy="4486275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762500" y="5838825"/>
            <a:ext cx="6629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注：重划分修的是「评估可信度」，不是模型精度——尺子准了，之后测出来的数字才算数。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100 轮重训完成 · 新基线已就位&lt;/Text&gt;&#10;            &lt;Text style={{ fontSize: 14, color: &quot;#9AA9B8&quot;, marginTop: 4 }}&gt;按新评估集重训 · 截至 2026-10-15 16:48&lt;/Text&gt;&#10;        &lt;/Box&gt;&#10;    &lt;/Box&gt;&#10;    &lt;Box style={{ height: 540, paddingLeft: 84, paddingRight: 84, paddingTop: 14, paddingBottom: 24, flexDirection: &quot;row&quot;, gap: 36 }}&gt;&#10;        &lt;Box style={{ width: 700, flexDirection: &quot;column&quot;, gap: 18 }}&gt;&#10;            &lt;Box style={{ flexDirection: &quot;row&quot;, alignItems: &quot;flex-end&quot;, gap: 14 }}&gt;&#10;                &lt;Text style={{ fontSize: 54, fontWeight: &quot;bold&quot;, color: &quot;#0B3D91&quot;, lineHeight: 1 }}&gt;100&lt;/Text&gt;&#10;                &lt;Text style={{ fontSize: 20, color: &quot;#5C6E82&quot;, paddingBottom: 6 }}&gt;/ 100 轮&lt;/Text&gt;&#10;                &lt;Box style={{ marginLeft: &quot;auto&quot;, paddingLeft: 12, paddingRight: 12, paddingTop: 5, paddingBottom: 5, background: &quot;#E6F4EA&quot;, borderRadius: 6 }}&gt;&#10;                    &lt;Text style={{ fontSize: 13, fontWeight: &quot;bold&quot;, color: &quot;#0F7B3A&quot; }}&gt;已完成&lt;/Text&gt;&#10;                &lt;/Box&gt;&#10;            &lt;/Box&gt;&#10;            &lt;Box style={{ height: 12, background: &quot;#E1E9F2&quot;, borderRadius: 6, width: &quot;100%&quot; }}&gt;&#10;                &lt;Box style={{ width: &quot;100%&quot;, height: 12, background: &quot;linear-gradient(90deg, #0B3D91 0%, #00B4D8 100%)&quot;, borderRadius: 6 }} /&gt;&#10;            &lt;/Box&gt;&#10;            &lt;Box style={{ flexDirection: &quot;row&quot;, gap: 18 }}&gt;&#10;                &lt;Box style={{ flex: 1, padding: 18, background: &quot;#F4F7FB&quot;, borderRadius: 10 }}&gt;&#10;                    &lt;Text style={{ fontSize: 14, color: &quot;#5C6E82&quot; }}&gt;第 100 轮 mAP50&lt;/Text&gt;&#10;                    &lt;Text style={{ fontSize: 34, fontWeight: &quot;bold&quot;, color: &quot;#0B3D91&quot;, marginTop: 6, lineHeight: 1.1 }}&gt;0.7808&lt;/Text&gt;&#10;                &lt;/Box&gt;&#10;                &lt;Box style={{ flex: 1, padding: 18, background: &quot;#F4F7FB&quot;, borderRadius: 10 }}&gt;&#10;                    &lt;Text style={{ fontSize: 14, color: &quot;#5C6E82&quot; }}&gt;第 100 轮 mAP50-95&lt;/Text&gt;&#10;                    &lt;Text style={{ fontSize: 34, fontWeight: &quot;bold&quot;, color: &quot;#0B3D91&quot;, marginTop: 6, lineHeight: 1.1 }}&gt;0.5089&lt;/Text&gt;&#10;                &lt;/Box&gt;&#10;            &lt;/Box&gt;&#10;            &lt;Box style={{ padding: 14, background: &quot;#FFF8E1&quot;, borderRadius: 10, borderLeft: &quot;4px solid #FF7A18&quot; }}&gt;&#10;                &lt;Text style={{ fontSize: 14, color: &quot;#0B1C33&quot;, lineHeight: 1.6 }}&gt;&#10;                    全程最高 mAP50 = &lt;Text style={{ fontWeight: &quot;bold&quot;, color: &quot;#FF7A18&quot; }}&gt;0.78217&lt;/Text&gt;（出现在第 96 轮）；&#10;                    末 5 轮 0.78075~0.78217 小幅震荡，曲线已收敛。&#10;                &lt;/Text&gt;&#10;            &lt;/Box&gt;&#10;            &lt;Box style={{ padding: 18, background: &quot;#FFFFFF&quot;, borderRadius: 10, border: &quot;1px solid #E1E9F2&quot;, flexDirection: &quot;column&quot;, gap: 8 }}&gt;&#10;                &lt;Text style={{ fontSize: 15, fontWeight: &quot;bold&quot;, color: &quot;#0B1C33&quot; }}&gt;客观说明&lt;/Text&gt;&#10;                &lt;Text style={{ fontSize: 14, color: &quot;#5C6E82&quot;, lineHeight: 1.7 }}&gt;① 上述指标为 ultralytics 在新 train 集上训 100 轮、在新 val 集上同步评估的口径（不是最终交付口径）；&lt;br /&gt;② 50 轮基线 0.775 → 新 100 轮 0.78217，绝对值 +0.7pp，曲线见顶于第 96 轮；&lt;br /&gt;③ 与板端/上线的实际表现需以「cal→holdout 标定后的统一口径」为准，详见下一步。&lt;/Text&gt;&#10;            &lt;/Box&gt;&#10;        &lt;/Box&gt;&#10;        &lt;Box style={{ width: 376, flexDirection: &quot;column&quot;, gap: 14 }}&gt;&#10;            &lt;Text style={{ fontSize: 20, fontWeight: &quot;bold&quot;, color: &quot;#0B1C33&quot; }}&gt;下一步&lt;/Text&gt;&#10;            &lt;Box style={{ padding: 16, background: &quot;#F4F7FB&quot;, borderRadius: 10, borderLeft: &quot;4px solid #0F7B3A&quot; }}&gt;&#10;                &lt;Text style={{ fontSize: 15, fontWeight: &quot;bold&quot;, color: &quot;#0F7B3A&quot; }}&gt;① 新 val 统一口径评估&lt;/Text&gt;&#10;                &lt;Text style={{ fontSize: 14, color: &quot;#5C6E82&quot;, marginTop: 6, lineHeight: 1.65 }}&gt;cal 集（2891 图）标定 per-class 阈值，holdout 集（3020 图）出最终 mAP50 / F1 / 逐类报告。&lt;/Text&gt;&#10;            &lt;/Box&gt;&#10;            &lt;Box style={{ padding: 16, background: &quot;#F4F7FB&quot;, borderRadius: 10, borderLeft: &quot;4px solid #0B3D91&quot; }}&gt;&#10;                &lt;Text style={{ fontSize: 15, fontWeight: &quot;bold&quot;, color: &quot;#0B3D91&quot; }}&gt;② 板端新模型落地&lt;/Text&gt;&#10;                &lt;Text style={{ fontSize: 14, color: &quot;#5C6E82&quot;, marginTop: 6, lineHeight: 1.65 }}&gt;导出 ONNX → 转 RKNN → 上板替换 50 轮旧权重，复用 2×2 A/B 工具做四组对比。&lt;/Text&gt;&#10;            &lt;/Box&gt;&#10;            &lt;Box style={{ padding: 16, background: &quot;#F4F7FB&quot;, borderRadius: 10, borderLeft: &quot;4px solid #0B3D91&quot; }}&gt;&#10;                &lt;Text style={{ fontSize: 15, fontWeight: &quot;bold&quot;, color: &quot;#0B3D91&quot; }}&gt;③ 标注修复（可选）&lt;/Text&gt;&#10;                &lt;Text style={{ fontSize: 14, color: &quot;#5C6E82&quot;, marginTop: 6, lineHeight: 1.65 }}&gt;候选清单已备好（train 侧 499 个），需人工确认；val 侧禁止补框以保独立性。&lt;/Text&gt;&#10;            &lt;/Box&gt;&#10;            &lt;Box style={{ padding: 14, background: &quot;#FFF1E6&quot;, borderRadius: 10 }}&gt;&#10;                &lt;Text style={{ fontSize: 13, color: &quot;#B45309&quot;, lineHeight: 1.65, fontWeight: &quot;bold&quot; }}&gt;风险：新口径跑出后再决定是否替换板端当前配置 A（旧 50 轮 + uniform 0.20，板端 F1 0.7376）。&lt;/Text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（v2）&lt;/Text&gt;&#10;        &lt;/Box&gt;&#10;        &lt;Text style={{ fontSize: 14, color: &quot;#9AA9B8&quot; }}&gt;13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86727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100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轮重训完成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·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新基线已就位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按新评估集重训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截至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2026-10-15 16:48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0100" y="1276350"/>
            <a:ext cx="9525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0B3D91"/>
                </a:solidFill>
                <a:latin typeface="Inter"/>
                <a:ea typeface="Inter"/>
              </a:rPr>
              <a:t>100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885950" y="1609725"/>
            <a:ext cx="723900" cy="2857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500">
                <a:solidFill>
                  <a:srgbClr val="5C6E82"/>
                </a:solidFill>
                <a:latin typeface="Inter"/>
                <a:ea typeface="Inter"/>
              </a:rPr>
              <a:t xml:space="preserve">/ 100 </a:t>
            </a:r>
            <a:r>
              <a:rPr lang="zh-CN" sz="150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67525" y="1647825"/>
            <a:ext cx="600075" cy="247650"/>
          </a:xfrm>
          <a:prstGeom prst="roundRect">
            <a:avLst>
              <a:gd name="adj" fmla="val 23077"/>
            </a:avLst>
          </a:prstGeom>
          <a:solidFill>
            <a:srgbClr val="E6F4EA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981825" y="1695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7B3A"/>
                </a:solidFill>
                <a:latin typeface="Inter"/>
                <a:ea typeface="Inter"/>
              </a:rPr>
              <a:t>已完成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00100" y="2066925"/>
            <a:ext cx="6667500" cy="114300"/>
          </a:xfrm>
          <a:prstGeom prst="roundRect">
            <a:avLst>
              <a:gd name="adj" fmla="val 50000"/>
            </a:avLst>
          </a:prstGeom>
          <a:solidFill>
            <a:srgbClr val="E1E9F2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800100" y="2066925"/>
            <a:ext cx="6667500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800100" y="2352675"/>
            <a:ext cx="3248025" cy="990600"/>
          </a:xfrm>
          <a:prstGeom prst="roundRect">
            <a:avLst>
              <a:gd name="adj" fmla="val 961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1550" y="252412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第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mAP50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1550" y="2743200"/>
            <a:ext cx="29051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0B3D91"/>
                </a:solidFill>
                <a:latin typeface="Inter"/>
                <a:ea typeface="Inter"/>
              </a:rPr>
              <a:t>0.7808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219575" y="2352675"/>
            <a:ext cx="3248025" cy="990600"/>
          </a:xfrm>
          <a:prstGeom prst="roundRect">
            <a:avLst>
              <a:gd name="adj" fmla="val 961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91025" y="252412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第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mAP50-95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91025" y="2743200"/>
            <a:ext cx="29051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0B3D91"/>
                </a:solidFill>
                <a:latin typeface="Inter"/>
                <a:ea typeface="Inter"/>
              </a:rPr>
              <a:t>0.5089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38200" y="3514725"/>
            <a:ext cx="6667500" cy="523875"/>
          </a:xfrm>
          <a:prstGeom prst="roundRect">
            <a:avLst>
              <a:gd name="adj" fmla="val 18182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838200" y="3514725"/>
            <a:ext cx="6667500" cy="523875"/>
          </a:xfrm>
          <a:custGeom>
            <a:pathLst>
              <a:path w="700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71550" y="364807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全程最高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mAP50 = 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>0.78217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（出现在第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96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轮）；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末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5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0.78075~0.78217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小幅震荡，曲线已收敛。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00100" y="4210050"/>
            <a:ext cx="6667500" cy="1685925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71550" y="438150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1C33"/>
                </a:solidFill>
                <a:latin typeface="Inter"/>
                <a:ea typeface="Inter"/>
              </a:rPr>
              <a:t>客观说明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71550" y="4629150"/>
            <a:ext cx="6324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①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上述指标为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ultralytics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在新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train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集上训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轮、在新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集上同步评估的口径（不是最终交付口径）；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②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轮基线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0.775 →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0.78217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，绝对值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+0.7pp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，曲线见顶于第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96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轮；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③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与板端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/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上线的实际表现需以「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cal→holdout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标定后的统一口径」为准，详见下一步。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0" y="1276350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下一步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848600" y="1638300"/>
            <a:ext cx="3581400" cy="1066800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7848600" y="1638300"/>
            <a:ext cx="3581400" cy="1066800"/>
          </a:xfrm>
          <a:custGeom>
            <a:pathLst>
              <a:path w="376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F7B3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01000" y="17907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7B3A"/>
                </a:solidFill>
                <a:latin typeface="Inter"/>
                <a:ea typeface="Inter"/>
              </a:rPr>
              <a:t xml:space="preserve">① </a:t>
            </a:r>
            <a:r>
              <a:rPr lang="zh-CN" sz="1125" b="1">
                <a:solidFill>
                  <a:srgbClr val="0F7B3A"/>
                </a:solidFill>
                <a:latin typeface="Inter"/>
                <a:ea typeface="Inter"/>
              </a:rPr>
              <a:t>新</a:t>
            </a:r>
            <a:r>
              <a:rPr lang="en-US" sz="1125" b="1">
                <a:solidFill>
                  <a:srgbClr val="0F7B3A"/>
                </a:solidFill>
                <a:latin typeface="Inter"/>
                <a:ea typeface="Inter"/>
              </a:rPr>
              <a:t xml:space="preserve"> val </a:t>
            </a:r>
            <a:r>
              <a:rPr lang="zh-CN" sz="1125" b="1">
                <a:solidFill>
                  <a:srgbClr val="0F7B3A"/>
                </a:solidFill>
                <a:latin typeface="Inter"/>
                <a:ea typeface="Inter"/>
              </a:rPr>
              <a:t>统一口径评估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01000" y="2019300"/>
            <a:ext cx="3238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cal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集（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2891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图）标定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per-class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阈值，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holdout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集（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3020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图）出最终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mAP50 / F1 /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逐类报告。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848600" y="2838450"/>
            <a:ext cx="3581400" cy="1066800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848600" y="2838450"/>
            <a:ext cx="3581400" cy="1066800"/>
          </a:xfrm>
          <a:custGeom>
            <a:pathLst>
              <a:path w="376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01000" y="299085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②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板端新模型落地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0" y="3219450"/>
            <a:ext cx="3238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导出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ONNX →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转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RKNN →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上板替换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轮旧权重，复用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2×2 A/B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工具做四组对比。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848600" y="4038600"/>
            <a:ext cx="3581400" cy="1066800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7848600" y="4038600"/>
            <a:ext cx="3581400" cy="1066800"/>
          </a:xfrm>
          <a:custGeom>
            <a:pathLst>
              <a:path w="376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01000" y="41910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③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标注修复（可选）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0" y="4419600"/>
            <a:ext cx="3238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候选清单已备好（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train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499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个），需人工确认；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侧禁止补框以保独立性。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810500" y="5238750"/>
            <a:ext cx="3581400" cy="762000"/>
          </a:xfrm>
          <a:prstGeom prst="roundRect">
            <a:avLst>
              <a:gd name="adj" fmla="val 12500"/>
            </a:avLst>
          </a:prstGeom>
          <a:solidFill>
            <a:srgbClr val="FFF1E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943850" y="5372100"/>
            <a:ext cx="33147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风险：新口径跑出后再决定是否替换板端当前配置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A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（旧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50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轮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+ uniform 0.20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，板端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F1 0.7376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）。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周报（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v2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70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2857500" y="-1714500"/>
            <a:ext cx="6477000" cy="6477000"/>
          </a:xfrm>
          <a:custGeom>
            <a:pathLst>
              <a:path w="680" h="680">
                <a:moveTo>
                  <a:pt x="643" y="185"/>
                </a:moveTo>
                <a:lnTo>
                  <a:pt x="646" y="193"/>
                </a:lnTo>
                <a:lnTo>
                  <a:pt x="650" y="200"/>
                </a:lnTo>
                <a:lnTo>
                  <a:pt x="653" y="208"/>
                </a:lnTo>
                <a:lnTo>
                  <a:pt x="656" y="215"/>
                </a:lnTo>
                <a:lnTo>
                  <a:pt x="659" y="223"/>
                </a:lnTo>
                <a:lnTo>
                  <a:pt x="662" y="231"/>
                </a:lnTo>
                <a:lnTo>
                  <a:pt x="665" y="239"/>
                </a:lnTo>
                <a:lnTo>
                  <a:pt x="667" y="247"/>
                </a:lnTo>
                <a:lnTo>
                  <a:pt x="669" y="255"/>
                </a:lnTo>
                <a:lnTo>
                  <a:pt x="671" y="263"/>
                </a:lnTo>
                <a:lnTo>
                  <a:pt x="673" y="272"/>
                </a:lnTo>
                <a:lnTo>
                  <a:pt x="675" y="280"/>
                </a:lnTo>
                <a:lnTo>
                  <a:pt x="676" y="288"/>
                </a:lnTo>
                <a:lnTo>
                  <a:pt x="677" y="297"/>
                </a:lnTo>
                <a:lnTo>
                  <a:pt x="678" y="305"/>
                </a:lnTo>
                <a:lnTo>
                  <a:pt x="679" y="314"/>
                </a:lnTo>
                <a:lnTo>
                  <a:pt x="680" y="323"/>
                </a:lnTo>
                <a:lnTo>
                  <a:pt x="680" y="331"/>
                </a:lnTo>
                <a:lnTo>
                  <a:pt x="680" y="340"/>
                </a:lnTo>
                <a:lnTo>
                  <a:pt x="680" y="349"/>
                </a:lnTo>
                <a:lnTo>
                  <a:pt x="680" y="357"/>
                </a:lnTo>
                <a:lnTo>
                  <a:pt x="679" y="366"/>
                </a:lnTo>
                <a:lnTo>
                  <a:pt x="678" y="375"/>
                </a:lnTo>
                <a:lnTo>
                  <a:pt x="677" y="383"/>
                </a:lnTo>
                <a:lnTo>
                  <a:pt x="676" y="392"/>
                </a:lnTo>
                <a:lnTo>
                  <a:pt x="675" y="400"/>
                </a:lnTo>
                <a:lnTo>
                  <a:pt x="673" y="408"/>
                </a:lnTo>
                <a:lnTo>
                  <a:pt x="671" y="417"/>
                </a:lnTo>
                <a:lnTo>
                  <a:pt x="669" y="425"/>
                </a:lnTo>
                <a:lnTo>
                  <a:pt x="667" y="433"/>
                </a:lnTo>
                <a:lnTo>
                  <a:pt x="665" y="441"/>
                </a:lnTo>
                <a:lnTo>
                  <a:pt x="662" y="449"/>
                </a:lnTo>
                <a:lnTo>
                  <a:pt x="659" y="457"/>
                </a:lnTo>
                <a:lnTo>
                  <a:pt x="656" y="465"/>
                </a:lnTo>
                <a:lnTo>
                  <a:pt x="653" y="472"/>
                </a:lnTo>
                <a:lnTo>
                  <a:pt x="650" y="480"/>
                </a:lnTo>
                <a:lnTo>
                  <a:pt x="646" y="487"/>
                </a:lnTo>
                <a:lnTo>
                  <a:pt x="643" y="495"/>
                </a:lnTo>
                <a:lnTo>
                  <a:pt x="639" y="502"/>
                </a:lnTo>
                <a:lnTo>
                  <a:pt x="635" y="509"/>
                </a:lnTo>
                <a:lnTo>
                  <a:pt x="631" y="516"/>
                </a:lnTo>
                <a:lnTo>
                  <a:pt x="626" y="523"/>
                </a:lnTo>
                <a:lnTo>
                  <a:pt x="622" y="530"/>
                </a:lnTo>
                <a:lnTo>
                  <a:pt x="617" y="537"/>
                </a:lnTo>
                <a:lnTo>
                  <a:pt x="612" y="543"/>
                </a:lnTo>
                <a:lnTo>
                  <a:pt x="607" y="550"/>
                </a:lnTo>
                <a:lnTo>
                  <a:pt x="602" y="556"/>
                </a:lnTo>
                <a:lnTo>
                  <a:pt x="597" y="562"/>
                </a:lnTo>
                <a:lnTo>
                  <a:pt x="592" y="569"/>
                </a:lnTo>
                <a:lnTo>
                  <a:pt x="586" y="575"/>
                </a:lnTo>
                <a:lnTo>
                  <a:pt x="580" y="580"/>
                </a:lnTo>
                <a:lnTo>
                  <a:pt x="575" y="586"/>
                </a:lnTo>
                <a:lnTo>
                  <a:pt x="569" y="592"/>
                </a:lnTo>
                <a:lnTo>
                  <a:pt x="562" y="597"/>
                </a:lnTo>
                <a:lnTo>
                  <a:pt x="556" y="602"/>
                </a:lnTo>
                <a:lnTo>
                  <a:pt x="550" y="607"/>
                </a:lnTo>
                <a:lnTo>
                  <a:pt x="543" y="612"/>
                </a:lnTo>
                <a:lnTo>
                  <a:pt x="537" y="617"/>
                </a:lnTo>
                <a:lnTo>
                  <a:pt x="530" y="622"/>
                </a:lnTo>
                <a:lnTo>
                  <a:pt x="523" y="626"/>
                </a:lnTo>
                <a:lnTo>
                  <a:pt x="516" y="631"/>
                </a:lnTo>
                <a:lnTo>
                  <a:pt x="509" y="635"/>
                </a:lnTo>
                <a:lnTo>
                  <a:pt x="502" y="639"/>
                </a:lnTo>
                <a:lnTo>
                  <a:pt x="495" y="643"/>
                </a:lnTo>
                <a:lnTo>
                  <a:pt x="487" y="646"/>
                </a:lnTo>
                <a:lnTo>
                  <a:pt x="480" y="650"/>
                </a:lnTo>
                <a:lnTo>
                  <a:pt x="472" y="653"/>
                </a:lnTo>
                <a:lnTo>
                  <a:pt x="465" y="656"/>
                </a:lnTo>
                <a:lnTo>
                  <a:pt x="457" y="659"/>
                </a:lnTo>
                <a:lnTo>
                  <a:pt x="449" y="662"/>
                </a:lnTo>
                <a:lnTo>
                  <a:pt x="441" y="665"/>
                </a:lnTo>
                <a:lnTo>
                  <a:pt x="433" y="667"/>
                </a:lnTo>
                <a:lnTo>
                  <a:pt x="425" y="669"/>
                </a:lnTo>
                <a:lnTo>
                  <a:pt x="417" y="671"/>
                </a:lnTo>
                <a:lnTo>
                  <a:pt x="408" y="673"/>
                </a:lnTo>
                <a:lnTo>
                  <a:pt x="400" y="675"/>
                </a:lnTo>
                <a:lnTo>
                  <a:pt x="392" y="676"/>
                </a:lnTo>
                <a:lnTo>
                  <a:pt x="383" y="677"/>
                </a:lnTo>
                <a:lnTo>
                  <a:pt x="375" y="678"/>
                </a:lnTo>
                <a:lnTo>
                  <a:pt x="366" y="679"/>
                </a:lnTo>
                <a:lnTo>
                  <a:pt x="357" y="680"/>
                </a:lnTo>
                <a:lnTo>
                  <a:pt x="349" y="680"/>
                </a:lnTo>
                <a:lnTo>
                  <a:pt x="340" y="680"/>
                </a:lnTo>
                <a:lnTo>
                  <a:pt x="331" y="680"/>
                </a:lnTo>
                <a:lnTo>
                  <a:pt x="323" y="680"/>
                </a:lnTo>
                <a:lnTo>
                  <a:pt x="314" y="679"/>
                </a:lnTo>
                <a:lnTo>
                  <a:pt x="305" y="678"/>
                </a:lnTo>
                <a:lnTo>
                  <a:pt x="297" y="677"/>
                </a:lnTo>
                <a:lnTo>
                  <a:pt x="288" y="676"/>
                </a:lnTo>
                <a:lnTo>
                  <a:pt x="280" y="675"/>
                </a:lnTo>
                <a:lnTo>
                  <a:pt x="272" y="673"/>
                </a:lnTo>
                <a:lnTo>
                  <a:pt x="263" y="671"/>
                </a:lnTo>
                <a:lnTo>
                  <a:pt x="255" y="669"/>
                </a:lnTo>
                <a:lnTo>
                  <a:pt x="247" y="667"/>
                </a:lnTo>
                <a:lnTo>
                  <a:pt x="239" y="665"/>
                </a:lnTo>
                <a:lnTo>
                  <a:pt x="231" y="662"/>
                </a:lnTo>
                <a:lnTo>
                  <a:pt x="223" y="659"/>
                </a:lnTo>
                <a:lnTo>
                  <a:pt x="215" y="656"/>
                </a:lnTo>
                <a:lnTo>
                  <a:pt x="208" y="653"/>
                </a:lnTo>
                <a:lnTo>
                  <a:pt x="200" y="650"/>
                </a:lnTo>
                <a:lnTo>
                  <a:pt x="193" y="646"/>
                </a:lnTo>
                <a:lnTo>
                  <a:pt x="185" y="643"/>
                </a:lnTo>
                <a:lnTo>
                  <a:pt x="178" y="639"/>
                </a:lnTo>
                <a:lnTo>
                  <a:pt x="171" y="635"/>
                </a:lnTo>
                <a:lnTo>
                  <a:pt x="164" y="631"/>
                </a:lnTo>
                <a:lnTo>
                  <a:pt x="157" y="626"/>
                </a:lnTo>
                <a:lnTo>
                  <a:pt x="150" y="622"/>
                </a:lnTo>
                <a:lnTo>
                  <a:pt x="143" y="617"/>
                </a:lnTo>
                <a:lnTo>
                  <a:pt x="137" y="612"/>
                </a:lnTo>
                <a:lnTo>
                  <a:pt x="130" y="607"/>
                </a:lnTo>
                <a:lnTo>
                  <a:pt x="124" y="602"/>
                </a:lnTo>
                <a:lnTo>
                  <a:pt x="118" y="597"/>
                </a:lnTo>
                <a:lnTo>
                  <a:pt x="111" y="592"/>
                </a:lnTo>
                <a:lnTo>
                  <a:pt x="105" y="586"/>
                </a:lnTo>
                <a:lnTo>
                  <a:pt x="100" y="580"/>
                </a:lnTo>
                <a:lnTo>
                  <a:pt x="94" y="575"/>
                </a:lnTo>
                <a:lnTo>
                  <a:pt x="88" y="569"/>
                </a:lnTo>
                <a:lnTo>
                  <a:pt x="83" y="562"/>
                </a:lnTo>
                <a:lnTo>
                  <a:pt x="78" y="556"/>
                </a:lnTo>
                <a:lnTo>
                  <a:pt x="73" y="550"/>
                </a:lnTo>
                <a:lnTo>
                  <a:pt x="68" y="543"/>
                </a:lnTo>
                <a:lnTo>
                  <a:pt x="63" y="537"/>
                </a:lnTo>
                <a:lnTo>
                  <a:pt x="58" y="530"/>
                </a:lnTo>
                <a:lnTo>
                  <a:pt x="54" y="523"/>
                </a:lnTo>
                <a:lnTo>
                  <a:pt x="49" y="516"/>
                </a:lnTo>
                <a:lnTo>
                  <a:pt x="45" y="509"/>
                </a:lnTo>
                <a:lnTo>
                  <a:pt x="41" y="502"/>
                </a:lnTo>
                <a:lnTo>
                  <a:pt x="37" y="495"/>
                </a:lnTo>
                <a:lnTo>
                  <a:pt x="34" y="487"/>
                </a:lnTo>
                <a:lnTo>
                  <a:pt x="30" y="480"/>
                </a:lnTo>
                <a:lnTo>
                  <a:pt x="27" y="472"/>
                </a:lnTo>
                <a:lnTo>
                  <a:pt x="24" y="465"/>
                </a:lnTo>
                <a:lnTo>
                  <a:pt x="21" y="457"/>
                </a:lnTo>
                <a:lnTo>
                  <a:pt x="18" y="449"/>
                </a:lnTo>
                <a:lnTo>
                  <a:pt x="15" y="441"/>
                </a:lnTo>
                <a:lnTo>
                  <a:pt x="13" y="433"/>
                </a:lnTo>
                <a:lnTo>
                  <a:pt x="11" y="425"/>
                </a:lnTo>
                <a:lnTo>
                  <a:pt x="9" y="417"/>
                </a:lnTo>
                <a:lnTo>
                  <a:pt x="7" y="408"/>
                </a:lnTo>
                <a:lnTo>
                  <a:pt x="5" y="400"/>
                </a:lnTo>
                <a:lnTo>
                  <a:pt x="4" y="392"/>
                </a:lnTo>
                <a:lnTo>
                  <a:pt x="3" y="383"/>
                </a:lnTo>
                <a:lnTo>
                  <a:pt x="2" y="375"/>
                </a:lnTo>
                <a:lnTo>
                  <a:pt x="1" y="366"/>
                </a:lnTo>
                <a:lnTo>
                  <a:pt x="0" y="357"/>
                </a:lnTo>
                <a:lnTo>
                  <a:pt x="0" y="349"/>
                </a:lnTo>
                <a:lnTo>
                  <a:pt x="0" y="340"/>
                </a:lnTo>
                <a:lnTo>
                  <a:pt x="0" y="331"/>
                </a:lnTo>
                <a:lnTo>
                  <a:pt x="0" y="323"/>
                </a:lnTo>
                <a:lnTo>
                  <a:pt x="1" y="314"/>
                </a:lnTo>
                <a:lnTo>
                  <a:pt x="2" y="305"/>
                </a:lnTo>
                <a:lnTo>
                  <a:pt x="3" y="297"/>
                </a:lnTo>
                <a:lnTo>
                  <a:pt x="4" y="288"/>
                </a:lnTo>
                <a:lnTo>
                  <a:pt x="5" y="280"/>
                </a:lnTo>
                <a:lnTo>
                  <a:pt x="7" y="272"/>
                </a:lnTo>
                <a:lnTo>
                  <a:pt x="9" y="263"/>
                </a:lnTo>
                <a:lnTo>
                  <a:pt x="11" y="255"/>
                </a:lnTo>
                <a:lnTo>
                  <a:pt x="13" y="247"/>
                </a:lnTo>
                <a:lnTo>
                  <a:pt x="15" y="239"/>
                </a:lnTo>
                <a:lnTo>
                  <a:pt x="18" y="231"/>
                </a:lnTo>
                <a:lnTo>
                  <a:pt x="21" y="223"/>
                </a:lnTo>
                <a:lnTo>
                  <a:pt x="24" y="215"/>
                </a:lnTo>
                <a:lnTo>
                  <a:pt x="27" y="208"/>
                </a:lnTo>
                <a:lnTo>
                  <a:pt x="30" y="200"/>
                </a:lnTo>
                <a:lnTo>
                  <a:pt x="34" y="193"/>
                </a:lnTo>
                <a:lnTo>
                  <a:pt x="37" y="185"/>
                </a:lnTo>
                <a:lnTo>
                  <a:pt x="40" y="180"/>
                </a:lnTo>
                <a:lnTo>
                  <a:pt x="640" y="180"/>
                </a:lnTo>
                <a:close/>
              </a:path>
            </a:pathLst>
          </a:custGeom>
          <a:gradFill>
            <a:gsLst>
              <a:gs pos="0">
                <a:srgbClr val="00B4D8">
                  <a:alpha val="30000"/>
                </a:srgbClr>
              </a:gs>
              <a:gs pos="70000">
                <a:srgbClr val="0614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343400" y="1666875"/>
            <a:ext cx="3514725" cy="14001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900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210175" y="3200400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0B4D8"/>
                </a:solidFill>
                <a:latin typeface="Inter"/>
                <a:ea typeface="Inter"/>
              </a:rPr>
              <a:t>高置信未匹配框的同类率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000500" y="3790950"/>
            <a:ext cx="4191000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FFFFFF"/>
                </a:solidFill>
                <a:latin typeface="Inter"/>
                <a:ea typeface="Inter"/>
              </a:rPr>
              <a:t>尺子准了，数字才算数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638800" y="4695825"/>
            <a:ext cx="914400" cy="381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276725" y="5000625"/>
            <a:ext cx="3648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2×2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板端实测　·　</a:t>
            </a: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81.7%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漏标率　·　</a:t>
            </a: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100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轮分层重训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467350" y="64960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项目组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2026-10-15T16:50:18Z</dcterms:created>
  <dcterms:modified xsi:type="dcterms:W3CDTF">2026-10-15T16:50:18Z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{"AIGC":{"Label":"1","ContentProducer":"00119111010856365494821B355","ProduceID":"01a13d61e1487970b6d17f1caf78e70a","ReservedCode1":"","ContentPropagator":"00119111010856365494821B355","PropagateID":"01a13d61e1487970b6d17f1caf78e70a","ReservedCode2":""}}</vt:lpwstr>
  </property>
</Properties>
</file>