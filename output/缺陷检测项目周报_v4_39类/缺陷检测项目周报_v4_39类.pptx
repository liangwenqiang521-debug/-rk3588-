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0000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60000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  <a:latin typeface="Arial"/>
                <a:ea typeface="Arial"/>
              </a:rPr>
              <a:t>TECHNICAL DEEP DIVE  ·  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200000"/>
            <a:ext cx="110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黑体"/>
                <a:ea typeface="黑体"/>
              </a:rPr>
              <a:t>39 类工业钢材表面缺陷检测系统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110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196F3"/>
                </a:solidFill>
                <a:latin typeface="黑体"/>
                <a:ea typeface="黑体"/>
              </a:rPr>
              <a:t>从 NEU 6 类扩展到 39 类的数据 · 训练 · 评估 · 板端闭环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700000"/>
            <a:ext cx="3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196F3"/>
                </a:solidFill>
                <a:latin typeface="Arial"/>
                <a:ea typeface="Arial"/>
              </a:rPr>
              <a:t>25689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350000"/>
            <a:ext cx="34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8E8"/>
                </a:solidFill>
                <a:latin typeface="黑体"/>
                <a:ea typeface="黑体"/>
              </a:rPr>
              <a:t>张训练 + 验证图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700000"/>
            <a:ext cx="3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8C00"/>
                </a:solidFill>
                <a:latin typeface="Arial"/>
                <a:ea typeface="Arial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4350000"/>
            <a:ext cx="34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8E8"/>
                </a:solidFill>
                <a:latin typeface="黑体"/>
                <a:ea typeface="黑体"/>
              </a:rPr>
              <a:t>类（含 6 类 NEU 兼容）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3700000"/>
            <a:ext cx="3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E7D32"/>
                </a:solidFill>
                <a:latin typeface="Arial"/>
                <a:ea typeface="Arial"/>
              </a:rPr>
              <a:t>0.7159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4350000"/>
            <a:ext cx="34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8E8"/>
                </a:solidFill>
                <a:latin typeface="黑体"/>
                <a:ea typeface="黑体"/>
              </a:rPr>
              <a:t>holdout F1（项目统一口径）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5500000"/>
            <a:ext cx="11000000" cy="6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5600000"/>
            <a:ext cx="11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8E8"/>
                </a:solidFill>
                <a:latin typeface="宋体"/>
                <a:ea typeface="宋体"/>
              </a:rPr>
              <a:t>汇报人: 项目组   ·   汇报日期: 2026-10-16   ·   文档版本: v4 专题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6000000"/>
            <a:ext cx="11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宋体"/>
                <a:ea typeface="宋体"/>
              </a:rPr>
              <a:t>本汇报专注 39 类扩展本身: 数据体系、训练工程、评估归因、板端落地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4 章 · 14 页 · 总时长 8-10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1300000"/>
            <a:ext cx="220000" cy="85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13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565C0"/>
                </a:solidFill>
                <a:latin typeface="黑体"/>
                <a:ea typeface="黑体"/>
              </a:rPr>
              <a:t>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00000"/>
            <a:ext cx="8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为什么必须扩展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1850000"/>
            <a:ext cx="85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宋体"/>
                <a:ea typeface="宋体"/>
              </a:rPr>
              <a:t>NEU 6 类的局限 · 工业现场的真实缺陷广度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400000"/>
            <a:ext cx="220000" cy="850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0000" y="24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196F3"/>
                </a:solidFill>
                <a:latin typeface="黑体"/>
                <a:ea typeface="黑体"/>
              </a:rPr>
              <a:t>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2500000"/>
            <a:ext cx="8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39 类数据体系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2950000"/>
            <a:ext cx="85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宋体"/>
                <a:ea typeface="宋体"/>
              </a:rPr>
              <a:t>datasets_master v2.1 · 类别表 · 评估集重建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500000"/>
            <a:ext cx="220000" cy="8500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000" y="35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8C00"/>
                </a:solidFill>
                <a:latin typeface="黑体"/>
                <a:ea typeface="黑体"/>
              </a:rPr>
              <a:t>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3600000"/>
            <a:ext cx="8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模型训练与评估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000" y="4050000"/>
            <a:ext cx="85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宋体"/>
                <a:ea typeface="宋体"/>
              </a:rPr>
              <a:t>100 轮重训 · 39 类 F1 全景 · 弱类归因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4600000"/>
            <a:ext cx="220000" cy="85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0000" y="46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E7D32"/>
                </a:solidFill>
                <a:latin typeface="黑体"/>
                <a:ea typeface="黑体"/>
              </a:rPr>
              <a:t>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700000"/>
            <a:ext cx="85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板端落地与下一步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5150000"/>
            <a:ext cx="85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宋体"/>
                <a:ea typeface="宋体"/>
              </a:rPr>
              <a:t>.pt → .rknn · 2×2 实验 · 三件待办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0000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800000"/>
            <a:ext cx="30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300000"/>
            <a:ext cx="3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  <a:latin typeface="Arial"/>
                <a:ea typeface="Arial"/>
              </a:rPr>
              <a:t>CHAPTER 01 ·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22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  <a:latin typeface="黑体"/>
                <a:ea typeface="黑体"/>
              </a:rPr>
              <a:t>为什么必须扩展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3100000"/>
            <a:ext cx="6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E82"/>
                </a:solidFill>
                <a:latin typeface="宋体"/>
                <a:ea typeface="宋体"/>
              </a:rPr>
              <a:t>NEU 6 类的局限 · 工业现场的实际缺陷广度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一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原 NEU 6 类的三大局限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为什么 6 类不够 · 工业现场实际有 30+ 类常见缺陷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3500000" cy="42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0000" y="1500000"/>
            <a:ext cx="3500000" cy="10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170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50000"/>
            <a:ext cx="3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黑体"/>
                <a:ea typeface="黑体"/>
              </a:rPr>
              <a:t>场景贴近学校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" y="3000000"/>
            <a:ext cx="31000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crazing / inclusion / patches / pitted_surface / rolled-in_scale / scratches
仅 6 类热轧带钢表面缺陷，覆盖工业产线全场景太窄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0000" y="1500000"/>
            <a:ext cx="3500000" cy="42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0000" y="1500000"/>
            <a:ext cx="3500000" cy="10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0000" y="170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0" y="2350000"/>
            <a:ext cx="3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黑体"/>
                <a:ea typeface="黑体"/>
              </a:rPr>
              <a:t>数据量 1620 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000" y="3000000"/>
            <a:ext cx="31000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训练 1440 + 验证 180，工业产线数据规模差一个量级
val 太小，任何指标波动都不能下结论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0000" y="1500000"/>
            <a:ext cx="3500000" cy="42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0000" y="1500000"/>
            <a:ext cx="3500000" cy="10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0000" y="170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0000" y="2350000"/>
            <a:ext cx="3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黑体"/>
                <a:ea typeface="黑体"/>
              </a:rPr>
              <a:t>类别无金属加工语义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0000" y="3000000"/>
            <a:ext cx="31000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缺热轧/冷轧/表面处理/形变等大类
无法对应钢厂实际质检的「缺陷词典」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000" y="5950000"/>
            <a:ext cx="11000000" cy="45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000" y="60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黑体"/>
                <a:ea typeface="黑体"/>
              </a:rPr>
              <a:t>结论: 要进产线, 必须扩类. 工业现场常见的 30+ 类缺陷必须落到模型里.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一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工业现场实际有 30+ 类常见缺陷（39 类全景）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按类别簇划分: 表面线状 / 氧化物 / 形变 / 夹杂物 / 裂纹 / 边缘 / 工艺线 / 表面处理 / 严重缺陷 / 表面杂质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pic>
        <p:nvPicPr>
          <p:cNvPr id="9" name="Picture 8" descr="classes39_thum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7800000" cy="49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00000" y="1500000"/>
            <a:ext cx="3000000" cy="49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000" y="1600000"/>
            <a:ext cx="2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黑体"/>
                <a:ea typeface="黑体"/>
              </a:rPr>
              <a:t>类别簇分布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50000" y="2100000"/>
            <a:ext cx="80000" cy="38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0000" y="208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黑体"/>
                <a:ea typeface="黑体"/>
              </a:rPr>
              <a:t>表面线状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000" y="232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亮划痕 / 暗划痕 / 焊缝线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000" y="2680000"/>
            <a:ext cx="80000" cy="380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0000" y="266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  <a:latin typeface="黑体"/>
                <a:ea typeface="黑体"/>
              </a:rPr>
              <a:t>氧化物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00" y="290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块状 / 条纹 / 板系 / 温系 / 压入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0000" y="3260000"/>
            <a:ext cx="80000" cy="38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0000" y="324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黑体"/>
                <a:ea typeface="黑体"/>
              </a:rPr>
              <a:t>形变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0000" y="348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翘曲 / 外折 / 褶皱 / 厚薄不均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000" y="3840000"/>
            <a:ext cx="80000" cy="3800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0000" y="382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8C00"/>
                </a:solidFill>
                <a:latin typeface="黑体"/>
                <a:ea typeface="黑体"/>
              </a:rPr>
              <a:t>夹杂物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0000" y="406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夹杂物 / 夹渣 / 异物 / 铁皮灰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0000" y="4420000"/>
            <a:ext cx="80000" cy="38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00000" y="440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黑体"/>
                <a:ea typeface="黑体"/>
              </a:rPr>
              <a:t>裂纹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0000" y="464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纵向裂纹 / 断裂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50000" y="5000000"/>
            <a:ext cx="80000" cy="38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0000" y="498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  <a:latin typeface="黑体"/>
                <a:ea typeface="黑体"/>
              </a:rPr>
              <a:t>边缘 / 工艺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0000" y="522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切边开口 / 散边毛刺 / 精轧辊印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0000" y="5580000"/>
            <a:ext cx="80000" cy="380000"/>
          </a:xfrm>
          <a:prstGeom prst="rect">
            <a:avLst/>
          </a:prstGeom>
          <a:solidFill>
            <a:srgbClr val="5C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0000" y="556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C6E82"/>
                </a:solidFill>
                <a:latin typeface="黑体"/>
                <a:ea typeface="黑体"/>
              </a:rPr>
              <a:t>表面处理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0000" y="580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油污 / 水渍 / 白锈 / 二次锈皮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0000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800000"/>
            <a:ext cx="30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300000"/>
            <a:ext cx="3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  <a:latin typeface="Arial"/>
                <a:ea typeface="Arial"/>
              </a:rPr>
              <a:t>CHAPTER 02 ·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22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  <a:latin typeface="黑体"/>
                <a:ea typeface="黑体"/>
              </a:rPr>
              <a:t>39 类数据体系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3100000"/>
            <a:ext cx="6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E82"/>
                </a:solidFill>
                <a:latin typeface="宋体"/>
                <a:ea typeface="宋体"/>
              </a:rPr>
              <a:t>datasets_master v2.1 · 类别表 · 评估集重建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二 ·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数据源 &amp; 类别体系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datasets_master v2.1 · 25689 张 · 全灰度 · 扁平结构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4400000" cy="48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1700000"/>
            <a:ext cx="4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E82"/>
                </a:solidFill>
                <a:latin typeface="黑体"/>
                <a:ea typeface="黑体"/>
              </a:rPr>
              <a:t>数据规模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2100000"/>
            <a:ext cx="40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1565C0"/>
                </a:solidFill>
                <a:latin typeface="Arial"/>
                <a:ea typeface="Arial"/>
              </a:rPr>
              <a:t>25689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000000"/>
            <a:ext cx="4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张 (train 20947 / val 5296 原始)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600000"/>
            <a:ext cx="40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700000"/>
            <a:ext cx="4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全灰度 (hsv 关)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4100000"/>
            <a:ext cx="4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扁平结构 (不按类分子目录)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4500000"/>
            <a:ext cx="4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39 类 cls 0~38, 与 data.yaml ids 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4900000"/>
            <a:ext cx="4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3 张 0 字节坏图 (ultralytics 自动跳过)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00" y="5300000"/>
            <a:ext cx="4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黑体"/>
                <a:ea typeface="黑体"/>
              </a:rPr>
              <a:t>·  权威源 = infer.py CLASSES_39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0000" y="1500000"/>
            <a:ext cx="6300000" cy="48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0" y="160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类别体系与兼容性设计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0000" y="2100000"/>
            <a:ext cx="6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黑体"/>
                <a:ea typeface="黑体"/>
              </a:rPr>
              <a:t>39 类 = 6 类 NEU 兼容 + 33 类工业新增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0000" y="2700000"/>
            <a:ext cx="6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·  cls 1/6/12/13/16 继承 NEU 原 6 类: crazing / inclusion / patches / pitted_surface / rolled-in_scale (cls 索引不可改)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0" y="3400000"/>
            <a:ext cx="6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·  其余 33 类全新增: 涵盖热轧/冷轧/表面处理/形变/夹杂物/裂纹/边缘/工艺等工业大类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0000" y="4100000"/>
            <a:ext cx="6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·  NAME_ZH 保留 16 个旧 key (edge_crack / scab / pitting ...) —— 供历史权重兼容, 不在 39 类枚举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000" y="4800000"/>
            <a:ext cx="6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·  CLASS_COLORS 52 色, 同类不同图恒定, 彼此可辨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0000" y="5500000"/>
            <a:ext cx="6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·  4 处定义必须同步: infer.py / 板端 board_server_cascade.py NAMES_EXT / 板端模拟器 / 周回流工具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二 ·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评估集重建 · 分层重划分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val 必须保持独立才有 holdout 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300000"/>
            <a:ext cx="11200000" cy="100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14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黑体"/>
                <a:ea typeface="黑体"/>
              </a:rPr>
              <a:t>问题: 原 NEU 6 类 val 仅 180 张 —— 拿 NEU val 评 39 类不合法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18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  <a:latin typeface="宋体"/>
                <a:ea typeface="宋体"/>
              </a:rPr>
              <a:t>如果只补 train 不重划 val, 任何 holdout 数字都会被选择偏差污染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2600000"/>
            <a:ext cx="11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动作: 全池分层重划分 (train + val 全部打散, 按类别框数分层抽样)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000" y="3100000"/>
            <a:ext cx="2400000" cy="14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320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6E82"/>
                </a:solidFill>
                <a:latin typeface="黑体"/>
                <a:ea typeface="黑体"/>
              </a:rPr>
              <a:t>原 train + 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3550000"/>
            <a:ext cx="2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D47A1"/>
                </a:solidFill>
                <a:latin typeface="Arial"/>
                <a:ea typeface="Arial"/>
              </a:rPr>
              <a:t>25689 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410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全部打散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000" y="3700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565C0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0000" y="3100000"/>
            <a:ext cx="5400000" cy="1400000"/>
          </a:xfrm>
          <a:prstGeom prst="rect">
            <a:avLst/>
          </a:prstGeom>
          <a:solidFill>
            <a:srgbClr val="F4F7FB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0000" y="3200000"/>
            <a:ext cx="5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6E82"/>
                </a:solidFill>
                <a:latin typeface="黑体"/>
                <a:ea typeface="黑体"/>
              </a:rPr>
              <a:t>分层抽样 · 39 类全保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000" y="3550000"/>
            <a:ext cx="25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565C0"/>
                </a:solidFill>
                <a:latin typeface="Arial"/>
                <a:ea typeface="Arial"/>
              </a:rPr>
              <a:t>新 train 20329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3550000"/>
            <a:ext cx="25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565C0"/>
                </a:solidFill>
                <a:latin typeface="Arial"/>
                <a:ea typeface="Arial"/>
              </a:rPr>
              <a:t>新 val 5911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0000" y="41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小类全保 · 中类降采样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000" y="41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6E82"/>
                </a:solidFill>
                <a:latin typeface="宋体"/>
                <a:ea typeface="宋体"/>
              </a:rPr>
              <a:t>39 类全部 ≥30 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0000" y="3700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565C0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0000" y="3100000"/>
            <a:ext cx="1800000" cy="14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0000" y="320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2196F3"/>
                </a:solidFill>
                <a:latin typeface="黑体"/>
                <a:ea typeface="黑体"/>
              </a:rPr>
              <a:t>val 内部再切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0000" y="3550000"/>
            <a:ext cx="1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cal 2891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0000" y="4000000"/>
            <a:ext cx="1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196F3"/>
                </a:solidFill>
                <a:latin typeface="Arial"/>
                <a:ea typeface="Arial"/>
              </a:rPr>
              <a:t>holdout 3020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0000" y="4900000"/>
            <a:ext cx="11200000" cy="15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50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D47A1"/>
                </a:solidFill>
                <a:latin typeface="黑体"/>
                <a:ea typeface="黑体"/>
              </a:rPr>
              <a:t>cal 集 (2891 张) —— 仅用于标定阈值, 不参与最终指标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00" y="54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D47A1"/>
                </a:solidFill>
                <a:latin typeface="黑体"/>
                <a:ea typeface="黑体"/>
              </a:rPr>
              <a:t>holdout 集 (3020 张) —— 最终汇报专用, 不参与调参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00" y="58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宋体"/>
                <a:ea typeface="宋体"/>
              </a:rPr>
              <a:t>最小类 oxide_scale_plate 在 val 中也有 16/16 张 —— 全 39 类覆盖完整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00" y="620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黑体"/>
                <a:ea typeface="黑体"/>
              </a:rPr>
              <a:t>评估口径从此干净: 任何 "cal 上调参、holdout 报数" 都可独立验证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0000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800000"/>
            <a:ext cx="30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300000"/>
            <a:ext cx="3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  <a:latin typeface="Arial"/>
                <a:ea typeface="Arial"/>
              </a:rPr>
              <a:t>CHAPTER 03 ·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22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  <a:latin typeface="黑体"/>
                <a:ea typeface="黑体"/>
              </a:rPr>
              <a:t>模型训练与评估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3100000"/>
            <a:ext cx="6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E82"/>
                </a:solidFill>
                <a:latin typeface="宋体"/>
                <a:ea typeface="宋体"/>
              </a:rPr>
              <a:t>100 轮重训 · 39 类 F1 全景 · 5 弱类归因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三 ·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训练工程 · 100 轮重训与口径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YOLOv11n · 640 · 分层重划分后 train 20329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2500000" cy="200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1700000"/>
            <a:ext cx="25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Arial"/>
              </a:rPr>
              <a:t>0.7808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600000"/>
            <a:ext cx="2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CE0FF"/>
                </a:solidFill>
                <a:latin typeface="黑体"/>
                <a:ea typeface="黑体"/>
              </a:rPr>
              <a:t>mAP50 (100 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0000" y="1500000"/>
            <a:ext cx="2500000" cy="2000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000" y="1700000"/>
            <a:ext cx="25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Arial"/>
              </a:rPr>
              <a:t>0.78217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000" y="2600000"/>
            <a:ext cx="2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CE0FF"/>
                </a:solidFill>
                <a:latin typeface="黑体"/>
                <a:ea typeface="黑体"/>
              </a:rPr>
              <a:t>mAP50 峰值 (@96 轮)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0000" y="1500000"/>
            <a:ext cx="2500000" cy="200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000" y="1700000"/>
            <a:ext cx="25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Arial"/>
              </a:rPr>
              <a:t>0.7159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0" y="2600000"/>
            <a:ext cx="2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CE0FF"/>
                </a:solidFill>
                <a:latin typeface="黑体"/>
                <a:ea typeface="黑体"/>
              </a:rPr>
              <a:t>holdout F1 (项目统一口径)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00000" y="1500000"/>
            <a:ext cx="2500000" cy="20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0000" y="1700000"/>
            <a:ext cx="25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Arial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0000" y="2600000"/>
            <a:ext cx="2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CE0FF"/>
                </a:solidFill>
                <a:latin typeface="黑体"/>
                <a:ea typeface="黑体"/>
              </a:rPr>
              <a:t>训练轮数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00" y="3800000"/>
            <a:ext cx="11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工程细节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00" y="4250000"/>
            <a:ext cx="112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模型: YOLOv11n · 640 · 100 轮 (峰值 0.78217 @ 96 轮, 100 轮略回落 0.7808)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00" y="4630000"/>
            <a:ext cx="112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训练数据: 分层重划分后 train 20329 张, val 5911 张 (cal 2891 + holdout 3020)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00" y="5010000"/>
            <a:ext cx="112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holdout F1 0.7159: 真实项目统一口径 (conf 0.20, IoU 0.5, micro over 39 类)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00" y="5390000"/>
            <a:ext cx="112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训练工程插曲: 100 轮训练被 IDE 砍 2 次 (分别 @ 66 轮和 @ 96 轮), 续训 4 轮补完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000" y="5770000"/>
            <a:ext cx="112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·  最终权重: best_steel39_yolo11n_640_strat.pt (5.24 MB, 已锁定)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00" y="6200000"/>
            <a:ext cx="11200000" cy="28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000" y="6230000"/>
            <a:ext cx="10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黑体"/>
                <a:ea typeface="黑体"/>
              </a:rPr>
              <a:t>注意: 100 轮 holdout F1 0.7159 与 50 轮板端 F1 0.7376 不可直接比 —— val 集大小差 10 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三 ·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39 类 F1 全景 + 5 弱类归因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holdout 集 3020 张 · uniform 0.20 · 整体 F1 = 0.7159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pic>
        <p:nvPicPr>
          <p:cNvPr id="9" name="Picture 8" descr="classes39_f1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500000"/>
            <a:ext cx="6400000" cy="49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00000" y="1500000"/>
            <a:ext cx="47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黑体"/>
                <a:ea typeface="黑体"/>
              </a:rPr>
              <a:t>5 个弱类 (F1 &lt; 0.55)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0" y="2100000"/>
            <a:ext cx="4700000" cy="380000"/>
          </a:xfrm>
          <a:prstGeom prst="rect">
            <a:avLst/>
          </a:prstGeom>
          <a:solidFill>
            <a:srgbClr val="F4F7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0" y="2100000"/>
            <a:ext cx="80000" cy="38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0000" y="2130000"/>
            <a:ext cx="18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腰部折痕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0000" y="213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62828"/>
                </a:solidFill>
                <a:latin typeface="Arial"/>
                <a:ea typeface="Arial"/>
              </a:rPr>
              <a:t>F1 = 0.372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2150000"/>
            <a:ext cx="1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Arial"/>
                <a:ea typeface="Arial"/>
              </a:rPr>
              <a:t>gt=143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0" y="2520000"/>
            <a:ext cx="4700000" cy="380000"/>
          </a:xfrm>
          <a:prstGeom prst="rect">
            <a:avLst/>
          </a:prstGeom>
          <a:solidFill>
            <a:srgbClr val="F4F7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0" y="2520000"/>
            <a:ext cx="80000" cy="38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0000" y="2550000"/>
            <a:ext cx="18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精轧辊印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0000" y="255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62828"/>
                </a:solidFill>
                <a:latin typeface="Arial"/>
                <a:ea typeface="Arial"/>
              </a:rPr>
              <a:t>F1 = 0.468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2570000"/>
            <a:ext cx="1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Arial"/>
                <a:ea typeface="Arial"/>
              </a:rPr>
              <a:t>gt=69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0000" y="2940000"/>
            <a:ext cx="4700000" cy="380000"/>
          </a:xfrm>
          <a:prstGeom prst="rect">
            <a:avLst/>
          </a:prstGeom>
          <a:solidFill>
            <a:srgbClr val="F4F7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0000" y="2940000"/>
            <a:ext cx="80000" cy="38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0000" y="2970000"/>
            <a:ext cx="18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暗划痕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0000" y="297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62828"/>
                </a:solidFill>
                <a:latin typeface="Arial"/>
                <a:ea typeface="Arial"/>
              </a:rPr>
              <a:t>F1 = 0.514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2990000"/>
            <a:ext cx="1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Arial"/>
                <a:ea typeface="Arial"/>
              </a:rPr>
              <a:t>gt=118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00000" y="3360000"/>
            <a:ext cx="4700000" cy="380000"/>
          </a:xfrm>
          <a:prstGeom prst="rect">
            <a:avLst/>
          </a:prstGeom>
          <a:solidFill>
            <a:srgbClr val="F4F7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00000" y="3360000"/>
            <a:ext cx="80000" cy="38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0000" y="3390000"/>
            <a:ext cx="18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折痕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0000" y="339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62828"/>
                </a:solidFill>
                <a:latin typeface="Arial"/>
                <a:ea typeface="Arial"/>
              </a:rPr>
              <a:t>F1 = 0.526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3410000"/>
            <a:ext cx="1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Arial"/>
                <a:ea typeface="Arial"/>
              </a:rPr>
              <a:t>gt=119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00000" y="3780000"/>
            <a:ext cx="4700000" cy="380000"/>
          </a:xfrm>
          <a:prstGeom prst="rect">
            <a:avLst/>
          </a:prstGeom>
          <a:solidFill>
            <a:srgbClr val="F4F7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00000" y="3780000"/>
            <a:ext cx="80000" cy="3800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0000" y="3810000"/>
            <a:ext cx="18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夹渣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0000" y="3810000"/>
            <a:ext cx="1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B8C00"/>
                </a:solidFill>
                <a:latin typeface="Arial"/>
                <a:ea typeface="Arial"/>
              </a:rPr>
              <a:t>F1 = 0.563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3830000"/>
            <a:ext cx="1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Arial"/>
                <a:ea typeface="Arial"/>
              </a:rPr>
              <a:t>gt=228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0000" y="4300000"/>
            <a:ext cx="47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黑体"/>
                <a:ea typeface="黑体"/>
              </a:rPr>
              <a:t>强类 (F1 = 1.000)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0000" y="4750000"/>
            <a:ext cx="47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冲孔 / 温系氧化铁皮 · 0 个 FP  ·  月牙缺口 0.944 · 水渣痕 0.967 · 厚薄不均 0.984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0000" y="5550000"/>
            <a:ext cx="4700000" cy="13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0000" y="558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96F3"/>
                </a:solidFill>
                <a:latin typeface="黑体"/>
                <a:ea typeface="黑体"/>
              </a:rPr>
              <a:t>真因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000" y="5950000"/>
            <a:ext cx="45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宋体"/>
                <a:ea typeface="宋体"/>
              </a:rPr>
              <a:t>评估集漏标 (高置信未匹配框的同类率 81.7%)
oracle 回收上界: F1 可再涨 +4.0pp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0000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800000"/>
            <a:ext cx="30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300000"/>
            <a:ext cx="3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  <a:latin typeface="Arial"/>
                <a:ea typeface="Arial"/>
              </a:rPr>
              <a:t>CHAPTER 04 ·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22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  <a:latin typeface="黑体"/>
                <a:ea typeface="黑体"/>
              </a:rPr>
              <a:t>板端落地与下一步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3100000"/>
            <a:ext cx="6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E82"/>
                </a:solidFill>
                <a:latin typeface="宋体"/>
                <a:ea typeface="宋体"/>
              </a:rPr>
              <a:t>.pt → .rknn · 2×2 实验 · 三件待办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四 · 板端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板端 2×2 实验 · 链路与判决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.pt → .onnx (opset 12) → .rknn (fp16) → RK3588 NPU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300000"/>
            <a:ext cx="11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黑体"/>
                <a:ea typeface="黑体"/>
              </a:rPr>
              <a:t>板端链路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" y="1750000"/>
            <a:ext cx="2700000" cy="80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00" y="183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.pt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218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CCE0FF"/>
                </a:solidFill>
                <a:latin typeface="宋体"/>
                <a:ea typeface="宋体"/>
              </a:rPr>
              <a:t>best_steel39_yolo11n_640_strat.pt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5000" y="1950000"/>
            <a:ext cx="12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0000" y="1750000"/>
            <a:ext cx="2700000" cy="800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0000" y="183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.onnx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000" y="218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CCE0FF"/>
                </a:solidFill>
                <a:latin typeface="宋体"/>
                <a:ea typeface="宋体"/>
              </a:rPr>
              <a:t>opset 12 · 640 · simplify · [1,43,8400]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5000" y="1950000"/>
            <a:ext cx="12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0000" y="1750000"/>
            <a:ext cx="2700000" cy="8000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0000" y="183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.rknn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0000" y="218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CCE0FF"/>
                </a:solidFill>
                <a:latin typeface="宋体"/>
                <a:ea typeface="宋体"/>
              </a:rPr>
              <a:t>fp16 · 7.58 MB · rknn.config std=255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000" y="1950000"/>
            <a:ext cx="12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000" y="1750000"/>
            <a:ext cx="2700000" cy="80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000" y="183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RK3588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000" y="2180000"/>
            <a:ext cx="27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CCE0FF"/>
                </a:solidFill>
                <a:latin typeface="宋体"/>
                <a:ea typeface="宋体"/>
              </a:rPr>
              <a:t>ATK-DLRK3588 · Buildroot · NPU 推理</a:t>
            </a:r>
          </a:p>
        </p:txBody>
      </p:sp>
      <p:pic>
        <p:nvPicPr>
          <p:cNvPr id="25" name="Picture 24" descr="config_2x2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900000"/>
            <a:ext cx="7400000" cy="3500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900000" y="2900000"/>
            <a:ext cx="3700000" cy="35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0000" y="3000000"/>
            <a:ext cx="3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E82"/>
                </a:solidFill>
                <a:latin typeface="黑体"/>
                <a:ea typeface="黑体"/>
              </a:rPr>
              <a:t>判决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0000" y="3400000"/>
            <a:ext cx="3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黑体"/>
                <a:ea typeface="黑体"/>
              </a:rPr>
              <a:t>配置 A 维持生产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0000" y="4150000"/>
            <a:ext cx="35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宋体"/>
                <a:ea typeface="宋体"/>
              </a:rPr>
              <a:t>板端 F1 = 0.7376
(300 张旧 holdout · 真实 socket)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0000" y="4900000"/>
            <a:ext cx="35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50000" y="5000000"/>
            <a:ext cx="3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E82"/>
                </a:solidFill>
                <a:latin typeface="黑体"/>
                <a:ea typeface="黑体"/>
              </a:rPr>
              <a:t>关键事实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0000" y="5400000"/>
            <a:ext cx="35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宋体"/>
                <a:ea typeface="宋体"/>
              </a:rPr>
              <a:t>·  单模型 39 类 (已弃级联)
·  2×2: A 0.7376 / B 0.7162 / C 0.7064 / D 0.7295
·  e100 不盲切, 必须上板同集对比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000" y="6500000"/>
            <a:ext cx="11200000" cy="500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000" y="654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CCCC"/>
                </a:solidFill>
                <a:latin typeface="宋体"/>
                <a:ea typeface="宋体"/>
              </a:rPr>
              <a:t>为何放弃级联: negdagm_filter.rknn 只认 NEU 6 类 → 做 39 类闸门会把 33 类判「无缺陷」 → 静默漏检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四 · 板端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下一步 · 三件待办与风险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当前不盲切, 走完整闭环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500000"/>
            <a:ext cx="3700000" cy="44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00" y="1500000"/>
            <a:ext cx="3700000" cy="70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000" y="1600000"/>
            <a:ext cx="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000" y="1720000"/>
            <a:ext cx="2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黑体"/>
                <a:ea typeface="黑体"/>
              </a:rPr>
              <a:t>上板同集对比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" y="2400000"/>
            <a:ext cx="3300000" cy="3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把 e100 + uniform 0.20 上板, 跑同 300 张旧 holdout
判据: F1 ≥ 0.7376 才切, 否则维持配置 A
(本周内可完成)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0000" y="1500000"/>
            <a:ext cx="3700000" cy="44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0000" y="1500000"/>
            <a:ext cx="3700000" cy="7000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0000" y="1600000"/>
            <a:ext cx="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000" y="1720000"/>
            <a:ext cx="2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黑体"/>
                <a:ea typeface="黑体"/>
              </a:rPr>
              <a:t>标注修复 (候选)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00" y="2400000"/>
            <a:ext cx="3300000" cy="3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train 侧 461 张候选已备 (目检约 85% 真漏标)
val 侧禁止补框以保独立
(需标注工具 + 人工确认, 量级 1-2 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0000" y="1500000"/>
            <a:ext cx="3700000" cy="4400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0000" y="1500000"/>
            <a:ext cx="3700000" cy="70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0000" y="1600000"/>
            <a:ext cx="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0000" y="1720000"/>
            <a:ext cx="2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黑体"/>
                <a:ea typeface="黑体"/>
              </a:rPr>
              <a:t>论文 v2 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000" y="2400000"/>
            <a:ext cx="3300000" cy="3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宋体"/>
                <a:ea typeface="宋体"/>
              </a:rPr>
              <a:t>基于新 39 类重写 4.3-4.5 节 (数据/训练/评估)
把 81.7% 同类率作为评估集重建的核心论据
(下周内)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000" y="6100000"/>
            <a:ext cx="11200000" cy="50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000" y="615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黑体"/>
                <a:ea typeface="黑体"/>
              </a:rPr>
              <a:t>风险: 5 个弱类 (waist_folding 0.372 / 精轧辊印 0.468 / 暗划痕 0.514 / 折痕 0.526 / 夹渣 0.563) 暂无直接提升方案 —— 漏标是天花板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0000" y="200000"/>
            <a:ext cx="3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E82"/>
                </a:solidFill>
                <a:latin typeface="黑体"/>
                <a:ea typeface="黑体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50000"/>
            <a:ext cx="112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黑体"/>
                <a:ea typeface="黑体"/>
              </a:rPr>
              <a:t>39 类完整清单 · 中英对照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75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E82"/>
                </a:solidFill>
                <a:latin typeface="宋体"/>
                <a:ea typeface="宋体"/>
              </a:rPr>
              <a:t>权威源 = infer.py CLASSES_39 · cls 0~38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6500000"/>
            <a:ext cx="11200000" cy="6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580000"/>
            <a:ext cx="1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E82"/>
                </a:solidFill>
                <a:latin typeface="Arial"/>
                <a:ea typeface="Arial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6580000"/>
            <a:ext cx="4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E82"/>
                </a:solidFill>
                <a:latin typeface="黑体"/>
                <a:ea typeface="黑体"/>
              </a:rPr>
              <a:t>39 类工业钢材表面缺陷检测 ·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500000"/>
            <a:ext cx="1100000" cy="4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1550000"/>
            <a:ext cx="1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黑体"/>
                <a:ea typeface="黑体"/>
              </a:rPr>
              <a:t>cls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000" y="1500000"/>
            <a:ext cx="4400000" cy="4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000" y="1550000"/>
            <a:ext cx="4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黑体"/>
                <a:ea typeface="黑体"/>
              </a:rPr>
              <a:t>英文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0000" y="1500000"/>
            <a:ext cx="2400000" cy="4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0000" y="15500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黑体"/>
                <a:ea typeface="黑体"/>
              </a:rPr>
              <a:t>中文名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0000" y="1500000"/>
            <a:ext cx="2300000" cy="40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0" y="155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黑体"/>
                <a:ea typeface="黑体"/>
              </a:rPr>
              <a:t>类别簇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000" y="190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000" y="190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000" y="190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bright_scratch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0000" y="190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亮划痕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000" y="190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表面线状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000" y="201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000" y="201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000" y="201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crazing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0000" y="201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龟裂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0000" y="201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NEU 6 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00" y="213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000" y="213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000" y="213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crease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0000" y="213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宋体"/>
                <a:ea typeface="宋体"/>
              </a:rPr>
              <a:t>折痕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0000" y="213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000" y="224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000" y="224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0000" y="224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crescent_gap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0000" y="224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月牙缺口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0000" y="224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0000" y="236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0000" y="236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000" y="236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dark_scratches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0000" y="236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宋体"/>
                <a:ea typeface="宋体"/>
              </a:rPr>
              <a:t>暗划痕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0000" y="236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表面线状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000" y="247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0000" y="247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0000" y="247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finishing_roll_printing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0000" y="247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宋体"/>
                <a:ea typeface="宋体"/>
              </a:rPr>
              <a:t>精轧辊印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0000" y="247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工艺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0000" y="259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0000" y="259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0000" y="259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inclusion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00000" y="259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夹杂物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0000" y="259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NEU 6 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0000" y="270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000" y="270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00000" y="270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iron_scale_compression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00000" y="270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氧化铁皮压入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0000" y="270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氧化物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0000" y="282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0000" y="282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0000" y="282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iron_sheet_ash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00000" y="282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铁皮灰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0000" y="282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表面杂质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000" y="293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0000" y="293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00000" y="293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oil_spot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0000" y="293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油污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0000" y="293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表面处理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0000" y="305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0000" y="305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00000" y="305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oxide_scale_plate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0000" y="305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板系氧化铁皮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0000" y="305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氧化物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000" y="316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0000" y="316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00000" y="316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oxide_scale_temp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00000" y="316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温系氧化铁皮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0000" y="316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氧化物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0000" y="328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0000" y="328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00000" y="328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patches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00000" y="328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斑块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0000" y="328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NEU 6 类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0000" y="339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0000" y="339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00000" y="339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pitted_surface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00000" y="339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麻面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0000" y="339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NEU 6 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0000" y="351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0000" y="351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00000" y="351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punching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00000" y="351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冲孔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0000" y="351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0000" y="362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0000" y="362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00000" y="362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red_iron_sheet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00000" y="362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红斑铁皮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00000" y="362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表面色差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0000" y="374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0000" y="374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00000" y="374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rolled-in_scale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00000" y="374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轧入氧化皮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00000" y="374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NEU 6 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0000" y="385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0000" y="385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700000" y="385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rolled_pit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00000" y="385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轧制凹坑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00000" y="385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形状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000" y="397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0000" y="397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00000" y="397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secondary_rust_skin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00000" y="397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二次锈皮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00000" y="397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腐蚀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0000" y="408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00000" y="408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00000" y="408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silk_spot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00000" y="408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丝斑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00000" y="408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表面色差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0000" y="420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0000" y="420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00000" y="420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slag_inclusion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00000" y="420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宋体"/>
                <a:ea typeface="宋体"/>
              </a:rPr>
              <a:t>夹渣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00000" y="420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夹杂物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00000" y="431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0000" y="431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00000" y="431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waist_folding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00000" y="431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宋体"/>
                <a:ea typeface="宋体"/>
              </a:rPr>
              <a:t>腰部折痕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00000" y="431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形状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0000" y="443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00000" y="443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700000" y="443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water_spot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00000" y="443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水渍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00000" y="443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表面处理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0000" y="454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0000" y="454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00000" y="454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welding_line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00000" y="454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焊缝线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00000" y="454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工艺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0000" y="466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00000" y="466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700000" y="466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white_rust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00000" y="466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白锈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500000" y="466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腐蚀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0000" y="477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0000" y="477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00000" y="477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cutting_opening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00000" y="477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切边开口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00000" y="477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边缘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00000" y="489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00000" y="489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00000" y="489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water_slag_mark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00000" y="489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水渣痕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00000" y="489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表面杂质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00000" y="500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00000" y="500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00000" y="500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slag_skin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00000" y="500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渣皮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00000" y="500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表面杂质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0000" y="512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00000" y="512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00000" y="512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longitudinal_crack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100000" y="512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纵向裂纹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500000" y="512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裂纹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0000" y="523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00000" y="523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29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700000" y="523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warp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100000" y="523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翘曲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500000" y="523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形变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00000" y="535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00000" y="535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700000" y="535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external_fold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00000" y="535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外折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500000" y="535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形变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00000" y="546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00000" y="546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700000" y="546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wrinkle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100000" y="546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褶皱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500000" y="546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形变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00000" y="558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00000" y="558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32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700000" y="558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blocky_scale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100000" y="558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块状氧化铁皮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500000" y="558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氧化物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00000" y="569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00000" y="569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00000" y="569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striated_scale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100000" y="569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条纹氧化铁皮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500000" y="569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氧化物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00000" y="581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00000" y="581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34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700000" y="581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foreign_obj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00000" y="581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异物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500000" y="581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夹杂物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00000" y="592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00000" y="592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700000" y="592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blowhole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100000" y="592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气孔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500000" y="592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铸造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00000" y="604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00000" y="604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36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700000" y="604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break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100000" y="604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断裂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500000" y="604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严重缺陷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00000" y="6155000"/>
            <a:ext cx="10200000" cy="115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00000" y="6155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37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700000" y="6155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fray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100000" y="6155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散边毛刺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500000" y="6155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边缘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00000" y="6270000"/>
            <a:ext cx="10200000" cy="115000"/>
          </a:xfrm>
          <a:prstGeom prst="rect">
            <a:avLst/>
          </a:prstGeom>
          <a:solidFill>
            <a:srgbClr val="F4F7FB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00000" y="6270000"/>
            <a:ext cx="11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rial"/>
                <a:ea typeface="Arial"/>
              </a:rPr>
              <a:t>38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700000" y="6270000"/>
            <a:ext cx="4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</a:rPr>
              <a:t>uneven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100000" y="6270000"/>
            <a:ext cx="24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厚薄不均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500000" y="6270000"/>
            <a:ext cx="2300000" cy="1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宋体"/>
                <a:ea typeface="宋体"/>
              </a:rPr>
              <a:t>形变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